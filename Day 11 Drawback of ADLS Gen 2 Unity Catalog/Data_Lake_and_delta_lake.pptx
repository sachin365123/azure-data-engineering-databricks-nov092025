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147479824" r:id="rId4"/>
    <p:sldId id="2147479823" r:id="rId5"/>
    <p:sldId id="2147479822" r:id="rId6"/>
    <p:sldId id="21474798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275F6-9C35-4DA8-830C-7E4B08CBDAC1}" v="2" dt="2024-12-04T05:52:30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AD8275F6-9C35-4DA8-830C-7E4B08CBDAC1}"/>
    <pc:docChg chg="custSel modSld">
      <pc:chgData name="Prabhjot Singh Bakshi" userId="2bc06dbbe72a50e9" providerId="LiveId" clId="{AD8275F6-9C35-4DA8-830C-7E4B08CBDAC1}" dt="2024-12-04T06:04:11.980" v="111" actId="478"/>
      <pc:docMkLst>
        <pc:docMk/>
      </pc:docMkLst>
      <pc:sldChg chg="addSp modSp mod">
        <pc:chgData name="Prabhjot Singh Bakshi" userId="2bc06dbbe72a50e9" providerId="LiveId" clId="{AD8275F6-9C35-4DA8-830C-7E4B08CBDAC1}" dt="2024-12-04T05:52:48.374" v="110" actId="255"/>
        <pc:sldMkLst>
          <pc:docMk/>
          <pc:sldMk cId="1120039013" sldId="257"/>
        </pc:sldMkLst>
        <pc:spChg chg="add mod">
          <ac:chgData name="Prabhjot Singh Bakshi" userId="2bc06dbbe72a50e9" providerId="LiveId" clId="{AD8275F6-9C35-4DA8-830C-7E4B08CBDAC1}" dt="2024-12-04T05:52:25.832" v="48" actId="1076"/>
          <ac:spMkLst>
            <pc:docMk/>
            <pc:sldMk cId="1120039013" sldId="257"/>
            <ac:spMk id="7" creationId="{808F407E-5B01-465E-7E49-B53F0AB09E64}"/>
          </ac:spMkLst>
        </pc:spChg>
        <pc:spChg chg="add mod">
          <ac:chgData name="Prabhjot Singh Bakshi" userId="2bc06dbbe72a50e9" providerId="LiveId" clId="{AD8275F6-9C35-4DA8-830C-7E4B08CBDAC1}" dt="2024-12-04T05:52:48.374" v="110" actId="255"/>
          <ac:spMkLst>
            <pc:docMk/>
            <pc:sldMk cId="1120039013" sldId="257"/>
            <ac:spMk id="8" creationId="{81121E5D-152D-2AC2-F087-BEC259096009}"/>
          </ac:spMkLst>
        </pc:spChg>
      </pc:sldChg>
      <pc:sldChg chg="delSp mod">
        <pc:chgData name="Prabhjot Singh Bakshi" userId="2bc06dbbe72a50e9" providerId="LiveId" clId="{AD8275F6-9C35-4DA8-830C-7E4B08CBDAC1}" dt="2024-12-04T06:04:11.980" v="111" actId="478"/>
        <pc:sldMkLst>
          <pc:docMk/>
          <pc:sldMk cId="3486965963" sldId="2147479822"/>
        </pc:sldMkLst>
        <pc:spChg chg="del">
          <ac:chgData name="Prabhjot Singh Bakshi" userId="2bc06dbbe72a50e9" providerId="LiveId" clId="{AD8275F6-9C35-4DA8-830C-7E4B08CBDAC1}" dt="2024-12-04T06:04:11.980" v="111" actId="478"/>
          <ac:spMkLst>
            <pc:docMk/>
            <pc:sldMk cId="3486965963" sldId="2147479822"/>
            <ac:spMk id="2" creationId="{4F6E34D4-2366-2FD0-F4D6-F741EEA1844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9T03:06:32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0 234 24575,'4'3'0,"1"0"0,-1 0 0,0 1 0,0-1 0,-1 1 0,1 0 0,-1 0 0,0 0 0,0 0 0,0 1 0,0-1 0,-1 1 0,3 8 0,23 74 0,-17-47 0,-10-35 0,1 0 0,0-1 0,0 1 0,0 0 0,0-1 0,1 0 0,0 1 0,0-1 0,0 0 0,6 5 0,-7-8 0,0 1 0,0-1 0,0 1 0,1-1 0,-1 0 0,0 0 0,1 0 0,-1 0 0,1 0 0,0-1 0,-1 1 0,1-1 0,-1 0 0,1 0 0,0 0 0,-1 0 0,1 0 0,-1 0 0,1-1 0,0 1 0,4-2 0,17-8 0,-2-1 0,1-1 0,-1-1 0,-1-1 0,0-1 0,35-33 0,7-3 0,22-14 0,2 5 0,3 4 0,115-54 0,-170 96-1365,-6 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9F79B-15B8-453A-9AD6-19D0736691B4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AF617-CA5B-4654-971D-3B115C94E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653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57FB-5FE8-2A19-1B6B-543E73A4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4DF96-5D0F-8B3B-1B93-57DF018B7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28536-C220-9A6D-96FF-9F332B739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Azure Data Lake Storage (ADLS)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ADLS is designed for scalable, high-performance data storage, catering to large datasets that need to be accessed and processed by various analytics and machine learning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Storage</a:t>
            </a:r>
            <a:r>
              <a:rPr lang="en-US" dirty="0"/>
              <a:t>: It supports the storage of data in its raw form, allowing you to store structured, semi-structured, and unstructured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</a:t>
            </a:r>
            <a:r>
              <a:rPr lang="en-US" dirty="0"/>
              <a:t>: ADLS integrates seamlessly with other Azure services, including Azure Databricks, to provide a comprehensive data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Delta 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Delta Lake is an open-source storage layer that brings ACID (Atomicity, Consistency, Isolation, Durability) transactions to big data workloads, ensuring data reliability and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Management</a:t>
            </a:r>
            <a:r>
              <a:rPr lang="en-US" dirty="0"/>
              <a:t>: It offers features such as versioning, time travel, and schema enforcement, which are crucial for maintaining data integrity in large-scale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Delta Lake enhances performance by optimizing data access and queries, making it suitable for both batch and streaming data processing.</a:t>
            </a:r>
          </a:p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34590DD-C46D-F6DA-6B3A-BCF739B22F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45577-8919-D4C6-2B98-62956F53EF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7E7836-3F56-2847-65F0-86B010FC202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12/4/2024 11:19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28A38-4ADF-43CC-E99E-E123B2B84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61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59725-B88E-5B67-81A8-7403A919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1098D-2295-4714-3BAA-39C3CBF4C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8161A-99D6-71F6-7215-7484CB5A4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Azure Data Lake Storage (ADLS)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ADLS is designed for scalable, high-performance data storage, catering to large datasets that need to be accessed and processed by various analytics and machine learning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Storage</a:t>
            </a:r>
            <a:r>
              <a:rPr lang="en-US" dirty="0"/>
              <a:t>: It supports the storage of data in its raw form, allowing you to store structured, semi-structured, and unstructured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</a:t>
            </a:r>
            <a:r>
              <a:rPr lang="en-US" dirty="0"/>
              <a:t>: ADLS integrates seamlessly with other Azure services, including Azure Databricks, to provide a comprehensive data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Delta 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Delta Lake is an open-source storage layer that brings ACID (Atomicity, Consistency, Isolation, Durability) transactions to big data workloads, ensuring data reliability and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Management</a:t>
            </a:r>
            <a:r>
              <a:rPr lang="en-US" dirty="0"/>
              <a:t>: It offers features such as versioning, time travel, and schema enforcement, which are crucial for maintaining data integrity in large-scale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Delta Lake enhances performance by optimizing data access and queries, making it suitable for both batch and streaming data processing.</a:t>
            </a:r>
          </a:p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12E7BF-3867-77D7-53A0-CD4C64402D7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0BB6B-BCAC-315D-19A8-6EABAF7406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796319-8DF0-88EC-745A-1BEC61B4720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12/4/2024 11:19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C2D7B-4CDC-A25F-453F-298F046D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80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A33D-102B-637C-154D-12B7AD29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4897C-A02D-C2D3-8897-E63874BB9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D09BC-A260-F928-14AD-912B51685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Azure Data Lake Storage (ADLS)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ADLS is designed for scalable, high-performance data storage, catering to large datasets that need to be accessed and processed by various analytics and machine learning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Storage</a:t>
            </a:r>
            <a:r>
              <a:rPr lang="en-US" dirty="0"/>
              <a:t>: It supports the storage of data in its raw form, allowing you to store structured, semi-structured, and unstructured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</a:t>
            </a:r>
            <a:r>
              <a:rPr lang="en-US" dirty="0"/>
              <a:t>: ADLS integrates seamlessly with other Azure services, including Azure Databricks, to provide a comprehensive data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Delta Lake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Delta Lake is an open-source storage layer that brings ACID (Atomicity, Consistency, Isolation, Durability) transactions to big data workloads, ensuring data reliability and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Management</a:t>
            </a:r>
            <a:r>
              <a:rPr lang="en-US" dirty="0"/>
              <a:t>: It offers features such as versioning, time travel, and schema enforcement, which are crucial for maintaining data integrity in large-scale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  <a:r>
              <a:rPr lang="en-US" dirty="0"/>
              <a:t>: Delta Lake enhances performance by optimizing data access and queries, making it suitable for both batch and streaming data processing.</a:t>
            </a:r>
          </a:p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28C275C-F374-F239-EF01-E2B369FDC5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67D74-F55D-0597-2564-ED050F1A3A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EBC9E2-F6EA-482D-4563-71892EF9B20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12/4/2024 11:19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F646-21D8-565E-4B1A-5CAB6D98C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85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adding data warehouse-like management capabilities to data lakes (like ACID transactions and schema enforcement), Delta Lake transforms a simple data lake into a more robust, reliable, and performance-optimized data platform, which is sometimes referred to as a </a:t>
            </a:r>
            <a:r>
              <a:rPr lang="en-US" b="1" dirty="0"/>
              <a:t>data </a:t>
            </a:r>
            <a:r>
              <a:rPr lang="en-US" b="1" dirty="0" err="1"/>
              <a:t>lakehouse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12/4/2024 11:20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8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70EE-AD36-1FBF-4108-9A5C963E8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B1739-9D5E-BA33-807B-C5A6DFB86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075C4-DBE9-0B6E-BA21-6A3E4235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8501-4EDD-E4EC-C61A-51F5DE67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949C-5F7B-6A7E-E8A3-C4F0AD25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99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6A5A-26CB-6A07-688D-95375322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CCE2-7EB8-1CBA-3A85-D173BBD9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051E-CDB5-52FC-9FE5-215D8E3F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A809F-9EB4-4EAA-65CA-33FB872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F02A2-131A-7CD8-D23F-8627D23B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3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5574-6F17-7789-A2A7-976F7BB21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80C71-D87E-8726-4CFA-D9A20AE74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2859-58A0-1B4A-1758-2AAD6F15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6A308-A671-4A56-0D64-E23CC9B6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A9C3B-0EA8-3AAA-D55B-29F1F96D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3915-19BA-0340-DF84-7A19DF5B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77CAF-1371-724C-BE70-DBCD6FDBD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11AE2-27DB-8D9D-EA01-57D0CBED9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8620C-2D48-FE9E-ED87-AF06C29C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6D2FA-AFA6-3FD5-2266-DF64CBB1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DBEA2-871D-8CDC-9541-9EC251F8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37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C843-FDBD-82E2-840D-AC66762C2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BF47A-10A2-7C08-D6C7-6E3088FC9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DBE7F-D704-E319-1A6C-E644EA504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D428B-EAC5-80D0-7B1C-B1657DC7F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D235-3A42-D271-5C3F-3E82A0236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57DE0-5AC7-EF1A-A1AE-48C7CDBF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43B43-1A43-E0B1-749E-B80F8BB5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B7445-A2E5-0D13-580C-DC42E030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37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7CBD-CEAE-D4FB-17EA-CBD855F7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4F67E-077F-9F77-36FF-E7A8F2B2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1A5F8-48D2-20AB-2056-10DBEC4A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775AA-E879-C7D9-4A5E-77D8C23E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62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AB03E-EFA9-D5D3-1752-F84BF96D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CC3C74-C62D-0A58-4346-6131E3DD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CFA5-81E6-0C50-9344-DF98869D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82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C914-3666-22C2-2F99-6302DCAA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E723-AE80-C495-F83C-338F3C5DA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4AD55-33C8-78FB-2A5C-CC913C8C0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44BC9-19F9-09DE-D653-98645C62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DCD92-4B1E-325D-88B9-CAAD49E0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FA272-B30B-4CB0-FE08-59E48D37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0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2546-7CBD-6351-BF54-A12EB1AA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3A6A80-AB35-02AA-14F3-CAB29E293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9B564-8081-A675-8934-645F40AF3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1AA8B-8746-0BBC-70D0-BAD4C71F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0346D-DECA-0531-8CD1-162264BC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2C1F8-12E1-51D7-9770-1F2AB213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32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8FC8-E955-E56F-7A75-85CD7AE9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F73FF-E483-8B41-CE70-E9CB7133A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C64E2-F7AB-4E06-E4F9-DDD1819F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FB49-F817-1EB0-B3B3-3FF3F26D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2B18-9182-8E58-F6EC-D497ED0B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3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3A5EB-9F5D-C0C0-8481-AC16B5390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5633C-DD09-65A9-CD34-F1A3521E7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A4F0A-6E94-C02C-3B03-AB908969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FCF24-881E-AB70-E037-C3FBD74A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7AF48-362C-458C-87B3-BCB7DB87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63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205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119B8-5116-3CC6-F40A-035F2BDB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C0D6E-CA1E-E4D0-F2B8-3CA8BE4C4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027D-FE5C-E7A8-5F04-3FC20B926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AC28E-3EBC-48EA-A2B2-CC468E3EE9C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0750A-F574-1DC7-C25E-45518BB2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ABAC5-67A0-E794-AF6B-221C2F003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1056A-C461-4594-8675-99121512AF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8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E23F3-FF01-B298-6650-1B38378FE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/>
              <a:t>Data Lake and Delta Lake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DD1BC-937B-1F66-6CF0-AED18414C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(What is It?)</a:t>
            </a:r>
            <a:endParaRPr lang="en-IN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050" name="Picture 2" descr="Premium Vector | Man character thinking">
            <a:extLst>
              <a:ext uri="{FF2B5EF4-FFF2-40B4-BE49-F238E27FC236}">
                <a16:creationId xmlns:a16="http://schemas.microsoft.com/office/drawing/2014/main" id="{0D2AEC68-088D-1413-ACD6-298ACA015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8281F51-9F92-9BEA-6173-F11AC1362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4572" y="4421333"/>
            <a:ext cx="1624445" cy="16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0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What is a data lake? - Azure Architecture Center | Microsoft Learn">
            <a:extLst>
              <a:ext uri="{FF2B5EF4-FFF2-40B4-BE49-F238E27FC236}">
                <a16:creationId xmlns:a16="http://schemas.microsoft.com/office/drawing/2014/main" id="{9A51A5EF-FE43-18D6-2CC3-C7FD84F497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3412" y="1896013"/>
            <a:ext cx="5026186" cy="306597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C40CD2-DBBD-0857-5146-69DB3619F930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Azure Data Lake </a:t>
            </a:r>
            <a:r>
              <a:rPr lang="en-US" dirty="0"/>
              <a:t>is a cloud-based service that allows users to store, analyze, and integrate data of any size, shape, and speed. It's designed for big data analytics workloads and can be used for a variety of tasks, including: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Storing and analyzing large files and objects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Debugging and optimizing big data programs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Developing parallel programs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Batch, streaming, and interactive analytics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Data transformation and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F407E-5B01-465E-7E49-B53F0AB09E64}"/>
              </a:ext>
            </a:extLst>
          </p:cNvPr>
          <p:cNvSpPr txBox="1"/>
          <p:nvPr/>
        </p:nvSpPr>
        <p:spPr>
          <a:xfrm>
            <a:off x="4155311" y="5678121"/>
            <a:ext cx="7487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Unstructured + Structured + Semi-Structured</a:t>
            </a:r>
            <a:endParaRPr lang="en-IN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21E5D-152D-2AC2-F087-BEC259096009}"/>
              </a:ext>
            </a:extLst>
          </p:cNvPr>
          <p:cNvSpPr txBox="1"/>
          <p:nvPr/>
        </p:nvSpPr>
        <p:spPr>
          <a:xfrm>
            <a:off x="1724628" y="324091"/>
            <a:ext cx="7118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Data becomes your “single source of truth”</a:t>
            </a:r>
            <a:endParaRPr lang="en-IN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2003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1EC81-C284-AB8C-2598-7DFE44C3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F1519-CAF4-7D50-E25A-CAB70825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0" y="561637"/>
            <a:ext cx="7582813" cy="5859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928F8F-35FE-B968-D8EC-E1B6675039FA}"/>
              </a:ext>
            </a:extLst>
          </p:cNvPr>
          <p:cNvSpPr txBox="1"/>
          <p:nvPr/>
        </p:nvSpPr>
        <p:spPr>
          <a:xfrm>
            <a:off x="372360" y="117618"/>
            <a:ext cx="11373438" cy="6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By combining </a:t>
            </a:r>
            <a:r>
              <a:rPr lang="en-US" b="1" dirty="0">
                <a:solidFill>
                  <a:srgbClr val="FF0000"/>
                </a:solidFill>
              </a:rPr>
              <a:t>ADLS for storage </a:t>
            </a:r>
            <a:r>
              <a:rPr lang="en-US" b="1" dirty="0"/>
              <a:t>and </a:t>
            </a:r>
            <a:r>
              <a:rPr lang="en-US" b="1" dirty="0">
                <a:solidFill>
                  <a:srgbClr val="FF0000"/>
                </a:solidFill>
              </a:rPr>
              <a:t>Delta Lake for data management</a:t>
            </a:r>
            <a:r>
              <a:rPr lang="en-US" b="1" dirty="0"/>
              <a:t>, you get </a:t>
            </a:r>
            <a:r>
              <a:rPr lang="en-US" b="1" u="sng" dirty="0"/>
              <a:t>a robust </a:t>
            </a:r>
            <a:r>
              <a:rPr lang="en-US" b="1" dirty="0"/>
              <a:t>and </a:t>
            </a:r>
            <a:r>
              <a:rPr lang="en-US" b="1" u="sng" dirty="0"/>
              <a:t>scalable data </a:t>
            </a:r>
            <a:r>
              <a:rPr lang="en-US" b="1" dirty="0"/>
              <a:t>architecture </a:t>
            </a:r>
            <a:r>
              <a:rPr lang="en-US" b="1" u="sng" dirty="0"/>
              <a:t>capable of handling complex data workloads efficiently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BD7415-CDE5-4F5A-640C-BFB7D9BE0987}"/>
              </a:ext>
            </a:extLst>
          </p:cNvPr>
          <p:cNvSpPr/>
          <p:nvPr/>
        </p:nvSpPr>
        <p:spPr bwMode="auto">
          <a:xfrm>
            <a:off x="7022969" y="3921551"/>
            <a:ext cx="2413262" cy="829558"/>
          </a:xfrm>
          <a:prstGeom prst="ellipse">
            <a:avLst/>
          </a:pr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E93D7-4C34-F102-9868-20D56BD2F98C}"/>
              </a:ext>
            </a:extLst>
          </p:cNvPr>
          <p:cNvSpPr txBox="1"/>
          <p:nvPr/>
        </p:nvSpPr>
        <p:spPr>
          <a:xfrm>
            <a:off x="372360" y="1197054"/>
            <a:ext cx="4533127" cy="4438138"/>
          </a:xfrm>
          <a:prstGeom prst="rect">
            <a:avLst/>
          </a:prstGeom>
          <a:noFill/>
          <a:ln>
            <a:solidFill>
              <a:srgbClr val="FF5C39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Azure Data Lake Storage (ADLS)</a:t>
            </a:r>
          </a:p>
          <a:p>
            <a:r>
              <a:rPr lang="en-US" b="1" dirty="0"/>
              <a:t>Purpose</a:t>
            </a:r>
            <a:r>
              <a:rPr lang="en-US" dirty="0"/>
              <a:t>: ADLS is designed for scalable, high-performance data storage, catering to large datasets that need to be accessed and processed by various analytics and machine learning tools.</a:t>
            </a:r>
          </a:p>
          <a:p>
            <a:endParaRPr lang="en-US" dirty="0"/>
          </a:p>
          <a:p>
            <a:r>
              <a:rPr lang="en-US" b="1" dirty="0"/>
              <a:t>Storage</a:t>
            </a:r>
            <a:r>
              <a:rPr lang="en-US" dirty="0"/>
              <a:t>: It supports the storage of data in its raw form, allowing you to store structured, semi-structured, and unstructured data.</a:t>
            </a:r>
          </a:p>
          <a:p>
            <a:endParaRPr lang="en-US" dirty="0"/>
          </a:p>
          <a:p>
            <a:r>
              <a:rPr lang="en-US" b="1" dirty="0"/>
              <a:t>Integration</a:t>
            </a:r>
            <a:r>
              <a:rPr lang="en-US" dirty="0"/>
              <a:t>: ADLS integrates seamlessly with other Azure services, including Azure Databricks, to provide a comprehensive data platform.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25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17A8-D0F6-8249-01AF-1CD562BB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C7A67-9F94-9B84-2206-D4E87149A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0" y="561637"/>
            <a:ext cx="7582813" cy="5859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D4B6BF-6CC9-5504-FD89-0B7BB2FA1B3E}"/>
              </a:ext>
            </a:extLst>
          </p:cNvPr>
          <p:cNvSpPr txBox="1"/>
          <p:nvPr/>
        </p:nvSpPr>
        <p:spPr>
          <a:xfrm>
            <a:off x="372360" y="117618"/>
            <a:ext cx="11373438" cy="6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By combining </a:t>
            </a:r>
            <a:r>
              <a:rPr lang="en-US" b="1" dirty="0">
                <a:solidFill>
                  <a:srgbClr val="FF0000"/>
                </a:solidFill>
              </a:rPr>
              <a:t>ADLS for storage </a:t>
            </a:r>
            <a:r>
              <a:rPr lang="en-US" b="1" dirty="0"/>
              <a:t>and </a:t>
            </a:r>
            <a:r>
              <a:rPr lang="en-US" b="1" dirty="0">
                <a:solidFill>
                  <a:srgbClr val="FF0000"/>
                </a:solidFill>
              </a:rPr>
              <a:t>Delta Lake for data management</a:t>
            </a:r>
            <a:r>
              <a:rPr lang="en-US" b="1" dirty="0"/>
              <a:t>, you get </a:t>
            </a:r>
            <a:r>
              <a:rPr lang="en-US" b="1" u="sng" dirty="0"/>
              <a:t>a robust </a:t>
            </a:r>
            <a:r>
              <a:rPr lang="en-US" b="1" dirty="0"/>
              <a:t>and </a:t>
            </a:r>
            <a:r>
              <a:rPr lang="en-US" b="1" u="sng" dirty="0"/>
              <a:t>scalable data </a:t>
            </a:r>
            <a:r>
              <a:rPr lang="en-US" b="1" dirty="0"/>
              <a:t>architecture </a:t>
            </a:r>
            <a:r>
              <a:rPr lang="en-US" b="1" u="sng" dirty="0"/>
              <a:t>capable of handling complex data workloads efficiently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C952CA-9538-7D15-01BC-D7BA655A6D7D}"/>
              </a:ext>
            </a:extLst>
          </p:cNvPr>
          <p:cNvSpPr/>
          <p:nvPr/>
        </p:nvSpPr>
        <p:spPr bwMode="auto">
          <a:xfrm>
            <a:off x="7022969" y="3921551"/>
            <a:ext cx="2413262" cy="829558"/>
          </a:xfrm>
          <a:prstGeom prst="ellipse">
            <a:avLst/>
          </a:pr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68752-A5FF-F8BD-92A1-649C4794757D}"/>
              </a:ext>
            </a:extLst>
          </p:cNvPr>
          <p:cNvSpPr txBox="1"/>
          <p:nvPr/>
        </p:nvSpPr>
        <p:spPr>
          <a:xfrm>
            <a:off x="317563" y="1534091"/>
            <a:ext cx="4770804" cy="3108543"/>
          </a:xfrm>
          <a:prstGeom prst="rect">
            <a:avLst/>
          </a:prstGeom>
          <a:noFill/>
          <a:ln>
            <a:solidFill>
              <a:srgbClr val="FF5C39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Delta Lake</a:t>
            </a:r>
          </a:p>
          <a:p>
            <a:endParaRPr lang="en-US" sz="1400" b="1" dirty="0"/>
          </a:p>
          <a:p>
            <a:r>
              <a:rPr lang="en-US" sz="1400" b="1" dirty="0"/>
              <a:t>Purpose</a:t>
            </a:r>
            <a:r>
              <a:rPr lang="en-US" sz="1400" dirty="0"/>
              <a:t>: Delta Lake is an open-source storage layer that brings </a:t>
            </a:r>
            <a:r>
              <a:rPr lang="en-US" sz="1400" b="1" dirty="0"/>
              <a:t>ACID (Atomicity, Consistency, Isolation, Durability) </a:t>
            </a:r>
            <a:r>
              <a:rPr lang="en-US" sz="1400" dirty="0"/>
              <a:t>transactions to big data workloads, ensuring data reliability and consistency.</a:t>
            </a:r>
          </a:p>
          <a:p>
            <a:endParaRPr lang="en-US" sz="1400" dirty="0"/>
          </a:p>
          <a:p>
            <a:r>
              <a:rPr lang="en-US" sz="1400" b="1" dirty="0"/>
              <a:t>Data Management: </a:t>
            </a:r>
            <a:r>
              <a:rPr lang="en-US" sz="1400" dirty="0"/>
              <a:t>It offers features such as versioning, time travel, and schema enforcement, which are crucial for maintaining data integrity in large-scale data processing.</a:t>
            </a:r>
          </a:p>
          <a:p>
            <a:endParaRPr lang="en-US" sz="1400" dirty="0"/>
          </a:p>
          <a:p>
            <a:r>
              <a:rPr lang="en-US" sz="1400" b="1" dirty="0"/>
              <a:t>Performance: </a:t>
            </a:r>
            <a:r>
              <a:rPr lang="en-US" sz="1400" dirty="0"/>
              <a:t>Delta Lake enhances performance by optimizing data access and queries, making it suitable for both batch and streaming data processing.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0626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CD88-F68D-F091-2E5E-A3A3DE39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888D2C-C67F-757F-460E-AD65CDBD4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1" y="753177"/>
            <a:ext cx="7334938" cy="5667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31E85C-D4D0-E70B-008D-FB29C50348B8}"/>
              </a:ext>
            </a:extLst>
          </p:cNvPr>
          <p:cNvSpPr txBox="1"/>
          <p:nvPr/>
        </p:nvSpPr>
        <p:spPr>
          <a:xfrm>
            <a:off x="372360" y="117618"/>
            <a:ext cx="11373438" cy="63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By combining </a:t>
            </a:r>
            <a:r>
              <a:rPr lang="en-US" b="1" dirty="0">
                <a:solidFill>
                  <a:srgbClr val="FF0000"/>
                </a:solidFill>
              </a:rPr>
              <a:t>ADLS for storage </a:t>
            </a:r>
            <a:r>
              <a:rPr lang="en-US" b="1" dirty="0"/>
              <a:t>and </a:t>
            </a:r>
            <a:r>
              <a:rPr lang="en-US" b="1" dirty="0">
                <a:solidFill>
                  <a:srgbClr val="FF0000"/>
                </a:solidFill>
              </a:rPr>
              <a:t>Delta Lake for data management</a:t>
            </a:r>
            <a:r>
              <a:rPr lang="en-US" b="1" dirty="0"/>
              <a:t>, you get </a:t>
            </a:r>
            <a:r>
              <a:rPr lang="en-US" b="1" u="sng" dirty="0"/>
              <a:t>a robust </a:t>
            </a:r>
            <a:r>
              <a:rPr lang="en-US" b="1" dirty="0"/>
              <a:t>and </a:t>
            </a:r>
            <a:r>
              <a:rPr lang="en-US" b="1" u="sng" dirty="0"/>
              <a:t>scalable data </a:t>
            </a:r>
            <a:r>
              <a:rPr lang="en-US" b="1" dirty="0"/>
              <a:t>architecture </a:t>
            </a:r>
            <a:r>
              <a:rPr lang="en-US" b="1" u="sng" dirty="0"/>
              <a:t>capable of handling complex data workloads efficiently</a:t>
            </a:r>
            <a:r>
              <a:rPr lang="en-US" b="1" dirty="0"/>
              <a:t>.</a:t>
            </a:r>
            <a:endParaRPr lang="en-IN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69C8E5-9E8E-5124-17F7-0223106B159E}"/>
              </a:ext>
            </a:extLst>
          </p:cNvPr>
          <p:cNvSpPr/>
          <p:nvPr/>
        </p:nvSpPr>
        <p:spPr bwMode="auto">
          <a:xfrm>
            <a:off x="7022969" y="3921551"/>
            <a:ext cx="2413262" cy="829558"/>
          </a:xfrm>
          <a:prstGeom prst="ellipse">
            <a:avLst/>
          </a:pr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DEE13-1542-188C-6609-013CC473F803}"/>
              </a:ext>
            </a:extLst>
          </p:cNvPr>
          <p:cNvSpPr txBox="1"/>
          <p:nvPr/>
        </p:nvSpPr>
        <p:spPr>
          <a:xfrm>
            <a:off x="106710" y="963520"/>
            <a:ext cx="5050410" cy="33728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How They Work Together</a:t>
            </a:r>
          </a:p>
          <a:p>
            <a:r>
              <a:rPr lang="en-US" sz="1400" b="1" dirty="0"/>
              <a:t>Data Ingestion: </a:t>
            </a:r>
            <a:r>
              <a:rPr lang="en-US" sz="1400" dirty="0"/>
              <a:t>Raw data ( Structure and Unstructured)  is ingested into </a:t>
            </a:r>
            <a:r>
              <a:rPr lang="en-US" sz="1400" b="1" dirty="0"/>
              <a:t>ADLS</a:t>
            </a:r>
            <a:r>
              <a:rPr lang="en-US" sz="1400" dirty="0"/>
              <a:t>, where it can be stored in its native format.</a:t>
            </a:r>
          </a:p>
          <a:p>
            <a:endParaRPr lang="en-US" sz="1400" dirty="0"/>
          </a:p>
          <a:p>
            <a:r>
              <a:rPr lang="en-US" sz="1400" b="1" dirty="0"/>
              <a:t>Data Processing: </a:t>
            </a:r>
            <a:r>
              <a:rPr lang="en-US" sz="1400" u="sng" dirty="0"/>
              <a:t>Databricks and other analytics tools can process this </a:t>
            </a:r>
            <a:r>
              <a:rPr lang="en-US" sz="1400" b="1" u="sng" dirty="0"/>
              <a:t>data directly from ADLS</a:t>
            </a:r>
            <a:r>
              <a:rPr lang="en-US" sz="1400" u="sng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Delta Lake Integration</a:t>
            </a:r>
            <a:r>
              <a:rPr lang="en-US" sz="14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Delta Lake </a:t>
            </a:r>
            <a:r>
              <a:rPr lang="en-US" sz="1400" dirty="0">
                <a:solidFill>
                  <a:srgbClr val="FF0000"/>
                </a:solidFill>
              </a:rPr>
              <a:t>can be layered on top of ADLS to </a:t>
            </a:r>
            <a:r>
              <a:rPr lang="en-US" sz="1400" dirty="0"/>
              <a:t>manage this data more effectively, providing reliability, consistency, and performance improvements.</a:t>
            </a:r>
          </a:p>
          <a:p>
            <a:endParaRPr lang="en-US" sz="1400" dirty="0"/>
          </a:p>
          <a:p>
            <a:r>
              <a:rPr lang="en-US" sz="1400" b="1" dirty="0"/>
              <a:t>Advanced Analytics: With Delta Lake</a:t>
            </a:r>
            <a:r>
              <a:rPr lang="en-US" sz="1400" dirty="0"/>
              <a:t>, you can perform advanced analytics on your data while ensuring data quality and governance.</a:t>
            </a:r>
            <a:endParaRPr lang="en-IN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844BE2-3F8E-E92C-62D5-B9D396C61CB5}"/>
                  </a:ext>
                </a:extLst>
              </p14:cNvPr>
              <p14:cNvContentPartPr/>
              <p14:nvPr/>
            </p14:nvContentPartPr>
            <p14:xfrm>
              <a:off x="106710" y="2884554"/>
              <a:ext cx="347040" cy="177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844BE2-3F8E-E92C-62D5-B9D396C61C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710" y="2866914"/>
                <a:ext cx="382680" cy="2127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D5763D9-5213-2205-123A-FE28842761F9}"/>
              </a:ext>
            </a:extLst>
          </p:cNvPr>
          <p:cNvSpPr txBox="1"/>
          <p:nvPr/>
        </p:nvSpPr>
        <p:spPr>
          <a:xfrm>
            <a:off x="106710" y="4679349"/>
            <a:ext cx="505041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ADLS: </a:t>
            </a:r>
            <a:r>
              <a:rPr lang="en-US" sz="1400" dirty="0"/>
              <a:t>For scalable, cost-effective storage of raw data.</a:t>
            </a:r>
          </a:p>
          <a:p>
            <a:endParaRPr lang="en-US" sz="1400" b="1" dirty="0"/>
          </a:p>
          <a:p>
            <a:r>
              <a:rPr lang="en-US" sz="1400" b="1" dirty="0"/>
              <a:t>Delta Lake: </a:t>
            </a:r>
            <a:r>
              <a:rPr lang="en-US" sz="1400" dirty="0"/>
              <a:t>For adding reliability, consistency, and performance optimizations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8696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05857BF-93D8-6083-6DDE-8A418601B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523" y="-208344"/>
            <a:ext cx="8763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4F584A-1938-BF6F-FD36-ADF4FFF47C55}"/>
              </a:ext>
            </a:extLst>
          </p:cNvPr>
          <p:cNvSpPr txBox="1"/>
          <p:nvPr/>
        </p:nvSpPr>
        <p:spPr>
          <a:xfrm>
            <a:off x="447040" y="4145280"/>
            <a:ext cx="428371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The transaction log controls commit atomicity. During a transaction, data files are written to the file directory backing the table. When the transaction completes, a new entry is committed to the transaction log that includes the paths to all files written during the transaction.</a:t>
            </a:r>
            <a:endParaRPr lang="en-IN" sz="1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6135BE-355C-0423-B956-B977BFB5A5CA}"/>
              </a:ext>
            </a:extLst>
          </p:cNvPr>
          <p:cNvCxnSpPr/>
          <p:nvPr/>
        </p:nvCxnSpPr>
        <p:spPr>
          <a:xfrm flipH="1">
            <a:off x="2042160" y="2550160"/>
            <a:ext cx="1158240" cy="159512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917-44DA-B136-E464-AD3A643F8B3E}"/>
              </a:ext>
            </a:extLst>
          </p:cNvPr>
          <p:cNvSpPr txBox="1"/>
          <p:nvPr/>
        </p:nvSpPr>
        <p:spPr>
          <a:xfrm>
            <a:off x="3200400" y="5811446"/>
            <a:ext cx="609600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Delta Lake uses optimistic concurrency control to provide transactional guarantees between writes.</a:t>
            </a:r>
            <a:endParaRPr lang="en-IN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DB988F-23EE-3FB4-893B-257E5B5F5312}"/>
              </a:ext>
            </a:extLst>
          </p:cNvPr>
          <p:cNvCxnSpPr>
            <a:cxnSpLocks/>
          </p:cNvCxnSpPr>
          <p:nvPr/>
        </p:nvCxnSpPr>
        <p:spPr>
          <a:xfrm>
            <a:off x="5222240" y="2550160"/>
            <a:ext cx="473453" cy="3113314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7102CA-9AD3-C53D-61B8-95F47BDB49C4}"/>
              </a:ext>
            </a:extLst>
          </p:cNvPr>
          <p:cNvSpPr txBox="1"/>
          <p:nvPr/>
        </p:nvSpPr>
        <p:spPr>
          <a:xfrm>
            <a:off x="6177023" y="5044963"/>
            <a:ext cx="556793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Azure Databricks uses write serializable isolation by default for all table writes and updates. Snapshot isolation is used for all table reads.</a:t>
            </a:r>
            <a:endParaRPr lang="en-IN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492EDC-827B-26DB-B0E8-601B5EE8A237}"/>
              </a:ext>
            </a:extLst>
          </p:cNvPr>
          <p:cNvCxnSpPr>
            <a:cxnSpLocks/>
          </p:cNvCxnSpPr>
          <p:nvPr/>
        </p:nvCxnSpPr>
        <p:spPr>
          <a:xfrm>
            <a:off x="7226043" y="2576927"/>
            <a:ext cx="1481077" cy="2468036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B7554E9-CED0-784F-4ED3-38897C9F181B}"/>
              </a:ext>
            </a:extLst>
          </p:cNvPr>
          <p:cNvSpPr txBox="1"/>
          <p:nvPr/>
        </p:nvSpPr>
        <p:spPr>
          <a:xfrm>
            <a:off x="8688070" y="3544716"/>
            <a:ext cx="305689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Azure Databricks uses cloud object storage to store all data files and transaction logs. Cloud object storage has high availability and durability.</a:t>
            </a:r>
            <a:endParaRPr lang="en-IN" sz="1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843B40-B214-58AD-2E06-152320F309E9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296400" y="2576927"/>
            <a:ext cx="920115" cy="967789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89AD088-23E2-0FA8-D483-68761B607EA9}"/>
              </a:ext>
            </a:extLst>
          </p:cNvPr>
          <p:cNvSpPr txBox="1"/>
          <p:nvPr/>
        </p:nvSpPr>
        <p:spPr>
          <a:xfrm>
            <a:off x="7305426" y="142884"/>
            <a:ext cx="48865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</a:rPr>
              <a:t>Data becomes your single source of truth</a:t>
            </a:r>
            <a:endParaRPr lang="en-IN" sz="18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772814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1267</Words>
  <Application>Microsoft Office PowerPoint</Application>
  <PresentationFormat>Widescreen</PresentationFormat>
  <Paragraphs>82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Segoe UI</vt:lpstr>
      <vt:lpstr>Office Theme</vt:lpstr>
      <vt:lpstr>Data Lake and Delta Lake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1</cp:revision>
  <dcterms:created xsi:type="dcterms:W3CDTF">2024-12-04T05:47:09Z</dcterms:created>
  <dcterms:modified xsi:type="dcterms:W3CDTF">2024-12-04T06:04:19Z</dcterms:modified>
</cp:coreProperties>
</file>