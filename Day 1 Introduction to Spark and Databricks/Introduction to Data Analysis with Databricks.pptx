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147479720" r:id="rId3"/>
    <p:sldId id="2147479717" r:id="rId4"/>
    <p:sldId id="2147479782" r:id="rId5"/>
    <p:sldId id="2147479813" r:id="rId6"/>
    <p:sldId id="2147479788" r:id="rId7"/>
    <p:sldId id="2147479814" r:id="rId8"/>
    <p:sldId id="214747979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283"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6" Type="http://schemas.openxmlformats.org/officeDocument/2006/relationships/image" Target="../media/image22.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6" Type="http://schemas.openxmlformats.org/officeDocument/2006/relationships/image" Target="../media/image22.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DDC884-5776-423D-86EE-9F1ACE27D284}" type="doc">
      <dgm:prSet loTypeId="urn:microsoft.com/office/officeart/2018/5/layout/IconLeafLabelList" loCatId="icon" qsTypeId="urn:microsoft.com/office/officeart/2005/8/quickstyle/simple1" qsCatId="simple" csTypeId="urn:microsoft.com/office/officeart/2005/8/colors/accent1_2" csCatId="accent1" phldr="1"/>
      <dgm:spPr/>
      <dgm:t>
        <a:bodyPr/>
        <a:lstStyle/>
        <a:p>
          <a:endParaRPr lang="en-US"/>
        </a:p>
      </dgm:t>
    </dgm:pt>
    <dgm:pt modelId="{22B20B66-A730-4FE3-870E-3BA16941E2C2}">
      <dgm:prSet custT="1"/>
      <dgm:spPr/>
      <dgm:t>
        <a:bodyPr/>
        <a:lstStyle/>
        <a:p>
          <a:pPr>
            <a:lnSpc>
              <a:spcPct val="100000"/>
            </a:lnSpc>
            <a:defRPr cap="all"/>
          </a:pPr>
          <a:r>
            <a:rPr lang="nl-NL" sz="1200" b="1" baseline="0" dirty="0"/>
            <a:t>Workspaces</a:t>
          </a:r>
          <a:r>
            <a:rPr lang="nl-NL" sz="1200" baseline="0" dirty="0"/>
            <a:t> </a:t>
          </a:r>
          <a:r>
            <a:rPr lang="en-US" sz="1200" baseline="0" dirty="0"/>
            <a:t>is an environment for accessing all the Databricks assets.</a:t>
          </a:r>
          <a:endParaRPr lang="en-US" sz="1200" dirty="0"/>
        </a:p>
      </dgm:t>
    </dgm:pt>
    <dgm:pt modelId="{6E18BBD0-1B23-40A1-846A-482872FEAC7B}" type="parTrans" cxnId="{56C6A2F5-6124-4F44-BA7B-2477F808C638}">
      <dgm:prSet/>
      <dgm:spPr/>
      <dgm:t>
        <a:bodyPr/>
        <a:lstStyle/>
        <a:p>
          <a:endParaRPr lang="en-US"/>
        </a:p>
      </dgm:t>
    </dgm:pt>
    <dgm:pt modelId="{D0B54FB7-1547-4A11-9FD1-E7E3965095B6}" type="sibTrans" cxnId="{56C6A2F5-6124-4F44-BA7B-2477F808C638}">
      <dgm:prSet/>
      <dgm:spPr/>
      <dgm:t>
        <a:bodyPr/>
        <a:lstStyle/>
        <a:p>
          <a:endParaRPr lang="en-US"/>
        </a:p>
      </dgm:t>
    </dgm:pt>
    <dgm:pt modelId="{D81A5137-8D28-43F8-9F7E-3FF17F2D2D7D}">
      <dgm:prSet custT="1"/>
      <dgm:spPr/>
      <dgm:t>
        <a:bodyPr/>
        <a:lstStyle/>
        <a:p>
          <a:pPr>
            <a:lnSpc>
              <a:spcPct val="100000"/>
            </a:lnSpc>
            <a:defRPr cap="all"/>
          </a:pPr>
          <a:r>
            <a:rPr lang="nl-NL" sz="1200" b="1" baseline="0" dirty="0"/>
            <a:t>Notebooks</a:t>
          </a:r>
          <a:r>
            <a:rPr lang="nl-NL" sz="1200" baseline="0" dirty="0"/>
            <a:t> </a:t>
          </a:r>
          <a:r>
            <a:rPr lang="en-US" sz="1200" baseline="0" dirty="0"/>
            <a:t>are interactive documents that contain runnable code, visualizations, and narrative text. </a:t>
          </a:r>
          <a:endParaRPr lang="en-US" sz="1200" dirty="0"/>
        </a:p>
      </dgm:t>
    </dgm:pt>
    <dgm:pt modelId="{EE8D43B9-BC46-420C-8E76-CAA9E1A64FE9}" type="parTrans" cxnId="{F75950B8-FE8F-46CD-8B1C-8E77FF3AC272}">
      <dgm:prSet/>
      <dgm:spPr/>
      <dgm:t>
        <a:bodyPr/>
        <a:lstStyle/>
        <a:p>
          <a:endParaRPr lang="en-US"/>
        </a:p>
      </dgm:t>
    </dgm:pt>
    <dgm:pt modelId="{B9C1751E-FDDD-42E6-9E9D-1E88A3DDC4BA}" type="sibTrans" cxnId="{F75950B8-FE8F-46CD-8B1C-8E77FF3AC272}">
      <dgm:prSet/>
      <dgm:spPr/>
      <dgm:t>
        <a:bodyPr/>
        <a:lstStyle/>
        <a:p>
          <a:endParaRPr lang="en-US"/>
        </a:p>
      </dgm:t>
    </dgm:pt>
    <dgm:pt modelId="{467A7DBB-75AA-42C8-8D22-5C943DAE2C49}">
      <dgm:prSet custT="1"/>
      <dgm:spPr/>
      <dgm:t>
        <a:bodyPr/>
        <a:lstStyle/>
        <a:p>
          <a:pPr>
            <a:lnSpc>
              <a:spcPct val="100000"/>
            </a:lnSpc>
            <a:defRPr cap="all"/>
          </a:pPr>
          <a:r>
            <a:rPr lang="nl-NL" sz="1200" b="1" baseline="0" dirty="0"/>
            <a:t>Clusters</a:t>
          </a:r>
          <a:r>
            <a:rPr lang="nl-NL" sz="1200" baseline="0" dirty="0"/>
            <a:t> </a:t>
          </a:r>
          <a:r>
            <a:rPr lang="en-US" sz="1200" baseline="0" dirty="0"/>
            <a:t>are the computational engines of Azure Databricks.</a:t>
          </a:r>
          <a:endParaRPr lang="en-US" sz="1200" dirty="0"/>
        </a:p>
      </dgm:t>
    </dgm:pt>
    <dgm:pt modelId="{0A9181D4-1811-458D-B6AC-87B2D7C3C001}" type="parTrans" cxnId="{54CC319C-BB3E-47E7-B96A-FA309ACC83A1}">
      <dgm:prSet/>
      <dgm:spPr/>
      <dgm:t>
        <a:bodyPr/>
        <a:lstStyle/>
        <a:p>
          <a:endParaRPr lang="en-US"/>
        </a:p>
      </dgm:t>
    </dgm:pt>
    <dgm:pt modelId="{37641BD2-DB4C-4387-88A3-E0D55CED4182}" type="sibTrans" cxnId="{54CC319C-BB3E-47E7-B96A-FA309ACC83A1}">
      <dgm:prSet/>
      <dgm:spPr/>
      <dgm:t>
        <a:bodyPr/>
        <a:lstStyle/>
        <a:p>
          <a:endParaRPr lang="en-US"/>
        </a:p>
      </dgm:t>
    </dgm:pt>
    <dgm:pt modelId="{8B659DFE-DB86-492E-A425-B354D43C5EF2}">
      <dgm:prSet custT="1"/>
      <dgm:spPr/>
      <dgm:t>
        <a:bodyPr/>
        <a:lstStyle/>
        <a:p>
          <a:pPr>
            <a:lnSpc>
              <a:spcPct val="100000"/>
            </a:lnSpc>
            <a:defRPr cap="all"/>
          </a:pPr>
          <a:r>
            <a:rPr lang="nl-NL" sz="1200" b="1" baseline="0" dirty="0"/>
            <a:t>Jobs</a:t>
          </a:r>
          <a:r>
            <a:rPr lang="nl-NL" sz="1200" baseline="0" dirty="0"/>
            <a:t> </a:t>
          </a:r>
          <a:r>
            <a:rPr lang="en-US" sz="1200" baseline="0" dirty="0"/>
            <a:t>are used to schedule and run automated tasks. </a:t>
          </a:r>
          <a:endParaRPr lang="en-US" sz="1200" dirty="0"/>
        </a:p>
      </dgm:t>
    </dgm:pt>
    <dgm:pt modelId="{908B16A8-F20E-4118-80CE-A2C0BD63BC3D}" type="parTrans" cxnId="{A7CA65B3-BFC4-4ADB-832D-7682CFA7AF69}">
      <dgm:prSet/>
      <dgm:spPr/>
      <dgm:t>
        <a:bodyPr/>
        <a:lstStyle/>
        <a:p>
          <a:endParaRPr lang="en-US"/>
        </a:p>
      </dgm:t>
    </dgm:pt>
    <dgm:pt modelId="{A0E97F82-3047-43CD-9348-CEA2E4783200}" type="sibTrans" cxnId="{A7CA65B3-BFC4-4ADB-832D-7682CFA7AF69}">
      <dgm:prSet/>
      <dgm:spPr/>
      <dgm:t>
        <a:bodyPr/>
        <a:lstStyle/>
        <a:p>
          <a:endParaRPr lang="en-US"/>
        </a:p>
      </dgm:t>
    </dgm:pt>
    <dgm:pt modelId="{0B4B0D90-4E9A-4414-A599-FAF94BFDB092}">
      <dgm:prSet custT="1"/>
      <dgm:spPr/>
      <dgm:t>
        <a:bodyPr/>
        <a:lstStyle/>
        <a:p>
          <a:pPr>
            <a:lnSpc>
              <a:spcPct val="100000"/>
            </a:lnSpc>
            <a:defRPr cap="all"/>
          </a:pPr>
          <a:r>
            <a:rPr lang="nl-NL" sz="1200" b="1" baseline="0" dirty="0"/>
            <a:t>Databricks Runtime </a:t>
          </a:r>
          <a:r>
            <a:rPr lang="en-US" sz="1200" baseline="0" dirty="0"/>
            <a:t>is a set of performance-optimized versions of Apache Spark.</a:t>
          </a:r>
          <a:endParaRPr lang="en-US" sz="1200" dirty="0"/>
        </a:p>
      </dgm:t>
    </dgm:pt>
    <dgm:pt modelId="{4E9DFAC8-6B4C-41A4-B6F4-BE8B698DAEE3}" type="parTrans" cxnId="{CD66C6AE-E695-4FD7-852A-6D1CDF78FF4B}">
      <dgm:prSet/>
      <dgm:spPr/>
      <dgm:t>
        <a:bodyPr/>
        <a:lstStyle/>
        <a:p>
          <a:endParaRPr lang="en-US"/>
        </a:p>
      </dgm:t>
    </dgm:pt>
    <dgm:pt modelId="{F97FF75A-E2E0-4BF0-8054-A5486E3A569F}" type="sibTrans" cxnId="{CD66C6AE-E695-4FD7-852A-6D1CDF78FF4B}">
      <dgm:prSet/>
      <dgm:spPr/>
      <dgm:t>
        <a:bodyPr/>
        <a:lstStyle/>
        <a:p>
          <a:endParaRPr lang="en-US"/>
        </a:p>
      </dgm:t>
    </dgm:pt>
    <dgm:pt modelId="{47B62B85-C42C-49E0-8D76-B965F42F3A97}">
      <dgm:prSet custT="1"/>
      <dgm:spPr/>
      <dgm:t>
        <a:bodyPr/>
        <a:lstStyle/>
        <a:p>
          <a:pPr>
            <a:lnSpc>
              <a:spcPct val="100000"/>
            </a:lnSpc>
            <a:defRPr cap="all"/>
          </a:pPr>
          <a:r>
            <a:rPr lang="nl-NL" sz="1200" b="1" baseline="0" dirty="0"/>
            <a:t>Delta Lake</a:t>
          </a:r>
          <a:r>
            <a:rPr lang="nl-NL" sz="1200" baseline="0" dirty="0"/>
            <a:t> </a:t>
          </a:r>
          <a:r>
            <a:rPr lang="en-US" sz="1200" baseline="0" dirty="0"/>
            <a:t>is an open-source storage layer that brings reliability and scalability to data lakes.</a:t>
          </a:r>
          <a:endParaRPr lang="en-US" sz="1200" dirty="0"/>
        </a:p>
      </dgm:t>
    </dgm:pt>
    <dgm:pt modelId="{45D3EBD2-91B1-448C-AB29-6A3D3FA4CA26}" type="parTrans" cxnId="{13E2F0C9-7B8E-45C7-82C0-1B41F3E5666C}">
      <dgm:prSet/>
      <dgm:spPr/>
      <dgm:t>
        <a:bodyPr/>
        <a:lstStyle/>
        <a:p>
          <a:endParaRPr lang="en-US"/>
        </a:p>
      </dgm:t>
    </dgm:pt>
    <dgm:pt modelId="{F0AE3AB5-CAEB-4353-9532-A8FB52165568}" type="sibTrans" cxnId="{13E2F0C9-7B8E-45C7-82C0-1B41F3E5666C}">
      <dgm:prSet/>
      <dgm:spPr/>
      <dgm:t>
        <a:bodyPr/>
        <a:lstStyle/>
        <a:p>
          <a:endParaRPr lang="en-US"/>
        </a:p>
      </dgm:t>
    </dgm:pt>
    <dgm:pt modelId="{0A16150D-DD23-4F6F-B8BE-80625A70982D}">
      <dgm:prSet custT="1"/>
      <dgm:spPr/>
      <dgm:t>
        <a:bodyPr/>
        <a:lstStyle/>
        <a:p>
          <a:pPr>
            <a:lnSpc>
              <a:spcPct val="100000"/>
            </a:lnSpc>
            <a:defRPr cap="all"/>
          </a:pPr>
          <a:r>
            <a:rPr lang="en-US" sz="1200" b="1" baseline="0" dirty="0"/>
            <a:t>Databricks SQL</a:t>
          </a:r>
          <a:r>
            <a:rPr lang="en-US" sz="1200" baseline="0" dirty="0"/>
            <a:t> provides a way to perform SQL queries on the data within Azure Databricks.</a:t>
          </a:r>
          <a:endParaRPr lang="en-US" sz="1200" dirty="0"/>
        </a:p>
      </dgm:t>
    </dgm:pt>
    <dgm:pt modelId="{4A509C94-42C3-4044-BE42-8491CBF43146}" type="parTrans" cxnId="{00DB0EF9-8703-4945-A2B6-7D7B3EE08F2E}">
      <dgm:prSet/>
      <dgm:spPr/>
      <dgm:t>
        <a:bodyPr/>
        <a:lstStyle/>
        <a:p>
          <a:endParaRPr lang="en-US"/>
        </a:p>
      </dgm:t>
    </dgm:pt>
    <dgm:pt modelId="{47533C44-E641-4C29-AEC0-0AE2C2D72368}" type="sibTrans" cxnId="{00DB0EF9-8703-4945-A2B6-7D7B3EE08F2E}">
      <dgm:prSet/>
      <dgm:spPr/>
      <dgm:t>
        <a:bodyPr/>
        <a:lstStyle/>
        <a:p>
          <a:endParaRPr lang="en-US"/>
        </a:p>
      </dgm:t>
    </dgm:pt>
    <dgm:pt modelId="{0BE350F8-29A8-4D99-B8BF-0E9FAA2D9162}">
      <dgm:prSet custT="1"/>
      <dgm:spPr/>
      <dgm:t>
        <a:bodyPr/>
        <a:lstStyle/>
        <a:p>
          <a:pPr>
            <a:lnSpc>
              <a:spcPct val="100000"/>
            </a:lnSpc>
            <a:defRPr cap="all"/>
          </a:pPr>
          <a:r>
            <a:rPr lang="en-US" sz="1200" b="1" baseline="0" dirty="0" err="1"/>
            <a:t>MLflow</a:t>
          </a:r>
          <a:r>
            <a:rPr lang="en-US" sz="1200" b="1" baseline="0" dirty="0"/>
            <a:t> </a:t>
          </a:r>
          <a:r>
            <a:rPr lang="en-US" sz="1200" baseline="0" dirty="0"/>
            <a:t>is an open-source platform for managing the end-to-end machine learning lifecycle.</a:t>
          </a:r>
          <a:br>
            <a:rPr lang="nl-NL" sz="1200" baseline="0" dirty="0"/>
          </a:br>
          <a:endParaRPr lang="en-US" sz="1200" dirty="0"/>
        </a:p>
      </dgm:t>
    </dgm:pt>
    <dgm:pt modelId="{3A877375-1053-4C2C-84AC-34474D9FBFD4}" type="parTrans" cxnId="{741C15B2-2141-4A46-9A88-D3A202742725}">
      <dgm:prSet/>
      <dgm:spPr/>
      <dgm:t>
        <a:bodyPr/>
        <a:lstStyle/>
        <a:p>
          <a:endParaRPr lang="en-US"/>
        </a:p>
      </dgm:t>
    </dgm:pt>
    <dgm:pt modelId="{CB3AE36E-9E4F-4655-8A48-6442F3B79305}" type="sibTrans" cxnId="{741C15B2-2141-4A46-9A88-D3A202742725}">
      <dgm:prSet/>
      <dgm:spPr/>
      <dgm:t>
        <a:bodyPr/>
        <a:lstStyle/>
        <a:p>
          <a:endParaRPr lang="en-US"/>
        </a:p>
      </dgm:t>
    </dgm:pt>
    <dgm:pt modelId="{B565FF47-C915-46F7-AF7B-42BADA83B00A}" type="pres">
      <dgm:prSet presAssocID="{F3DDC884-5776-423D-86EE-9F1ACE27D284}" presName="root" presStyleCnt="0">
        <dgm:presLayoutVars>
          <dgm:dir/>
          <dgm:resizeHandles val="exact"/>
        </dgm:presLayoutVars>
      </dgm:prSet>
      <dgm:spPr/>
    </dgm:pt>
    <dgm:pt modelId="{64ED084D-BA5E-42FA-9142-FD69202BB000}" type="pres">
      <dgm:prSet presAssocID="{22B20B66-A730-4FE3-870E-3BA16941E2C2}" presName="compNode" presStyleCnt="0"/>
      <dgm:spPr/>
    </dgm:pt>
    <dgm:pt modelId="{9E259358-EB9B-43C6-80BD-B4E546C82895}" type="pres">
      <dgm:prSet presAssocID="{22B20B66-A730-4FE3-870E-3BA16941E2C2}" presName="iconBgRect" presStyleLbl="bgShp" presStyleIdx="0" presStyleCnt="8"/>
      <dgm:spPr>
        <a:prstGeom prst="round2DiagRect">
          <a:avLst>
            <a:gd name="adj1" fmla="val 29727"/>
            <a:gd name="adj2" fmla="val 0"/>
          </a:avLst>
        </a:prstGeom>
      </dgm:spPr>
    </dgm:pt>
    <dgm:pt modelId="{602A3EC9-CB2D-484D-A5A7-29A181156C6E}" type="pres">
      <dgm:prSet presAssocID="{22B20B66-A730-4FE3-870E-3BA16941E2C2}"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Folder"/>
        </a:ext>
      </dgm:extLst>
    </dgm:pt>
    <dgm:pt modelId="{BC5B844E-2417-4B98-BA98-ED555172EFB7}" type="pres">
      <dgm:prSet presAssocID="{22B20B66-A730-4FE3-870E-3BA16941E2C2}" presName="spaceRect" presStyleCnt="0"/>
      <dgm:spPr/>
    </dgm:pt>
    <dgm:pt modelId="{48BB4CDC-2919-46A3-8EAF-5FB3B5C71BE4}" type="pres">
      <dgm:prSet presAssocID="{22B20B66-A730-4FE3-870E-3BA16941E2C2}" presName="textRect" presStyleLbl="revTx" presStyleIdx="0" presStyleCnt="8">
        <dgm:presLayoutVars>
          <dgm:chMax val="1"/>
          <dgm:chPref val="1"/>
        </dgm:presLayoutVars>
      </dgm:prSet>
      <dgm:spPr/>
    </dgm:pt>
    <dgm:pt modelId="{0C4F41B9-62B8-4B77-8F9E-B459B556C52A}" type="pres">
      <dgm:prSet presAssocID="{D0B54FB7-1547-4A11-9FD1-E7E3965095B6}" presName="sibTrans" presStyleCnt="0"/>
      <dgm:spPr/>
    </dgm:pt>
    <dgm:pt modelId="{F0756AE6-A40E-4CE7-A196-A204CDB59012}" type="pres">
      <dgm:prSet presAssocID="{D81A5137-8D28-43F8-9F7E-3FF17F2D2D7D}" presName="compNode" presStyleCnt="0"/>
      <dgm:spPr/>
    </dgm:pt>
    <dgm:pt modelId="{CF2B9FF0-EEE8-411E-AE1F-3004927B5786}" type="pres">
      <dgm:prSet presAssocID="{D81A5137-8D28-43F8-9F7E-3FF17F2D2D7D}" presName="iconBgRect" presStyleLbl="bgShp" presStyleIdx="1" presStyleCnt="8"/>
      <dgm:spPr>
        <a:prstGeom prst="round2DiagRect">
          <a:avLst>
            <a:gd name="adj1" fmla="val 29727"/>
            <a:gd name="adj2" fmla="val 0"/>
          </a:avLst>
        </a:prstGeom>
      </dgm:spPr>
    </dgm:pt>
    <dgm:pt modelId="{5E6BA2EE-EE68-439D-80B2-8FF95B31686E}" type="pres">
      <dgm:prSet presAssocID="{D81A5137-8D28-43F8-9F7E-3FF17F2D2D7D}"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search"/>
        </a:ext>
      </dgm:extLst>
    </dgm:pt>
    <dgm:pt modelId="{73D5221F-C2CB-4FE6-A2A7-43A348BB851B}" type="pres">
      <dgm:prSet presAssocID="{D81A5137-8D28-43F8-9F7E-3FF17F2D2D7D}" presName="spaceRect" presStyleCnt="0"/>
      <dgm:spPr/>
    </dgm:pt>
    <dgm:pt modelId="{B37F52FC-EB0E-4201-8A3A-4B2D224A0015}" type="pres">
      <dgm:prSet presAssocID="{D81A5137-8D28-43F8-9F7E-3FF17F2D2D7D}" presName="textRect" presStyleLbl="revTx" presStyleIdx="1" presStyleCnt="8">
        <dgm:presLayoutVars>
          <dgm:chMax val="1"/>
          <dgm:chPref val="1"/>
        </dgm:presLayoutVars>
      </dgm:prSet>
      <dgm:spPr/>
    </dgm:pt>
    <dgm:pt modelId="{B3485281-365D-4741-B8DF-13BF1AD95B15}" type="pres">
      <dgm:prSet presAssocID="{B9C1751E-FDDD-42E6-9E9D-1E88A3DDC4BA}" presName="sibTrans" presStyleCnt="0"/>
      <dgm:spPr/>
    </dgm:pt>
    <dgm:pt modelId="{456650A7-BD40-49E6-AC13-2E09D2F07FC6}" type="pres">
      <dgm:prSet presAssocID="{467A7DBB-75AA-42C8-8D22-5C943DAE2C49}" presName="compNode" presStyleCnt="0"/>
      <dgm:spPr/>
    </dgm:pt>
    <dgm:pt modelId="{6852BDFE-E0F0-47EA-8D09-F0F50BD931C1}" type="pres">
      <dgm:prSet presAssocID="{467A7DBB-75AA-42C8-8D22-5C943DAE2C49}" presName="iconBgRect" presStyleLbl="bgShp" presStyleIdx="2" presStyleCnt="8"/>
      <dgm:spPr>
        <a:prstGeom prst="round2DiagRect">
          <a:avLst>
            <a:gd name="adj1" fmla="val 29727"/>
            <a:gd name="adj2" fmla="val 0"/>
          </a:avLst>
        </a:prstGeom>
      </dgm:spPr>
    </dgm:pt>
    <dgm:pt modelId="{7BBBEE9A-9678-4818-8C06-1B2B7D0C1BF9}" type="pres">
      <dgm:prSet presAssocID="{467A7DBB-75AA-42C8-8D22-5C943DAE2C49}"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yncing Cloud"/>
        </a:ext>
      </dgm:extLst>
    </dgm:pt>
    <dgm:pt modelId="{E54DFDEB-C502-4469-A72D-62B86BAD843E}" type="pres">
      <dgm:prSet presAssocID="{467A7DBB-75AA-42C8-8D22-5C943DAE2C49}" presName="spaceRect" presStyleCnt="0"/>
      <dgm:spPr/>
    </dgm:pt>
    <dgm:pt modelId="{98B20D60-56D0-44A4-8FB2-C20EB2C65675}" type="pres">
      <dgm:prSet presAssocID="{467A7DBB-75AA-42C8-8D22-5C943DAE2C49}" presName="textRect" presStyleLbl="revTx" presStyleIdx="2" presStyleCnt="8">
        <dgm:presLayoutVars>
          <dgm:chMax val="1"/>
          <dgm:chPref val="1"/>
        </dgm:presLayoutVars>
      </dgm:prSet>
      <dgm:spPr/>
    </dgm:pt>
    <dgm:pt modelId="{034C2DCA-44FE-47A2-B7EB-788DD69FD084}" type="pres">
      <dgm:prSet presAssocID="{37641BD2-DB4C-4387-88A3-E0D55CED4182}" presName="sibTrans" presStyleCnt="0"/>
      <dgm:spPr/>
    </dgm:pt>
    <dgm:pt modelId="{D8647A75-8E40-4301-99A4-351DFE99F904}" type="pres">
      <dgm:prSet presAssocID="{8B659DFE-DB86-492E-A425-B354D43C5EF2}" presName="compNode" presStyleCnt="0"/>
      <dgm:spPr/>
    </dgm:pt>
    <dgm:pt modelId="{25FF346A-9335-43EC-BE41-6F668C418CD1}" type="pres">
      <dgm:prSet presAssocID="{8B659DFE-DB86-492E-A425-B354D43C5EF2}" presName="iconBgRect" presStyleLbl="bgShp" presStyleIdx="3" presStyleCnt="8"/>
      <dgm:spPr>
        <a:prstGeom prst="round2DiagRect">
          <a:avLst>
            <a:gd name="adj1" fmla="val 29727"/>
            <a:gd name="adj2" fmla="val 0"/>
          </a:avLst>
        </a:prstGeom>
      </dgm:spPr>
    </dgm:pt>
    <dgm:pt modelId="{938E365F-A33B-4BEE-AA99-5ED1AC239E9D}" type="pres">
      <dgm:prSet presAssocID="{8B659DFE-DB86-492E-A425-B354D43C5EF2}"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opwatch"/>
        </a:ext>
      </dgm:extLst>
    </dgm:pt>
    <dgm:pt modelId="{D9DC66D5-8289-47A9-9F3E-6DBD7F818FA9}" type="pres">
      <dgm:prSet presAssocID="{8B659DFE-DB86-492E-A425-B354D43C5EF2}" presName="spaceRect" presStyleCnt="0"/>
      <dgm:spPr/>
    </dgm:pt>
    <dgm:pt modelId="{73169118-7AE1-4860-A07C-94C11B41362F}" type="pres">
      <dgm:prSet presAssocID="{8B659DFE-DB86-492E-A425-B354D43C5EF2}" presName="textRect" presStyleLbl="revTx" presStyleIdx="3" presStyleCnt="8">
        <dgm:presLayoutVars>
          <dgm:chMax val="1"/>
          <dgm:chPref val="1"/>
        </dgm:presLayoutVars>
      </dgm:prSet>
      <dgm:spPr/>
    </dgm:pt>
    <dgm:pt modelId="{6F17CB62-E85D-45B5-9F47-EA67CF2BC32A}" type="pres">
      <dgm:prSet presAssocID="{A0E97F82-3047-43CD-9348-CEA2E4783200}" presName="sibTrans" presStyleCnt="0"/>
      <dgm:spPr/>
    </dgm:pt>
    <dgm:pt modelId="{A300D2BC-862C-4B62-9C68-3084B885C166}" type="pres">
      <dgm:prSet presAssocID="{0B4B0D90-4E9A-4414-A599-FAF94BFDB092}" presName="compNode" presStyleCnt="0"/>
      <dgm:spPr/>
    </dgm:pt>
    <dgm:pt modelId="{2EBD8AED-852B-44E3-907C-586489A7D8DB}" type="pres">
      <dgm:prSet presAssocID="{0B4B0D90-4E9A-4414-A599-FAF94BFDB092}" presName="iconBgRect" presStyleLbl="bgShp" presStyleIdx="4" presStyleCnt="8"/>
      <dgm:spPr>
        <a:prstGeom prst="round2DiagRect">
          <a:avLst>
            <a:gd name="adj1" fmla="val 29727"/>
            <a:gd name="adj2" fmla="val 0"/>
          </a:avLst>
        </a:prstGeom>
      </dgm:spPr>
    </dgm:pt>
    <dgm:pt modelId="{9D8AF444-7A27-4C84-86D8-813C1FB9D5E5}" type="pres">
      <dgm:prSet presAssocID="{0B4B0D90-4E9A-4414-A599-FAF94BFDB092}"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369F5B66-130D-4070-8841-44DF836AAF46}" type="pres">
      <dgm:prSet presAssocID="{0B4B0D90-4E9A-4414-A599-FAF94BFDB092}" presName="spaceRect" presStyleCnt="0"/>
      <dgm:spPr/>
    </dgm:pt>
    <dgm:pt modelId="{88C2949C-4582-4BF0-AB35-9E3675FB68AB}" type="pres">
      <dgm:prSet presAssocID="{0B4B0D90-4E9A-4414-A599-FAF94BFDB092}" presName="textRect" presStyleLbl="revTx" presStyleIdx="4" presStyleCnt="8">
        <dgm:presLayoutVars>
          <dgm:chMax val="1"/>
          <dgm:chPref val="1"/>
        </dgm:presLayoutVars>
      </dgm:prSet>
      <dgm:spPr/>
    </dgm:pt>
    <dgm:pt modelId="{3C8B361A-2FE1-47A8-962F-EC349C1E6C43}" type="pres">
      <dgm:prSet presAssocID="{F97FF75A-E2E0-4BF0-8054-A5486E3A569F}" presName="sibTrans" presStyleCnt="0"/>
      <dgm:spPr/>
    </dgm:pt>
    <dgm:pt modelId="{B2DDCECF-2407-4D27-A0C1-BD6D537BD5ED}" type="pres">
      <dgm:prSet presAssocID="{47B62B85-C42C-49E0-8D76-B965F42F3A97}" presName="compNode" presStyleCnt="0"/>
      <dgm:spPr/>
    </dgm:pt>
    <dgm:pt modelId="{E8B3D31D-1353-4A5C-9512-6A8993C86795}" type="pres">
      <dgm:prSet presAssocID="{47B62B85-C42C-49E0-8D76-B965F42F3A97}" presName="iconBgRect" presStyleLbl="bgShp" presStyleIdx="5" presStyleCnt="8"/>
      <dgm:spPr>
        <a:prstGeom prst="round2DiagRect">
          <a:avLst>
            <a:gd name="adj1" fmla="val 29727"/>
            <a:gd name="adj2" fmla="val 0"/>
          </a:avLst>
        </a:prstGeom>
      </dgm:spPr>
    </dgm:pt>
    <dgm:pt modelId="{9A2D2EF5-418F-4D1C-A3D4-30E8D62D2E0D}" type="pres">
      <dgm:prSet presAssocID="{47B62B85-C42C-49E0-8D76-B965F42F3A97}"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Server"/>
        </a:ext>
      </dgm:extLst>
    </dgm:pt>
    <dgm:pt modelId="{5285D24E-73C0-46F6-A536-3275F389FAA4}" type="pres">
      <dgm:prSet presAssocID="{47B62B85-C42C-49E0-8D76-B965F42F3A97}" presName="spaceRect" presStyleCnt="0"/>
      <dgm:spPr/>
    </dgm:pt>
    <dgm:pt modelId="{17C87900-B86E-45CC-AEB8-328B17111F66}" type="pres">
      <dgm:prSet presAssocID="{47B62B85-C42C-49E0-8D76-B965F42F3A97}" presName="textRect" presStyleLbl="revTx" presStyleIdx="5" presStyleCnt="8">
        <dgm:presLayoutVars>
          <dgm:chMax val="1"/>
          <dgm:chPref val="1"/>
        </dgm:presLayoutVars>
      </dgm:prSet>
      <dgm:spPr/>
    </dgm:pt>
    <dgm:pt modelId="{E7274320-7C8B-41E4-A6DA-7B2AE7D82455}" type="pres">
      <dgm:prSet presAssocID="{F0AE3AB5-CAEB-4353-9532-A8FB52165568}" presName="sibTrans" presStyleCnt="0"/>
      <dgm:spPr/>
    </dgm:pt>
    <dgm:pt modelId="{51B1F255-3426-4A99-BB25-1EE4749D6AA1}" type="pres">
      <dgm:prSet presAssocID="{0A16150D-DD23-4F6F-B8BE-80625A70982D}" presName="compNode" presStyleCnt="0"/>
      <dgm:spPr/>
    </dgm:pt>
    <dgm:pt modelId="{C6FEEBD7-3F2F-40D1-9668-FBA8ADE32979}" type="pres">
      <dgm:prSet presAssocID="{0A16150D-DD23-4F6F-B8BE-80625A70982D}" presName="iconBgRect" presStyleLbl="bgShp" presStyleIdx="6" presStyleCnt="8"/>
      <dgm:spPr>
        <a:prstGeom prst="round2DiagRect">
          <a:avLst>
            <a:gd name="adj1" fmla="val 29727"/>
            <a:gd name="adj2" fmla="val 0"/>
          </a:avLst>
        </a:prstGeom>
      </dgm:spPr>
    </dgm:pt>
    <dgm:pt modelId="{9C14FDDB-7DE9-4B71-9012-3B6CFF056BB5}" type="pres">
      <dgm:prSet presAssocID="{0A16150D-DD23-4F6F-B8BE-80625A70982D}"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Processor"/>
        </a:ext>
      </dgm:extLst>
    </dgm:pt>
    <dgm:pt modelId="{870E4ED5-764A-451B-A8E9-D7773AE62996}" type="pres">
      <dgm:prSet presAssocID="{0A16150D-DD23-4F6F-B8BE-80625A70982D}" presName="spaceRect" presStyleCnt="0"/>
      <dgm:spPr/>
    </dgm:pt>
    <dgm:pt modelId="{56503AB7-781C-44D0-8E09-2FFB1C33D288}" type="pres">
      <dgm:prSet presAssocID="{0A16150D-DD23-4F6F-B8BE-80625A70982D}" presName="textRect" presStyleLbl="revTx" presStyleIdx="6" presStyleCnt="8">
        <dgm:presLayoutVars>
          <dgm:chMax val="1"/>
          <dgm:chPref val="1"/>
        </dgm:presLayoutVars>
      </dgm:prSet>
      <dgm:spPr/>
    </dgm:pt>
    <dgm:pt modelId="{203863EB-16C2-45AA-8EDF-49CEA07D801F}" type="pres">
      <dgm:prSet presAssocID="{47533C44-E641-4C29-AEC0-0AE2C2D72368}" presName="sibTrans" presStyleCnt="0"/>
      <dgm:spPr/>
    </dgm:pt>
    <dgm:pt modelId="{D1355011-88F2-46AB-B3AA-F8D3944E6F21}" type="pres">
      <dgm:prSet presAssocID="{0BE350F8-29A8-4D99-B8BF-0E9FAA2D9162}" presName="compNode" presStyleCnt="0"/>
      <dgm:spPr/>
    </dgm:pt>
    <dgm:pt modelId="{3CD0D40A-C92D-4CEA-80E6-C231F8D4EDAE}" type="pres">
      <dgm:prSet presAssocID="{0BE350F8-29A8-4D99-B8BF-0E9FAA2D9162}" presName="iconBgRect" presStyleLbl="bgShp" presStyleIdx="7" presStyleCnt="8"/>
      <dgm:spPr>
        <a:prstGeom prst="round2DiagRect">
          <a:avLst>
            <a:gd name="adj1" fmla="val 29727"/>
            <a:gd name="adj2" fmla="val 0"/>
          </a:avLst>
        </a:prstGeom>
      </dgm:spPr>
    </dgm:pt>
    <dgm:pt modelId="{F91E3BDC-DF96-4D16-B2E2-D1170E3EBB9D}" type="pres">
      <dgm:prSet presAssocID="{0BE350F8-29A8-4D99-B8BF-0E9FAA2D9162}"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Robot"/>
        </a:ext>
      </dgm:extLst>
    </dgm:pt>
    <dgm:pt modelId="{23D07219-662F-40E8-A181-7C849D2AF199}" type="pres">
      <dgm:prSet presAssocID="{0BE350F8-29A8-4D99-B8BF-0E9FAA2D9162}" presName="spaceRect" presStyleCnt="0"/>
      <dgm:spPr/>
    </dgm:pt>
    <dgm:pt modelId="{B4D3EBBB-087F-4F6E-B5EE-2BA99EAE7AE5}" type="pres">
      <dgm:prSet presAssocID="{0BE350F8-29A8-4D99-B8BF-0E9FAA2D9162}" presName="textRect" presStyleLbl="revTx" presStyleIdx="7" presStyleCnt="8">
        <dgm:presLayoutVars>
          <dgm:chMax val="1"/>
          <dgm:chPref val="1"/>
        </dgm:presLayoutVars>
      </dgm:prSet>
      <dgm:spPr/>
    </dgm:pt>
  </dgm:ptLst>
  <dgm:cxnLst>
    <dgm:cxn modelId="{6F9DED34-FDE9-4990-96D2-B61F9132F89C}" type="presOf" srcId="{0A16150D-DD23-4F6F-B8BE-80625A70982D}" destId="{56503AB7-781C-44D0-8E09-2FFB1C33D288}" srcOrd="0" destOrd="0" presId="urn:microsoft.com/office/officeart/2018/5/layout/IconLeafLabelList"/>
    <dgm:cxn modelId="{D753925E-62A4-4038-8054-9281193DF901}" type="presOf" srcId="{8B659DFE-DB86-492E-A425-B354D43C5EF2}" destId="{73169118-7AE1-4860-A07C-94C11B41362F}" srcOrd="0" destOrd="0" presId="urn:microsoft.com/office/officeart/2018/5/layout/IconLeafLabelList"/>
    <dgm:cxn modelId="{03FBD367-4212-435F-8E72-3877DAEDE476}" type="presOf" srcId="{F3DDC884-5776-423D-86EE-9F1ACE27D284}" destId="{B565FF47-C915-46F7-AF7B-42BADA83B00A}" srcOrd="0" destOrd="0" presId="urn:microsoft.com/office/officeart/2018/5/layout/IconLeafLabelList"/>
    <dgm:cxn modelId="{B30AA54A-0376-4F6C-8FD7-5D9D239AA9FC}" type="presOf" srcId="{D81A5137-8D28-43F8-9F7E-3FF17F2D2D7D}" destId="{B37F52FC-EB0E-4201-8A3A-4B2D224A0015}" srcOrd="0" destOrd="0" presId="urn:microsoft.com/office/officeart/2018/5/layout/IconLeafLabelList"/>
    <dgm:cxn modelId="{4759726C-E6D3-4E93-8172-3BBDC3FC2DC8}" type="presOf" srcId="{0BE350F8-29A8-4D99-B8BF-0E9FAA2D9162}" destId="{B4D3EBBB-087F-4F6E-B5EE-2BA99EAE7AE5}" srcOrd="0" destOrd="0" presId="urn:microsoft.com/office/officeart/2018/5/layout/IconLeafLabelList"/>
    <dgm:cxn modelId="{505F7773-0E09-4C22-AA5A-F02FB2364B61}" type="presOf" srcId="{467A7DBB-75AA-42C8-8D22-5C943DAE2C49}" destId="{98B20D60-56D0-44A4-8FB2-C20EB2C65675}" srcOrd="0" destOrd="0" presId="urn:microsoft.com/office/officeart/2018/5/layout/IconLeafLabelList"/>
    <dgm:cxn modelId="{3BF83D7C-7AF4-47EC-AE4C-29495B7C0DC3}" type="presOf" srcId="{22B20B66-A730-4FE3-870E-3BA16941E2C2}" destId="{48BB4CDC-2919-46A3-8EAF-5FB3B5C71BE4}" srcOrd="0" destOrd="0" presId="urn:microsoft.com/office/officeart/2018/5/layout/IconLeafLabelList"/>
    <dgm:cxn modelId="{54CC319C-BB3E-47E7-B96A-FA309ACC83A1}" srcId="{F3DDC884-5776-423D-86EE-9F1ACE27D284}" destId="{467A7DBB-75AA-42C8-8D22-5C943DAE2C49}" srcOrd="2" destOrd="0" parTransId="{0A9181D4-1811-458D-B6AC-87B2D7C3C001}" sibTransId="{37641BD2-DB4C-4387-88A3-E0D55CED4182}"/>
    <dgm:cxn modelId="{CD66C6AE-E695-4FD7-852A-6D1CDF78FF4B}" srcId="{F3DDC884-5776-423D-86EE-9F1ACE27D284}" destId="{0B4B0D90-4E9A-4414-A599-FAF94BFDB092}" srcOrd="4" destOrd="0" parTransId="{4E9DFAC8-6B4C-41A4-B6F4-BE8B698DAEE3}" sibTransId="{F97FF75A-E2E0-4BF0-8054-A5486E3A569F}"/>
    <dgm:cxn modelId="{741C15B2-2141-4A46-9A88-D3A202742725}" srcId="{F3DDC884-5776-423D-86EE-9F1ACE27D284}" destId="{0BE350F8-29A8-4D99-B8BF-0E9FAA2D9162}" srcOrd="7" destOrd="0" parTransId="{3A877375-1053-4C2C-84AC-34474D9FBFD4}" sibTransId="{CB3AE36E-9E4F-4655-8A48-6442F3B79305}"/>
    <dgm:cxn modelId="{A7CA65B3-BFC4-4ADB-832D-7682CFA7AF69}" srcId="{F3DDC884-5776-423D-86EE-9F1ACE27D284}" destId="{8B659DFE-DB86-492E-A425-B354D43C5EF2}" srcOrd="3" destOrd="0" parTransId="{908B16A8-F20E-4118-80CE-A2C0BD63BC3D}" sibTransId="{A0E97F82-3047-43CD-9348-CEA2E4783200}"/>
    <dgm:cxn modelId="{F75950B8-FE8F-46CD-8B1C-8E77FF3AC272}" srcId="{F3DDC884-5776-423D-86EE-9F1ACE27D284}" destId="{D81A5137-8D28-43F8-9F7E-3FF17F2D2D7D}" srcOrd="1" destOrd="0" parTransId="{EE8D43B9-BC46-420C-8E76-CAA9E1A64FE9}" sibTransId="{B9C1751E-FDDD-42E6-9E9D-1E88A3DDC4BA}"/>
    <dgm:cxn modelId="{13E2F0C9-7B8E-45C7-82C0-1B41F3E5666C}" srcId="{F3DDC884-5776-423D-86EE-9F1ACE27D284}" destId="{47B62B85-C42C-49E0-8D76-B965F42F3A97}" srcOrd="5" destOrd="0" parTransId="{45D3EBD2-91B1-448C-AB29-6A3D3FA4CA26}" sibTransId="{F0AE3AB5-CAEB-4353-9532-A8FB52165568}"/>
    <dgm:cxn modelId="{99B7A0CD-62FA-465C-A5DD-798821B605A3}" type="presOf" srcId="{47B62B85-C42C-49E0-8D76-B965F42F3A97}" destId="{17C87900-B86E-45CC-AEB8-328B17111F66}" srcOrd="0" destOrd="0" presId="urn:microsoft.com/office/officeart/2018/5/layout/IconLeafLabelList"/>
    <dgm:cxn modelId="{9C0B79F5-3F53-4202-A09C-80369F58839C}" type="presOf" srcId="{0B4B0D90-4E9A-4414-A599-FAF94BFDB092}" destId="{88C2949C-4582-4BF0-AB35-9E3675FB68AB}" srcOrd="0" destOrd="0" presId="urn:microsoft.com/office/officeart/2018/5/layout/IconLeafLabelList"/>
    <dgm:cxn modelId="{56C6A2F5-6124-4F44-BA7B-2477F808C638}" srcId="{F3DDC884-5776-423D-86EE-9F1ACE27D284}" destId="{22B20B66-A730-4FE3-870E-3BA16941E2C2}" srcOrd="0" destOrd="0" parTransId="{6E18BBD0-1B23-40A1-846A-482872FEAC7B}" sibTransId="{D0B54FB7-1547-4A11-9FD1-E7E3965095B6}"/>
    <dgm:cxn modelId="{00DB0EF9-8703-4945-A2B6-7D7B3EE08F2E}" srcId="{F3DDC884-5776-423D-86EE-9F1ACE27D284}" destId="{0A16150D-DD23-4F6F-B8BE-80625A70982D}" srcOrd="6" destOrd="0" parTransId="{4A509C94-42C3-4044-BE42-8491CBF43146}" sibTransId="{47533C44-E641-4C29-AEC0-0AE2C2D72368}"/>
    <dgm:cxn modelId="{858258B9-5195-4F79-9F03-70057FE00DED}" type="presParOf" srcId="{B565FF47-C915-46F7-AF7B-42BADA83B00A}" destId="{64ED084D-BA5E-42FA-9142-FD69202BB000}" srcOrd="0" destOrd="0" presId="urn:microsoft.com/office/officeart/2018/5/layout/IconLeafLabelList"/>
    <dgm:cxn modelId="{6CA60956-FF61-40F9-AA4C-FDEB3FA2593A}" type="presParOf" srcId="{64ED084D-BA5E-42FA-9142-FD69202BB000}" destId="{9E259358-EB9B-43C6-80BD-B4E546C82895}" srcOrd="0" destOrd="0" presId="urn:microsoft.com/office/officeart/2018/5/layout/IconLeafLabelList"/>
    <dgm:cxn modelId="{4E71FC64-3761-4FFF-AA8D-999382DC97C2}" type="presParOf" srcId="{64ED084D-BA5E-42FA-9142-FD69202BB000}" destId="{602A3EC9-CB2D-484D-A5A7-29A181156C6E}" srcOrd="1" destOrd="0" presId="urn:microsoft.com/office/officeart/2018/5/layout/IconLeafLabelList"/>
    <dgm:cxn modelId="{EA196C10-1893-45F9-8D14-59EA3DC9D116}" type="presParOf" srcId="{64ED084D-BA5E-42FA-9142-FD69202BB000}" destId="{BC5B844E-2417-4B98-BA98-ED555172EFB7}" srcOrd="2" destOrd="0" presId="urn:microsoft.com/office/officeart/2018/5/layout/IconLeafLabelList"/>
    <dgm:cxn modelId="{B6686F6E-7BCD-4C79-AA23-05CCBE826B7D}" type="presParOf" srcId="{64ED084D-BA5E-42FA-9142-FD69202BB000}" destId="{48BB4CDC-2919-46A3-8EAF-5FB3B5C71BE4}" srcOrd="3" destOrd="0" presId="urn:microsoft.com/office/officeart/2018/5/layout/IconLeafLabelList"/>
    <dgm:cxn modelId="{81382864-5DBA-4B1A-98D9-214763054586}" type="presParOf" srcId="{B565FF47-C915-46F7-AF7B-42BADA83B00A}" destId="{0C4F41B9-62B8-4B77-8F9E-B459B556C52A}" srcOrd="1" destOrd="0" presId="urn:microsoft.com/office/officeart/2018/5/layout/IconLeafLabelList"/>
    <dgm:cxn modelId="{E245F5B1-36AF-456B-8F18-7C5B34C6F0E3}" type="presParOf" srcId="{B565FF47-C915-46F7-AF7B-42BADA83B00A}" destId="{F0756AE6-A40E-4CE7-A196-A204CDB59012}" srcOrd="2" destOrd="0" presId="urn:microsoft.com/office/officeart/2018/5/layout/IconLeafLabelList"/>
    <dgm:cxn modelId="{C8555977-6B42-4A6B-8559-F2A3DB95D5E8}" type="presParOf" srcId="{F0756AE6-A40E-4CE7-A196-A204CDB59012}" destId="{CF2B9FF0-EEE8-411E-AE1F-3004927B5786}" srcOrd="0" destOrd="0" presId="urn:microsoft.com/office/officeart/2018/5/layout/IconLeafLabelList"/>
    <dgm:cxn modelId="{5B8D6D32-ACB2-48C0-965D-CD594CDAD727}" type="presParOf" srcId="{F0756AE6-A40E-4CE7-A196-A204CDB59012}" destId="{5E6BA2EE-EE68-439D-80B2-8FF95B31686E}" srcOrd="1" destOrd="0" presId="urn:microsoft.com/office/officeart/2018/5/layout/IconLeafLabelList"/>
    <dgm:cxn modelId="{15390D7B-07A3-44A4-9650-4D1A96421533}" type="presParOf" srcId="{F0756AE6-A40E-4CE7-A196-A204CDB59012}" destId="{73D5221F-C2CB-4FE6-A2A7-43A348BB851B}" srcOrd="2" destOrd="0" presId="urn:microsoft.com/office/officeart/2018/5/layout/IconLeafLabelList"/>
    <dgm:cxn modelId="{75246198-E3FB-434C-A9BD-6D474CE647AE}" type="presParOf" srcId="{F0756AE6-A40E-4CE7-A196-A204CDB59012}" destId="{B37F52FC-EB0E-4201-8A3A-4B2D224A0015}" srcOrd="3" destOrd="0" presId="urn:microsoft.com/office/officeart/2018/5/layout/IconLeafLabelList"/>
    <dgm:cxn modelId="{38C83CC5-97FE-47F5-BDE2-A971DAE37673}" type="presParOf" srcId="{B565FF47-C915-46F7-AF7B-42BADA83B00A}" destId="{B3485281-365D-4741-B8DF-13BF1AD95B15}" srcOrd="3" destOrd="0" presId="urn:microsoft.com/office/officeart/2018/5/layout/IconLeafLabelList"/>
    <dgm:cxn modelId="{6AA5FE3A-7584-4E1A-8CBC-0C493B4F9B0B}" type="presParOf" srcId="{B565FF47-C915-46F7-AF7B-42BADA83B00A}" destId="{456650A7-BD40-49E6-AC13-2E09D2F07FC6}" srcOrd="4" destOrd="0" presId="urn:microsoft.com/office/officeart/2018/5/layout/IconLeafLabelList"/>
    <dgm:cxn modelId="{8F5C7779-E608-48B8-B182-19B6163F6FA7}" type="presParOf" srcId="{456650A7-BD40-49E6-AC13-2E09D2F07FC6}" destId="{6852BDFE-E0F0-47EA-8D09-F0F50BD931C1}" srcOrd="0" destOrd="0" presId="urn:microsoft.com/office/officeart/2018/5/layout/IconLeafLabelList"/>
    <dgm:cxn modelId="{6BAB9BEF-3DE2-4264-852C-154489AFF7F3}" type="presParOf" srcId="{456650A7-BD40-49E6-AC13-2E09D2F07FC6}" destId="{7BBBEE9A-9678-4818-8C06-1B2B7D0C1BF9}" srcOrd="1" destOrd="0" presId="urn:microsoft.com/office/officeart/2018/5/layout/IconLeafLabelList"/>
    <dgm:cxn modelId="{CC5DB5A1-B69E-41A8-B96D-6C15E271AEB2}" type="presParOf" srcId="{456650A7-BD40-49E6-AC13-2E09D2F07FC6}" destId="{E54DFDEB-C502-4469-A72D-62B86BAD843E}" srcOrd="2" destOrd="0" presId="urn:microsoft.com/office/officeart/2018/5/layout/IconLeafLabelList"/>
    <dgm:cxn modelId="{161D3215-5184-4F2F-80C5-680CF5174E23}" type="presParOf" srcId="{456650A7-BD40-49E6-AC13-2E09D2F07FC6}" destId="{98B20D60-56D0-44A4-8FB2-C20EB2C65675}" srcOrd="3" destOrd="0" presId="urn:microsoft.com/office/officeart/2018/5/layout/IconLeafLabelList"/>
    <dgm:cxn modelId="{5A390B9D-9083-44F5-9213-46C6336FA4C4}" type="presParOf" srcId="{B565FF47-C915-46F7-AF7B-42BADA83B00A}" destId="{034C2DCA-44FE-47A2-B7EB-788DD69FD084}" srcOrd="5" destOrd="0" presId="urn:microsoft.com/office/officeart/2018/5/layout/IconLeafLabelList"/>
    <dgm:cxn modelId="{18D07108-26D3-4674-85EE-C89949469563}" type="presParOf" srcId="{B565FF47-C915-46F7-AF7B-42BADA83B00A}" destId="{D8647A75-8E40-4301-99A4-351DFE99F904}" srcOrd="6" destOrd="0" presId="urn:microsoft.com/office/officeart/2018/5/layout/IconLeafLabelList"/>
    <dgm:cxn modelId="{735C8F2E-95A2-4E79-B146-2B6FEE33A362}" type="presParOf" srcId="{D8647A75-8E40-4301-99A4-351DFE99F904}" destId="{25FF346A-9335-43EC-BE41-6F668C418CD1}" srcOrd="0" destOrd="0" presId="urn:microsoft.com/office/officeart/2018/5/layout/IconLeafLabelList"/>
    <dgm:cxn modelId="{963433A9-C652-4F51-B24F-DF7570A7AA7E}" type="presParOf" srcId="{D8647A75-8E40-4301-99A4-351DFE99F904}" destId="{938E365F-A33B-4BEE-AA99-5ED1AC239E9D}" srcOrd="1" destOrd="0" presId="urn:microsoft.com/office/officeart/2018/5/layout/IconLeafLabelList"/>
    <dgm:cxn modelId="{AD799478-1C72-4AB4-AD41-DDFE77F642C3}" type="presParOf" srcId="{D8647A75-8E40-4301-99A4-351DFE99F904}" destId="{D9DC66D5-8289-47A9-9F3E-6DBD7F818FA9}" srcOrd="2" destOrd="0" presId="urn:microsoft.com/office/officeart/2018/5/layout/IconLeafLabelList"/>
    <dgm:cxn modelId="{50B353AD-AC52-46C7-8306-8FCE93A0F8B7}" type="presParOf" srcId="{D8647A75-8E40-4301-99A4-351DFE99F904}" destId="{73169118-7AE1-4860-A07C-94C11B41362F}" srcOrd="3" destOrd="0" presId="urn:microsoft.com/office/officeart/2018/5/layout/IconLeafLabelList"/>
    <dgm:cxn modelId="{6448FD0F-95DE-4235-B722-13CBEF3D2AFE}" type="presParOf" srcId="{B565FF47-C915-46F7-AF7B-42BADA83B00A}" destId="{6F17CB62-E85D-45B5-9F47-EA67CF2BC32A}" srcOrd="7" destOrd="0" presId="urn:microsoft.com/office/officeart/2018/5/layout/IconLeafLabelList"/>
    <dgm:cxn modelId="{422C2D6F-91C2-4AB1-8E83-5E31202252F8}" type="presParOf" srcId="{B565FF47-C915-46F7-AF7B-42BADA83B00A}" destId="{A300D2BC-862C-4B62-9C68-3084B885C166}" srcOrd="8" destOrd="0" presId="urn:microsoft.com/office/officeart/2018/5/layout/IconLeafLabelList"/>
    <dgm:cxn modelId="{DDE7DC04-B9C9-4300-B519-CA9EF03DB8E4}" type="presParOf" srcId="{A300D2BC-862C-4B62-9C68-3084B885C166}" destId="{2EBD8AED-852B-44E3-907C-586489A7D8DB}" srcOrd="0" destOrd="0" presId="urn:microsoft.com/office/officeart/2018/5/layout/IconLeafLabelList"/>
    <dgm:cxn modelId="{9461B88F-E63A-4F9A-B6CD-3918A51E9637}" type="presParOf" srcId="{A300D2BC-862C-4B62-9C68-3084B885C166}" destId="{9D8AF444-7A27-4C84-86D8-813C1FB9D5E5}" srcOrd="1" destOrd="0" presId="urn:microsoft.com/office/officeart/2018/5/layout/IconLeafLabelList"/>
    <dgm:cxn modelId="{6048B747-2ACB-4F7D-B395-4BB44885C497}" type="presParOf" srcId="{A300D2BC-862C-4B62-9C68-3084B885C166}" destId="{369F5B66-130D-4070-8841-44DF836AAF46}" srcOrd="2" destOrd="0" presId="urn:microsoft.com/office/officeart/2018/5/layout/IconLeafLabelList"/>
    <dgm:cxn modelId="{84C6EAC7-FC9B-49F4-B1FF-A7F440B8041C}" type="presParOf" srcId="{A300D2BC-862C-4B62-9C68-3084B885C166}" destId="{88C2949C-4582-4BF0-AB35-9E3675FB68AB}" srcOrd="3" destOrd="0" presId="urn:microsoft.com/office/officeart/2018/5/layout/IconLeafLabelList"/>
    <dgm:cxn modelId="{ED889E20-F21F-4CCB-AD31-B8AD9F82A8AC}" type="presParOf" srcId="{B565FF47-C915-46F7-AF7B-42BADA83B00A}" destId="{3C8B361A-2FE1-47A8-962F-EC349C1E6C43}" srcOrd="9" destOrd="0" presId="urn:microsoft.com/office/officeart/2018/5/layout/IconLeafLabelList"/>
    <dgm:cxn modelId="{221CDFAA-9B1E-43F5-80FB-062D275268F6}" type="presParOf" srcId="{B565FF47-C915-46F7-AF7B-42BADA83B00A}" destId="{B2DDCECF-2407-4D27-A0C1-BD6D537BD5ED}" srcOrd="10" destOrd="0" presId="urn:microsoft.com/office/officeart/2018/5/layout/IconLeafLabelList"/>
    <dgm:cxn modelId="{F0CE6BEB-47F3-498F-AE83-957811F0BEA5}" type="presParOf" srcId="{B2DDCECF-2407-4D27-A0C1-BD6D537BD5ED}" destId="{E8B3D31D-1353-4A5C-9512-6A8993C86795}" srcOrd="0" destOrd="0" presId="urn:microsoft.com/office/officeart/2018/5/layout/IconLeafLabelList"/>
    <dgm:cxn modelId="{CE278C64-75A6-47B8-9B71-C2A8178AB6D5}" type="presParOf" srcId="{B2DDCECF-2407-4D27-A0C1-BD6D537BD5ED}" destId="{9A2D2EF5-418F-4D1C-A3D4-30E8D62D2E0D}" srcOrd="1" destOrd="0" presId="urn:microsoft.com/office/officeart/2018/5/layout/IconLeafLabelList"/>
    <dgm:cxn modelId="{7C8ED5E4-13E0-4EB6-98FF-1FA3651A223C}" type="presParOf" srcId="{B2DDCECF-2407-4D27-A0C1-BD6D537BD5ED}" destId="{5285D24E-73C0-46F6-A536-3275F389FAA4}" srcOrd="2" destOrd="0" presId="urn:microsoft.com/office/officeart/2018/5/layout/IconLeafLabelList"/>
    <dgm:cxn modelId="{792F4543-9185-4E4A-AB28-789D03604D8A}" type="presParOf" srcId="{B2DDCECF-2407-4D27-A0C1-BD6D537BD5ED}" destId="{17C87900-B86E-45CC-AEB8-328B17111F66}" srcOrd="3" destOrd="0" presId="urn:microsoft.com/office/officeart/2018/5/layout/IconLeafLabelList"/>
    <dgm:cxn modelId="{E0710584-F5C8-47F0-BAC3-4AF86CA0D0FD}" type="presParOf" srcId="{B565FF47-C915-46F7-AF7B-42BADA83B00A}" destId="{E7274320-7C8B-41E4-A6DA-7B2AE7D82455}" srcOrd="11" destOrd="0" presId="urn:microsoft.com/office/officeart/2018/5/layout/IconLeafLabelList"/>
    <dgm:cxn modelId="{FC2F3633-6D7B-4544-A364-FC5E8E089CAB}" type="presParOf" srcId="{B565FF47-C915-46F7-AF7B-42BADA83B00A}" destId="{51B1F255-3426-4A99-BB25-1EE4749D6AA1}" srcOrd="12" destOrd="0" presId="urn:microsoft.com/office/officeart/2018/5/layout/IconLeafLabelList"/>
    <dgm:cxn modelId="{3B0496B4-1116-4F43-B78C-0D99EA7BF6C4}" type="presParOf" srcId="{51B1F255-3426-4A99-BB25-1EE4749D6AA1}" destId="{C6FEEBD7-3F2F-40D1-9668-FBA8ADE32979}" srcOrd="0" destOrd="0" presId="urn:microsoft.com/office/officeart/2018/5/layout/IconLeafLabelList"/>
    <dgm:cxn modelId="{43EAC70D-D8B2-454D-9DBE-ED81A75250B2}" type="presParOf" srcId="{51B1F255-3426-4A99-BB25-1EE4749D6AA1}" destId="{9C14FDDB-7DE9-4B71-9012-3B6CFF056BB5}" srcOrd="1" destOrd="0" presId="urn:microsoft.com/office/officeart/2018/5/layout/IconLeafLabelList"/>
    <dgm:cxn modelId="{65DF8214-00A4-4EA1-81DD-704069B84A9A}" type="presParOf" srcId="{51B1F255-3426-4A99-BB25-1EE4749D6AA1}" destId="{870E4ED5-764A-451B-A8E9-D7773AE62996}" srcOrd="2" destOrd="0" presId="urn:microsoft.com/office/officeart/2018/5/layout/IconLeafLabelList"/>
    <dgm:cxn modelId="{8312099D-85D1-4D96-8FF7-BDB14CB3BFB3}" type="presParOf" srcId="{51B1F255-3426-4A99-BB25-1EE4749D6AA1}" destId="{56503AB7-781C-44D0-8E09-2FFB1C33D288}" srcOrd="3" destOrd="0" presId="urn:microsoft.com/office/officeart/2018/5/layout/IconLeafLabelList"/>
    <dgm:cxn modelId="{06A6A9B6-1792-48D7-A16E-20D5DCAD05B2}" type="presParOf" srcId="{B565FF47-C915-46F7-AF7B-42BADA83B00A}" destId="{203863EB-16C2-45AA-8EDF-49CEA07D801F}" srcOrd="13" destOrd="0" presId="urn:microsoft.com/office/officeart/2018/5/layout/IconLeafLabelList"/>
    <dgm:cxn modelId="{EA216BAE-5023-41E8-8CF2-15DEE0D9C4B4}" type="presParOf" srcId="{B565FF47-C915-46F7-AF7B-42BADA83B00A}" destId="{D1355011-88F2-46AB-B3AA-F8D3944E6F21}" srcOrd="14" destOrd="0" presId="urn:microsoft.com/office/officeart/2018/5/layout/IconLeafLabelList"/>
    <dgm:cxn modelId="{9A320ADB-BD97-486D-AF4F-FCC43F41F987}" type="presParOf" srcId="{D1355011-88F2-46AB-B3AA-F8D3944E6F21}" destId="{3CD0D40A-C92D-4CEA-80E6-C231F8D4EDAE}" srcOrd="0" destOrd="0" presId="urn:microsoft.com/office/officeart/2018/5/layout/IconLeafLabelList"/>
    <dgm:cxn modelId="{AC1BC674-B51A-45C1-8EB6-F9129C1E98C0}" type="presParOf" srcId="{D1355011-88F2-46AB-B3AA-F8D3944E6F21}" destId="{F91E3BDC-DF96-4D16-B2E2-D1170E3EBB9D}" srcOrd="1" destOrd="0" presId="urn:microsoft.com/office/officeart/2018/5/layout/IconLeafLabelList"/>
    <dgm:cxn modelId="{BD1EBE89-9108-439B-874A-0A16E8EDF601}" type="presParOf" srcId="{D1355011-88F2-46AB-B3AA-F8D3944E6F21}" destId="{23D07219-662F-40E8-A181-7C849D2AF199}" srcOrd="2" destOrd="0" presId="urn:microsoft.com/office/officeart/2018/5/layout/IconLeafLabelList"/>
    <dgm:cxn modelId="{B23E1654-8157-4FE3-B3C2-A42FF87AB66C}" type="presParOf" srcId="{D1355011-88F2-46AB-B3AA-F8D3944E6F21}" destId="{B4D3EBBB-087F-4F6E-B5EE-2BA99EAE7AE5}" srcOrd="3" destOrd="0" presId="urn:microsoft.com/office/officeart/2018/5/layout/IconLeafLabelList"/>
  </dgm:cxnLst>
  <dgm:bg/>
  <dgm:whole>
    <a:ln>
      <a:solidFill>
        <a:schemeClr val="accent1"/>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259358-EB9B-43C6-80BD-B4E546C82895}">
      <dsp:nvSpPr>
        <dsp:cNvPr id="0" name=""/>
        <dsp:cNvSpPr/>
      </dsp:nvSpPr>
      <dsp:spPr>
        <a:xfrm>
          <a:off x="1214227" y="2035"/>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2A3EC9-CB2D-484D-A5A7-29A181156C6E}">
      <dsp:nvSpPr>
        <dsp:cNvPr id="0" name=""/>
        <dsp:cNvSpPr/>
      </dsp:nvSpPr>
      <dsp:spPr>
        <a:xfrm>
          <a:off x="1437258" y="225066"/>
          <a:ext cx="600468" cy="6004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BB4CDC-2919-46A3-8EAF-5FB3B5C71BE4}">
      <dsp:nvSpPr>
        <dsp:cNvPr id="0" name=""/>
        <dsp:cNvSpPr/>
      </dsp:nvSpPr>
      <dsp:spPr>
        <a:xfrm>
          <a:off x="879680" y="1374535"/>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nl-NL" sz="1200" b="1" kern="1200" baseline="0" dirty="0"/>
            <a:t>Workspaces</a:t>
          </a:r>
          <a:r>
            <a:rPr lang="nl-NL" sz="1200" kern="1200" baseline="0" dirty="0"/>
            <a:t> </a:t>
          </a:r>
          <a:r>
            <a:rPr lang="en-US" sz="1200" kern="1200" baseline="0" dirty="0"/>
            <a:t>is an environment for accessing all the Databricks assets.</a:t>
          </a:r>
          <a:endParaRPr lang="en-US" sz="1200" kern="1200" dirty="0"/>
        </a:p>
      </dsp:txBody>
      <dsp:txXfrm>
        <a:off x="879680" y="1374535"/>
        <a:ext cx="1715625" cy="1083030"/>
      </dsp:txXfrm>
    </dsp:sp>
    <dsp:sp modelId="{CF2B9FF0-EEE8-411E-AE1F-3004927B5786}">
      <dsp:nvSpPr>
        <dsp:cNvPr id="0" name=""/>
        <dsp:cNvSpPr/>
      </dsp:nvSpPr>
      <dsp:spPr>
        <a:xfrm>
          <a:off x="3230086" y="2035"/>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6BA2EE-EE68-439D-80B2-8FF95B31686E}">
      <dsp:nvSpPr>
        <dsp:cNvPr id="0" name=""/>
        <dsp:cNvSpPr/>
      </dsp:nvSpPr>
      <dsp:spPr>
        <a:xfrm>
          <a:off x="3453117" y="225066"/>
          <a:ext cx="600468" cy="6004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7F52FC-EB0E-4201-8A3A-4B2D224A0015}">
      <dsp:nvSpPr>
        <dsp:cNvPr id="0" name=""/>
        <dsp:cNvSpPr/>
      </dsp:nvSpPr>
      <dsp:spPr>
        <a:xfrm>
          <a:off x="2895539" y="1374535"/>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nl-NL" sz="1200" b="1" kern="1200" baseline="0" dirty="0"/>
            <a:t>Notebooks</a:t>
          </a:r>
          <a:r>
            <a:rPr lang="nl-NL" sz="1200" kern="1200" baseline="0" dirty="0"/>
            <a:t> </a:t>
          </a:r>
          <a:r>
            <a:rPr lang="en-US" sz="1200" kern="1200" baseline="0" dirty="0"/>
            <a:t>are interactive documents that contain runnable code, visualizations, and narrative text. </a:t>
          </a:r>
          <a:endParaRPr lang="en-US" sz="1200" kern="1200" dirty="0"/>
        </a:p>
      </dsp:txBody>
      <dsp:txXfrm>
        <a:off x="2895539" y="1374535"/>
        <a:ext cx="1715625" cy="1083030"/>
      </dsp:txXfrm>
    </dsp:sp>
    <dsp:sp modelId="{6852BDFE-E0F0-47EA-8D09-F0F50BD931C1}">
      <dsp:nvSpPr>
        <dsp:cNvPr id="0" name=""/>
        <dsp:cNvSpPr/>
      </dsp:nvSpPr>
      <dsp:spPr>
        <a:xfrm>
          <a:off x="5245945" y="2035"/>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BBEE9A-9678-4818-8C06-1B2B7D0C1BF9}">
      <dsp:nvSpPr>
        <dsp:cNvPr id="0" name=""/>
        <dsp:cNvSpPr/>
      </dsp:nvSpPr>
      <dsp:spPr>
        <a:xfrm>
          <a:off x="5468977" y="225066"/>
          <a:ext cx="600468" cy="6004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B20D60-56D0-44A4-8FB2-C20EB2C65675}">
      <dsp:nvSpPr>
        <dsp:cNvPr id="0" name=""/>
        <dsp:cNvSpPr/>
      </dsp:nvSpPr>
      <dsp:spPr>
        <a:xfrm>
          <a:off x="4911399" y="1374535"/>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nl-NL" sz="1200" b="1" kern="1200" baseline="0" dirty="0"/>
            <a:t>Clusters</a:t>
          </a:r>
          <a:r>
            <a:rPr lang="nl-NL" sz="1200" kern="1200" baseline="0" dirty="0"/>
            <a:t> </a:t>
          </a:r>
          <a:r>
            <a:rPr lang="en-US" sz="1200" kern="1200" baseline="0" dirty="0"/>
            <a:t>are the computational engines of Azure Databricks.</a:t>
          </a:r>
          <a:endParaRPr lang="en-US" sz="1200" kern="1200" dirty="0"/>
        </a:p>
      </dsp:txBody>
      <dsp:txXfrm>
        <a:off x="4911399" y="1374535"/>
        <a:ext cx="1715625" cy="1083030"/>
      </dsp:txXfrm>
    </dsp:sp>
    <dsp:sp modelId="{25FF346A-9335-43EC-BE41-6F668C418CD1}">
      <dsp:nvSpPr>
        <dsp:cNvPr id="0" name=""/>
        <dsp:cNvSpPr/>
      </dsp:nvSpPr>
      <dsp:spPr>
        <a:xfrm>
          <a:off x="7261805" y="2035"/>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8E365F-A33B-4BEE-AA99-5ED1AC239E9D}">
      <dsp:nvSpPr>
        <dsp:cNvPr id="0" name=""/>
        <dsp:cNvSpPr/>
      </dsp:nvSpPr>
      <dsp:spPr>
        <a:xfrm>
          <a:off x="7484836" y="225066"/>
          <a:ext cx="600468" cy="6004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169118-7AE1-4860-A07C-94C11B41362F}">
      <dsp:nvSpPr>
        <dsp:cNvPr id="0" name=""/>
        <dsp:cNvSpPr/>
      </dsp:nvSpPr>
      <dsp:spPr>
        <a:xfrm>
          <a:off x="6927258" y="1374535"/>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nl-NL" sz="1200" b="1" kern="1200" baseline="0" dirty="0"/>
            <a:t>Jobs</a:t>
          </a:r>
          <a:r>
            <a:rPr lang="nl-NL" sz="1200" kern="1200" baseline="0" dirty="0"/>
            <a:t> </a:t>
          </a:r>
          <a:r>
            <a:rPr lang="en-US" sz="1200" kern="1200" baseline="0" dirty="0"/>
            <a:t>are used to schedule and run automated tasks. </a:t>
          </a:r>
          <a:endParaRPr lang="en-US" sz="1200" kern="1200" dirty="0"/>
        </a:p>
      </dsp:txBody>
      <dsp:txXfrm>
        <a:off x="6927258" y="1374535"/>
        <a:ext cx="1715625" cy="1083030"/>
      </dsp:txXfrm>
    </dsp:sp>
    <dsp:sp modelId="{2EBD8AED-852B-44E3-907C-586489A7D8DB}">
      <dsp:nvSpPr>
        <dsp:cNvPr id="0" name=""/>
        <dsp:cNvSpPr/>
      </dsp:nvSpPr>
      <dsp:spPr>
        <a:xfrm>
          <a:off x="9277664" y="2035"/>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8AF444-7A27-4C84-86D8-813C1FB9D5E5}">
      <dsp:nvSpPr>
        <dsp:cNvPr id="0" name=""/>
        <dsp:cNvSpPr/>
      </dsp:nvSpPr>
      <dsp:spPr>
        <a:xfrm>
          <a:off x="9500695" y="225066"/>
          <a:ext cx="600468" cy="6004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C2949C-4582-4BF0-AB35-9E3675FB68AB}">
      <dsp:nvSpPr>
        <dsp:cNvPr id="0" name=""/>
        <dsp:cNvSpPr/>
      </dsp:nvSpPr>
      <dsp:spPr>
        <a:xfrm>
          <a:off x="8943117" y="1374535"/>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nl-NL" sz="1200" b="1" kern="1200" baseline="0" dirty="0"/>
            <a:t>Databricks Runtime </a:t>
          </a:r>
          <a:r>
            <a:rPr lang="en-US" sz="1200" kern="1200" baseline="0" dirty="0"/>
            <a:t>is a set of performance-optimized versions of Apache Spark.</a:t>
          </a:r>
          <a:endParaRPr lang="en-US" sz="1200" kern="1200" dirty="0"/>
        </a:p>
      </dsp:txBody>
      <dsp:txXfrm>
        <a:off x="8943117" y="1374535"/>
        <a:ext cx="1715625" cy="1083030"/>
      </dsp:txXfrm>
    </dsp:sp>
    <dsp:sp modelId="{E8B3D31D-1353-4A5C-9512-6A8993C86795}">
      <dsp:nvSpPr>
        <dsp:cNvPr id="0" name=""/>
        <dsp:cNvSpPr/>
      </dsp:nvSpPr>
      <dsp:spPr>
        <a:xfrm>
          <a:off x="3230086" y="2886471"/>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2D2EF5-418F-4D1C-A3D4-30E8D62D2E0D}">
      <dsp:nvSpPr>
        <dsp:cNvPr id="0" name=""/>
        <dsp:cNvSpPr/>
      </dsp:nvSpPr>
      <dsp:spPr>
        <a:xfrm>
          <a:off x="3453117" y="3109502"/>
          <a:ext cx="600468" cy="60046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C87900-B86E-45CC-AEB8-328B17111F66}">
      <dsp:nvSpPr>
        <dsp:cNvPr id="0" name=""/>
        <dsp:cNvSpPr/>
      </dsp:nvSpPr>
      <dsp:spPr>
        <a:xfrm>
          <a:off x="2895539" y="4258971"/>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nl-NL" sz="1200" b="1" kern="1200" baseline="0" dirty="0"/>
            <a:t>Delta Lake</a:t>
          </a:r>
          <a:r>
            <a:rPr lang="nl-NL" sz="1200" kern="1200" baseline="0" dirty="0"/>
            <a:t> </a:t>
          </a:r>
          <a:r>
            <a:rPr lang="en-US" sz="1200" kern="1200" baseline="0" dirty="0"/>
            <a:t>is an open-source storage layer that brings reliability and scalability to data lakes.</a:t>
          </a:r>
          <a:endParaRPr lang="en-US" sz="1200" kern="1200" dirty="0"/>
        </a:p>
      </dsp:txBody>
      <dsp:txXfrm>
        <a:off x="2895539" y="4258971"/>
        <a:ext cx="1715625" cy="1083030"/>
      </dsp:txXfrm>
    </dsp:sp>
    <dsp:sp modelId="{C6FEEBD7-3F2F-40D1-9668-FBA8ADE32979}">
      <dsp:nvSpPr>
        <dsp:cNvPr id="0" name=""/>
        <dsp:cNvSpPr/>
      </dsp:nvSpPr>
      <dsp:spPr>
        <a:xfrm>
          <a:off x="5245945" y="2886471"/>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14FDDB-7DE9-4B71-9012-3B6CFF056BB5}">
      <dsp:nvSpPr>
        <dsp:cNvPr id="0" name=""/>
        <dsp:cNvSpPr/>
      </dsp:nvSpPr>
      <dsp:spPr>
        <a:xfrm>
          <a:off x="5468977" y="3109502"/>
          <a:ext cx="600468" cy="60046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503AB7-781C-44D0-8E09-2FFB1C33D288}">
      <dsp:nvSpPr>
        <dsp:cNvPr id="0" name=""/>
        <dsp:cNvSpPr/>
      </dsp:nvSpPr>
      <dsp:spPr>
        <a:xfrm>
          <a:off x="4911399" y="4258971"/>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baseline="0" dirty="0"/>
            <a:t>Databricks SQL</a:t>
          </a:r>
          <a:r>
            <a:rPr lang="en-US" sz="1200" kern="1200" baseline="0" dirty="0"/>
            <a:t> provides a way to perform SQL queries on the data within Azure Databricks.</a:t>
          </a:r>
          <a:endParaRPr lang="en-US" sz="1200" kern="1200" dirty="0"/>
        </a:p>
      </dsp:txBody>
      <dsp:txXfrm>
        <a:off x="4911399" y="4258971"/>
        <a:ext cx="1715625" cy="1083030"/>
      </dsp:txXfrm>
    </dsp:sp>
    <dsp:sp modelId="{3CD0D40A-C92D-4CEA-80E6-C231F8D4EDAE}">
      <dsp:nvSpPr>
        <dsp:cNvPr id="0" name=""/>
        <dsp:cNvSpPr/>
      </dsp:nvSpPr>
      <dsp:spPr>
        <a:xfrm>
          <a:off x="7261805" y="2886471"/>
          <a:ext cx="1046531" cy="104653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1E3BDC-DF96-4D16-B2E2-D1170E3EBB9D}">
      <dsp:nvSpPr>
        <dsp:cNvPr id="0" name=""/>
        <dsp:cNvSpPr/>
      </dsp:nvSpPr>
      <dsp:spPr>
        <a:xfrm>
          <a:off x="7484836" y="3109502"/>
          <a:ext cx="600468" cy="600468"/>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D3EBBB-087F-4F6E-B5EE-2BA99EAE7AE5}">
      <dsp:nvSpPr>
        <dsp:cNvPr id="0" name=""/>
        <dsp:cNvSpPr/>
      </dsp:nvSpPr>
      <dsp:spPr>
        <a:xfrm>
          <a:off x="6927258" y="4258971"/>
          <a:ext cx="1715625" cy="1083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baseline="0" dirty="0" err="1"/>
            <a:t>MLflow</a:t>
          </a:r>
          <a:r>
            <a:rPr lang="en-US" sz="1200" b="1" kern="1200" baseline="0" dirty="0"/>
            <a:t> </a:t>
          </a:r>
          <a:r>
            <a:rPr lang="en-US" sz="1200" kern="1200" baseline="0" dirty="0"/>
            <a:t>is an open-source platform for managing the end-to-end machine learning lifecycle.</a:t>
          </a:r>
          <a:br>
            <a:rPr lang="nl-NL" sz="1200" kern="1200" baseline="0" dirty="0"/>
          </a:br>
          <a:endParaRPr lang="en-US" sz="1200" kern="1200" dirty="0"/>
        </a:p>
      </dsp:txBody>
      <dsp:txXfrm>
        <a:off x="6927258" y="4258971"/>
        <a:ext cx="1715625" cy="108303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8T18:31:16.039"/>
    </inkml:context>
    <inkml:brush xml:id="br0">
      <inkml:brushProperty name="width" value="0.1" units="cm"/>
      <inkml:brushProperty name="height" value="0.1" units="cm"/>
      <inkml:brushProperty name="color" value="#FF0066"/>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8T18:31:17.089"/>
    </inkml:context>
    <inkml:brush xml:id="br0">
      <inkml:brushProperty name="width" value="0.1" units="cm"/>
      <inkml:brushProperty name="height" value="0.1" units="cm"/>
      <inkml:brushProperty name="color" value="#FF0066"/>
    </inkml:brush>
  </inkml:definitions>
  <inkml:trace contextRef="#ctx0" brushRef="#br0">1 1 24575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8T18:31:19.622"/>
    </inkml:context>
    <inkml:brush xml:id="br0">
      <inkml:brushProperty name="width" value="0.1" units="cm"/>
      <inkml:brushProperty name="height" value="0.1" units="cm"/>
      <inkml:brushProperty name="color" value="#FF0066"/>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8T18:31:32.146"/>
    </inkml:context>
    <inkml:brush xml:id="br0">
      <inkml:brushProperty name="width" value="0.1" units="cm"/>
      <inkml:brushProperty name="height" value="0.1" units="cm"/>
      <inkml:brushProperty name="color" value="#FF0066"/>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F9BD2-4BF5-4F67-B9C7-E877D021C293}" type="datetimeFigureOut">
              <a:rPr lang="en-IN" smtClean="0"/>
              <a:t>04-12-2024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66330D-CF21-4E22-A36C-9F328FFCDCC7}" type="slidenum">
              <a:rPr lang="en-IN" smtClean="0"/>
              <a:t>‹#›</a:t>
            </a:fld>
            <a:endParaRPr lang="en-IN"/>
          </a:p>
        </p:txBody>
      </p:sp>
    </p:spTree>
    <p:extLst>
      <p:ext uri="{BB962C8B-B14F-4D97-AF65-F5344CB8AC3E}">
        <p14:creationId xmlns:p14="http://schemas.microsoft.com/office/powerpoint/2010/main" val="348516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learn.microsoft.com/en-us/azure/databricks/structured-streaming/delta-lake" TargetMode="External"/><Relationship Id="rId3" Type="http://schemas.openxmlformats.org/officeDocument/2006/relationships/hyperlink" Target="https://learn.microsoft.com/en-us/azure/databricks/admin/workspace/" TargetMode="External"/><Relationship Id="rId7" Type="http://schemas.openxmlformats.org/officeDocument/2006/relationships/hyperlink" Target="https://learn.microsoft.com/en-us/azure/databricks/release-notes/runtime/"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learn.microsoft.com/en-us/azure/databricks/workflows/jobs/create-run-jobs" TargetMode="External"/><Relationship Id="rId5" Type="http://schemas.openxmlformats.org/officeDocument/2006/relationships/hyperlink" Target="https://learn.microsoft.com/en-us/azure/databricks/compute/" TargetMode="External"/><Relationship Id="rId10" Type="http://schemas.openxmlformats.org/officeDocument/2006/relationships/hyperlink" Target="https://learn.microsoft.com/en-us/azure/databricks/machine-learning/" TargetMode="External"/><Relationship Id="rId4" Type="http://schemas.openxmlformats.org/officeDocument/2006/relationships/hyperlink" Target="https://learn.microsoft.com/en-us/azure/databricks/notebooks/" TargetMode="External"/><Relationship Id="rId9" Type="http://schemas.openxmlformats.org/officeDocument/2006/relationships/hyperlink" Target="https://learn.microsoft.com/en-us/azure/databricks/sql/get-started/concepts"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techcommunity.microsoft.com/t5/analytics-on-azure/how-to-reduce-infrastructure-costs-by-up-to-80-with-azure/ba-p/1820280"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learn.microsoft.com/en-us/azure/databricks/integrations/bi/power-bi" TargetMode="External"/><Relationship Id="rId5" Type="http://schemas.openxmlformats.org/officeDocument/2006/relationships/hyperlink" Target="https://techcommunity.microsoft.com/t5/analytics-on-azure/turbocharge-azure-databricks-with-photon-powered-delta-engine/ba-p/1694929" TargetMode="External"/><Relationship Id="rId4" Type="http://schemas.openxmlformats.org/officeDocument/2006/relationships/hyperlink" Target="https://www.mlflow.org/docs/latest/registry.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latin typeface="Segoe UI" panose="020B0502040204020203" pitchFamily="34" charset="0"/>
              </a:rPr>
              <a:t>Azure Databricks is a fully managed, cloud-based data analytics platform, which empowers developers to accelerate AI and innovation by simplifying the process of building enterprise-grade data applications. Built as a joint effort by Microsoft and the team that started Apache Spark, Azure Databricks provides data science, engineering, and analytical teams with a single platform for big data processing and machine learning.</a:t>
            </a:r>
          </a:p>
          <a:p>
            <a:pPr algn="l"/>
            <a:r>
              <a:rPr lang="en-US" b="0" i="0" dirty="0">
                <a:solidFill>
                  <a:srgbClr val="161616"/>
                </a:solidFill>
                <a:effectLst/>
                <a:latin typeface="Segoe UI" panose="020B0502040204020203" pitchFamily="34" charset="0"/>
              </a:rPr>
              <a:t>By combining the power of Databricks, an end-to-end, managed Apache Spark platform optimized for the cloud, with the enterprise scale and security of Microsoft's Azure platform, Azure Databricks makes it simple to run large-scale Spark workloads.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12/4/2024 10:09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295400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6E6E6"/>
                </a:solidFill>
                <a:effectLst/>
                <a:latin typeface="Segoe UI" panose="020B0502040204020203" pitchFamily="34" charset="0"/>
              </a:rPr>
              <a:t>Azure Databricks is a comprehensive platform that offers many data processing capabilities. While you can use the service to support any workload that requires scalable data processing, Azure Databricks is optimized for three specific types of data workload:</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Data Science and Engineering</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Machine Learning</a:t>
            </a:r>
          </a:p>
          <a:p>
            <a:pPr marL="171450" indent="-171450" algn="l">
              <a:buFont typeface="Arial" panose="020B0604020202020204" pitchFamily="34" charset="0"/>
              <a:buChar char="•"/>
            </a:pPr>
            <a:r>
              <a:rPr lang="en-US" b="0" i="0" dirty="0">
                <a:solidFill>
                  <a:srgbClr val="E6E6E6"/>
                </a:solidFill>
                <a:effectLst/>
                <a:latin typeface="Segoe UI" panose="020B0502040204020203" pitchFamily="34" charset="0"/>
              </a:rPr>
              <a:t>SQL (o</a:t>
            </a:r>
            <a:r>
              <a:rPr lang="en-US" b="0" i="1" dirty="0">
                <a:solidFill>
                  <a:srgbClr val="E6E6E6"/>
                </a:solidFill>
                <a:effectLst/>
                <a:latin typeface="Segoe UI" panose="020B0502040204020203" pitchFamily="34" charset="0"/>
              </a:rPr>
              <a:t>nly available in premium tier workspaces.)</a:t>
            </a:r>
          </a:p>
          <a:p>
            <a:pPr algn="l">
              <a:buFont typeface="Arial" panose="020B0604020202020204" pitchFamily="34" charset="0"/>
              <a:buChar char="•"/>
            </a:pPr>
            <a:endParaRPr lang="en-US" b="0" i="0" dirty="0">
              <a:solidFill>
                <a:srgbClr val="E6E6E6"/>
              </a:solidFill>
              <a:effectLst/>
              <a:latin typeface="Segoe UI" panose="020B0502040204020203" pitchFamily="34" charset="0"/>
            </a:endParaRPr>
          </a:p>
          <a:p>
            <a:pPr algn="l"/>
            <a:r>
              <a:rPr lang="en-US" b="0" i="0" dirty="0">
                <a:solidFill>
                  <a:srgbClr val="E6E6E6"/>
                </a:solidFill>
                <a:effectLst/>
                <a:latin typeface="Segoe UI" panose="020B0502040204020203" pitchFamily="34" charset="0"/>
              </a:rPr>
              <a:t>The Azure Databricks user interface supports three corresponding </a:t>
            </a:r>
            <a:r>
              <a:rPr lang="en-US" b="0" i="1" dirty="0">
                <a:solidFill>
                  <a:srgbClr val="E6E6E6"/>
                </a:solidFill>
                <a:effectLst/>
                <a:latin typeface="Segoe UI" panose="020B0502040204020203" pitchFamily="34" charset="0"/>
              </a:rPr>
              <a:t>persona</a:t>
            </a:r>
            <a:r>
              <a:rPr lang="en-US" b="0" i="0" dirty="0">
                <a:solidFill>
                  <a:srgbClr val="E6E6E6"/>
                </a:solidFill>
                <a:effectLst/>
                <a:latin typeface="Segoe UI" panose="020B0502040204020203" pitchFamily="34" charset="0"/>
              </a:rPr>
              <a:t> views that you can switch between depending on the workload you're implementing.</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Data Science and Engineering</a:t>
            </a:r>
          </a:p>
          <a:p>
            <a:pPr algn="l"/>
            <a:r>
              <a:rPr lang="en-US" b="0" i="0" dirty="0">
                <a:solidFill>
                  <a:srgbClr val="E6E6E6"/>
                </a:solidFill>
                <a:effectLst/>
                <a:latin typeface="Segoe UI" panose="020B0502040204020203" pitchFamily="34" charset="0"/>
              </a:rPr>
              <a:t>Azure Databricks provides Apache Spark based processing and analysis of large volumes of data in a data lake. Data engineers, data scientists, and data analysts can use interactive notebooks to run code in Python, Scala, SparkSQL, or other languages to cleanse, transform, aggregate, and analyze data.</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Machine Learning</a:t>
            </a:r>
          </a:p>
          <a:p>
            <a:pPr algn="l"/>
            <a:r>
              <a:rPr lang="en-US" b="0" i="0" dirty="0">
                <a:solidFill>
                  <a:srgbClr val="E6E6E6"/>
                </a:solidFill>
                <a:effectLst/>
                <a:latin typeface="Segoe UI" panose="020B0502040204020203" pitchFamily="34" charset="0"/>
              </a:rPr>
              <a:t>Azure Databricks supports machine learning workloads that involve data exploration and preparation, training and evaluating machine learning models, and serving models to generate predictions for applications and analyses. Data scientists and ML engineers can use AutoML to quickly train predictive models, or apply their skills with common machine learning frameworks such as SparkML, Scikit-Learn, PyTorch, and Tensorflow. They can also manage the end-to-end machine learning lifecycle with MLFlow.</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SQL</a:t>
            </a:r>
          </a:p>
          <a:p>
            <a:pPr algn="l"/>
            <a:r>
              <a:rPr lang="en-US" b="0" i="0" dirty="0">
                <a:solidFill>
                  <a:srgbClr val="E6E6E6"/>
                </a:solidFill>
                <a:effectLst/>
                <a:latin typeface="Segoe UI" panose="020B0502040204020203" pitchFamily="34" charset="0"/>
              </a:rPr>
              <a:t>Azure Databricks supports SQL-based querying for data stored in tables in a </a:t>
            </a:r>
            <a:r>
              <a:rPr lang="en-US" b="0" i="1" dirty="0">
                <a:solidFill>
                  <a:srgbClr val="E6E6E6"/>
                </a:solidFill>
                <a:effectLst/>
                <a:latin typeface="Segoe UI" panose="020B0502040204020203" pitchFamily="34" charset="0"/>
              </a:rPr>
              <a:t>SQL Warehouse</a:t>
            </a:r>
            <a:r>
              <a:rPr lang="en-US" b="0" i="0" dirty="0">
                <a:solidFill>
                  <a:srgbClr val="E6E6E6"/>
                </a:solidFill>
                <a:effectLst/>
                <a:latin typeface="Segoe UI" panose="020B0502040204020203" pitchFamily="34" charset="0"/>
              </a:rPr>
              <a:t>. This capability enables data analysts to query, aggregate, summarize, and visualize data using familiar SQL syntax and a wide range of SQL-based data analytical tools.</a:t>
            </a:r>
          </a:p>
          <a:p>
            <a:pPr algn="l"/>
            <a:endParaRPr lang="en-US" b="0" i="0" dirty="0">
              <a:solidFill>
                <a:srgbClr val="E6E6E6"/>
              </a:solidFill>
              <a:effectLst/>
              <a:latin typeface="Segoe UI" panose="020B0502040204020203" pitchFamily="34" charset="0"/>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12/4/2024 10:10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996721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Segoe UI" panose="020B0502040204020203" pitchFamily="34" charset="0"/>
              </a:rPr>
              <a:t>Azure Databricks is a single service platform with multiple technologies that enable working with data at scale. When using Azure Databricks, there are some key concepts to understand.</a:t>
            </a:r>
          </a:p>
          <a:p>
            <a:endParaRPr lang="en-US" b="0" i="0" dirty="0">
              <a:solidFill>
                <a:srgbClr val="161616"/>
              </a:solidFill>
              <a:effectLst/>
              <a:latin typeface="Segoe UI" panose="020B0502040204020203" pitchFamily="34" charset="0"/>
            </a:endParaRPr>
          </a:p>
          <a:p>
            <a:pPr algn="l"/>
            <a:r>
              <a:rPr lang="en-US" b="1" i="0" dirty="0">
                <a:solidFill>
                  <a:srgbClr val="161616"/>
                </a:solidFill>
                <a:effectLst/>
                <a:latin typeface="Segoe UI" panose="020B0502040204020203" pitchFamily="34" charset="0"/>
              </a:rPr>
              <a:t>Workspaces</a:t>
            </a:r>
          </a:p>
          <a:p>
            <a:pPr algn="l"/>
            <a:r>
              <a:rPr lang="en-US" b="0" i="0" dirty="0">
                <a:solidFill>
                  <a:srgbClr val="161616"/>
                </a:solidFill>
                <a:effectLst/>
                <a:latin typeface="Segoe UI" panose="020B0502040204020203" pitchFamily="34" charset="0"/>
              </a:rPr>
              <a:t>A </a:t>
            </a:r>
            <a:r>
              <a:rPr lang="en-US" b="0" i="0" u="none" strike="noStrike" dirty="0">
                <a:solidFill>
                  <a:srgbClr val="161616"/>
                </a:solidFill>
                <a:effectLst/>
                <a:latin typeface="Segoe UI" panose="020B0502040204020203" pitchFamily="34" charset="0"/>
                <a:hlinkClick r:id="rId3"/>
              </a:rPr>
              <a:t>workspace</a:t>
            </a:r>
            <a:r>
              <a:rPr lang="en-US" b="0" i="0" dirty="0">
                <a:solidFill>
                  <a:srgbClr val="161616"/>
                </a:solidFill>
                <a:effectLst/>
                <a:latin typeface="Segoe UI" panose="020B0502040204020203" pitchFamily="34" charset="0"/>
              </a:rPr>
              <a:t> is an environment for accessing all the Databricks assets. It provides a user interface to manage notebooks, libraries, and experiments. Workspaces can be organized into folders and shared among team members, facilitating collaboration and resource management.</a:t>
            </a:r>
          </a:p>
          <a:p>
            <a:pPr algn="l"/>
            <a:r>
              <a:rPr lang="en-US" b="1" i="0" dirty="0">
                <a:solidFill>
                  <a:srgbClr val="161616"/>
                </a:solidFill>
                <a:effectLst/>
                <a:latin typeface="Segoe UI" panose="020B0502040204020203" pitchFamily="34" charset="0"/>
              </a:rPr>
              <a:t>Notebooks</a:t>
            </a:r>
          </a:p>
          <a:p>
            <a:pPr algn="l"/>
            <a:r>
              <a:rPr lang="en-US" b="0" i="0" dirty="0">
                <a:solidFill>
                  <a:srgbClr val="161616"/>
                </a:solidFill>
                <a:effectLst/>
                <a:latin typeface="Segoe UI" panose="020B0502040204020203" pitchFamily="34" charset="0"/>
              </a:rPr>
              <a:t>Databricks </a:t>
            </a:r>
            <a:r>
              <a:rPr lang="en-US" b="0" i="0" u="none" strike="noStrike" dirty="0">
                <a:solidFill>
                  <a:srgbClr val="161616"/>
                </a:solidFill>
                <a:effectLst/>
                <a:latin typeface="Segoe UI" panose="020B0502040204020203" pitchFamily="34" charset="0"/>
                <a:hlinkClick r:id="rId4"/>
              </a:rPr>
              <a:t>notebooks</a:t>
            </a:r>
            <a:r>
              <a:rPr lang="en-US" b="0" i="0" dirty="0">
                <a:solidFill>
                  <a:srgbClr val="161616"/>
                </a:solidFill>
                <a:effectLst/>
                <a:latin typeface="Segoe UI" panose="020B0502040204020203" pitchFamily="34" charset="0"/>
              </a:rPr>
              <a:t> are interactive documents that contain runnable code, visualizations, and narrative text. They support multiple languages, including Python, R, Scala, and SQL, which can be used simultaneously within the same notebook. Notebooks are central to collaborative projects and are ideal for exploratory data analysis, data visualization, and complex data workflows.</a:t>
            </a:r>
          </a:p>
          <a:p>
            <a:pPr algn="l"/>
            <a:r>
              <a:rPr lang="en-US" b="1" i="0" dirty="0">
                <a:solidFill>
                  <a:srgbClr val="161616"/>
                </a:solidFill>
                <a:effectLst/>
                <a:latin typeface="Segoe UI" panose="020B0502040204020203" pitchFamily="34" charset="0"/>
              </a:rPr>
              <a:t>Clusters</a:t>
            </a:r>
          </a:p>
          <a:p>
            <a:pPr algn="l"/>
            <a:r>
              <a:rPr lang="en-US" b="0" i="0" u="none" strike="noStrike" dirty="0">
                <a:solidFill>
                  <a:srgbClr val="161616"/>
                </a:solidFill>
                <a:effectLst/>
                <a:latin typeface="Segoe UI" panose="020B0502040204020203" pitchFamily="34" charset="0"/>
                <a:hlinkClick r:id="rId5"/>
              </a:rPr>
              <a:t>Clusters</a:t>
            </a:r>
            <a:r>
              <a:rPr lang="en-US" b="0" i="0" dirty="0">
                <a:solidFill>
                  <a:srgbClr val="161616"/>
                </a:solidFill>
                <a:effectLst/>
                <a:latin typeface="Segoe UI" panose="020B0502040204020203" pitchFamily="34" charset="0"/>
              </a:rPr>
              <a:t> are the computational engines of Azure Databricks. Users can create and scale clusters according to the computational resources needed. Clusters can be configured manually or set to auto-scale based on workload. They support different types of nodes for various tasks, like driver and worker nodes, ensuring efficient resource utilization.</a:t>
            </a:r>
          </a:p>
          <a:p>
            <a:pPr algn="l"/>
            <a:r>
              <a:rPr lang="en-US" b="1" i="0" dirty="0">
                <a:solidFill>
                  <a:srgbClr val="161616"/>
                </a:solidFill>
                <a:effectLst/>
                <a:latin typeface="Segoe UI" panose="020B0502040204020203" pitchFamily="34" charset="0"/>
              </a:rPr>
              <a:t>Jobs</a:t>
            </a:r>
          </a:p>
          <a:p>
            <a:pPr algn="l"/>
            <a:r>
              <a:rPr lang="en-US" b="0" i="0" u="none" strike="noStrike" dirty="0">
                <a:solidFill>
                  <a:srgbClr val="161616"/>
                </a:solidFill>
                <a:effectLst/>
                <a:latin typeface="Segoe UI" panose="020B0502040204020203" pitchFamily="34" charset="0"/>
                <a:hlinkClick r:id="rId6"/>
              </a:rPr>
              <a:t>Jobs</a:t>
            </a:r>
            <a:r>
              <a:rPr lang="en-US" b="0" i="0" dirty="0">
                <a:solidFill>
                  <a:srgbClr val="161616"/>
                </a:solidFill>
                <a:effectLst/>
                <a:latin typeface="Segoe UI" panose="020B0502040204020203" pitchFamily="34" charset="0"/>
              </a:rPr>
              <a:t> in Azure Databricks are used to schedule and run automated tasks. These tasks can be notebook runs, Spark jobs, or arbitrary code executions. Jobs can be triggered on a schedule or run in response to certain events, making it easy to automate workflows and periodic data processing tasks.</a:t>
            </a:r>
          </a:p>
          <a:p>
            <a:pPr algn="l"/>
            <a:r>
              <a:rPr lang="en-US" b="1" i="0" dirty="0">
                <a:solidFill>
                  <a:srgbClr val="161616"/>
                </a:solidFill>
                <a:effectLst/>
                <a:latin typeface="Segoe UI" panose="020B0502040204020203" pitchFamily="34" charset="0"/>
              </a:rPr>
              <a:t>Databricks Runtime</a:t>
            </a:r>
          </a:p>
          <a:p>
            <a:pPr algn="l"/>
            <a:r>
              <a:rPr lang="en-US" b="0" i="0" dirty="0">
                <a:solidFill>
                  <a:srgbClr val="161616"/>
                </a:solidFill>
                <a:effectLst/>
                <a:latin typeface="Segoe UI" panose="020B0502040204020203" pitchFamily="34" charset="0"/>
              </a:rPr>
              <a:t>The </a:t>
            </a:r>
            <a:r>
              <a:rPr lang="en-US" b="0" i="0" u="none" strike="noStrike" dirty="0">
                <a:solidFill>
                  <a:srgbClr val="161616"/>
                </a:solidFill>
                <a:effectLst/>
                <a:latin typeface="Segoe UI" panose="020B0502040204020203" pitchFamily="34" charset="0"/>
                <a:hlinkClick r:id="rId7"/>
              </a:rPr>
              <a:t>Databricks Runtime</a:t>
            </a:r>
            <a:r>
              <a:rPr lang="en-US" b="0" i="0" dirty="0">
                <a:solidFill>
                  <a:srgbClr val="161616"/>
                </a:solidFill>
                <a:effectLst/>
                <a:latin typeface="Segoe UI" panose="020B0502040204020203" pitchFamily="34" charset="0"/>
              </a:rPr>
              <a:t> is a set of performance-optimized versions of Apache Spark. It includes enhancements for improved performance and additional functionality beyond standard Spark, such as optimizations for machine learning workloads, graph processing, and genomics.</a:t>
            </a:r>
          </a:p>
          <a:p>
            <a:pPr algn="l"/>
            <a:r>
              <a:rPr lang="en-US" b="1" i="0" dirty="0">
                <a:solidFill>
                  <a:srgbClr val="161616"/>
                </a:solidFill>
                <a:effectLst/>
                <a:latin typeface="Segoe UI" panose="020B0502040204020203" pitchFamily="34" charset="0"/>
              </a:rPr>
              <a:t>Delta Lake</a:t>
            </a:r>
          </a:p>
          <a:p>
            <a:pPr algn="l"/>
            <a:r>
              <a:rPr lang="en-US" b="0" i="0" u="none" strike="noStrike" dirty="0">
                <a:solidFill>
                  <a:srgbClr val="161616"/>
                </a:solidFill>
                <a:effectLst/>
                <a:latin typeface="Segoe UI" panose="020B0502040204020203" pitchFamily="34" charset="0"/>
                <a:hlinkClick r:id="rId8"/>
              </a:rPr>
              <a:t>Delta Lake</a:t>
            </a:r>
            <a:r>
              <a:rPr lang="en-US" b="0" i="0" dirty="0">
                <a:solidFill>
                  <a:srgbClr val="161616"/>
                </a:solidFill>
                <a:effectLst/>
                <a:latin typeface="Segoe UI" panose="020B0502040204020203" pitchFamily="34" charset="0"/>
              </a:rPr>
              <a:t> is an open-source storage layer that brings reliability and scalability to data lakes. It provides ACID transactions, scalable metadata handling, and unifies streaming and batch data processing, all crucial for managing large-scale data in a consistent and fault-tolerant manner.</a:t>
            </a:r>
          </a:p>
          <a:p>
            <a:pPr algn="l"/>
            <a:r>
              <a:rPr lang="en-US" b="1" i="0" dirty="0">
                <a:solidFill>
                  <a:srgbClr val="161616"/>
                </a:solidFill>
                <a:effectLst/>
                <a:latin typeface="Segoe UI" panose="020B0502040204020203" pitchFamily="34" charset="0"/>
              </a:rPr>
              <a:t>Databricks SQL</a:t>
            </a:r>
          </a:p>
          <a:p>
            <a:pPr algn="l"/>
            <a:r>
              <a:rPr lang="en-US" b="0" i="0" u="none" strike="noStrike" dirty="0">
                <a:solidFill>
                  <a:srgbClr val="161616"/>
                </a:solidFill>
                <a:effectLst/>
                <a:latin typeface="Segoe UI" panose="020B0502040204020203" pitchFamily="34" charset="0"/>
                <a:hlinkClick r:id="rId9"/>
              </a:rPr>
              <a:t>Databricks SQL</a:t>
            </a:r>
            <a:r>
              <a:rPr lang="en-US" b="0" i="0" dirty="0">
                <a:solidFill>
                  <a:srgbClr val="161616"/>
                </a:solidFill>
                <a:effectLst/>
                <a:latin typeface="Segoe UI" panose="020B0502040204020203" pitchFamily="34" charset="0"/>
              </a:rPr>
              <a:t> provides a way to perform SQL queries on the data within Azure Databricks. It allows data analysts to run quick ad-hoc queries and create reports directly on big data. It includes an SQL editor, dashboards, and automatic visualization tools, making it user-friendly for those accustomed to SQL environments.</a:t>
            </a:r>
          </a:p>
          <a:p>
            <a:pPr algn="l"/>
            <a:r>
              <a:rPr lang="en-US" b="1" i="0" dirty="0">
                <a:solidFill>
                  <a:srgbClr val="161616"/>
                </a:solidFill>
                <a:effectLst/>
                <a:latin typeface="Segoe UI" panose="020B0502040204020203" pitchFamily="34" charset="0"/>
              </a:rPr>
              <a:t>MLflow</a:t>
            </a:r>
          </a:p>
          <a:p>
            <a:pPr algn="l"/>
            <a:r>
              <a:rPr lang="en-US" b="0" i="0" u="none" strike="noStrike" dirty="0">
                <a:solidFill>
                  <a:srgbClr val="161616"/>
                </a:solidFill>
                <a:effectLst/>
                <a:latin typeface="Segoe UI" panose="020B0502040204020203" pitchFamily="34" charset="0"/>
                <a:hlinkClick r:id="rId10"/>
              </a:rPr>
              <a:t>MLflow</a:t>
            </a:r>
            <a:r>
              <a:rPr lang="en-US" b="0" i="0" dirty="0">
                <a:solidFill>
                  <a:srgbClr val="161616"/>
                </a:solidFill>
                <a:effectLst/>
                <a:latin typeface="Segoe UI" panose="020B0502040204020203" pitchFamily="34" charset="0"/>
              </a:rPr>
              <a:t> is an open-source platform for managing the end-to-end machine learning lifecycle. It includes features for experiment tracking, model management, and deployment, helping practitioners manage and share their ML models and experiments efficiently.</a:t>
            </a:r>
          </a:p>
          <a:p>
            <a:endParaRPr lang="en-US" i="0"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04575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https://learn.microsoft.com/en-us/azure/architecture/solution-ideas/articles/azure-databricks-modern-analytics-architecture</a:t>
            </a:r>
          </a:p>
          <a:p>
            <a:endParaRPr lang="en-IN" dirty="0"/>
          </a:p>
          <a:p>
            <a:r>
              <a:rPr lang="en-US" b="0" i="0" dirty="0">
                <a:solidFill>
                  <a:srgbClr val="161616"/>
                </a:solidFill>
                <a:effectLst/>
                <a:latin typeface="Segoe UI" panose="020B0502040204020203" pitchFamily="34" charset="0"/>
              </a:rPr>
              <a:t>This solution outlines a modern data architecture. Azure Databricks forms the core of the solution. This platform works seamlessly with other services, such as Azure Data Lake Storage Gen2, Azure Data Factory, Azure Synapse Analytics, and Power BI.</a:t>
            </a:r>
          </a:p>
          <a:p>
            <a:endParaRPr lang="en-US" b="0" i="0" dirty="0">
              <a:solidFill>
                <a:srgbClr val="161616"/>
              </a:solidFill>
              <a:effectLst/>
              <a:latin typeface="Segoe UI" panose="020B0502040204020203" pitchFamily="34" charset="0"/>
            </a:endParaRPr>
          </a:p>
          <a:p>
            <a:pPr>
              <a:spcBef>
                <a:spcPts val="2250"/>
              </a:spcBef>
              <a:spcAft>
                <a:spcPts val="1350"/>
              </a:spcAft>
            </a:pPr>
            <a:r>
              <a:rPr lang="en-US" b="1" dirty="0">
                <a:effectLst/>
              </a:rPr>
              <a:t>Dataflow</a:t>
            </a:r>
          </a:p>
          <a:p>
            <a:pPr>
              <a:spcBef>
                <a:spcPts val="1200"/>
              </a:spcBef>
              <a:spcAft>
                <a:spcPts val="1200"/>
              </a:spcAft>
              <a:buFont typeface="+mj-lt"/>
              <a:buAutoNum type="arabicPeriod"/>
            </a:pPr>
            <a:r>
              <a:rPr lang="en-US" dirty="0">
                <a:effectLst/>
              </a:rPr>
              <a:t>Azure Databricks ingests raw streaming data from Azure Event Hubs.</a:t>
            </a:r>
          </a:p>
          <a:p>
            <a:pPr>
              <a:spcBef>
                <a:spcPts val="1200"/>
              </a:spcBef>
              <a:spcAft>
                <a:spcPts val="1200"/>
              </a:spcAft>
              <a:buFont typeface="+mj-lt"/>
              <a:buAutoNum type="arabicPeriod"/>
            </a:pPr>
            <a:r>
              <a:rPr lang="en-US" dirty="0">
                <a:effectLst/>
              </a:rPr>
              <a:t>Data Factory loads raw batch data into Data Lake Storage Gen2.</a:t>
            </a:r>
          </a:p>
          <a:p>
            <a:pPr>
              <a:spcBef>
                <a:spcPts val="1200"/>
              </a:spcBef>
              <a:spcAft>
                <a:spcPts val="1200"/>
              </a:spcAft>
              <a:buFont typeface="+mj-lt"/>
              <a:buAutoNum type="arabicPeriod"/>
            </a:pPr>
            <a:r>
              <a:rPr lang="en-US" dirty="0">
                <a:effectLst/>
              </a:rPr>
              <a:t>For data storage:</a:t>
            </a:r>
          </a:p>
          <a:p>
            <a:pPr marL="742950" lvl="1" indent="-285750">
              <a:spcBef>
                <a:spcPts val="1200"/>
              </a:spcBef>
              <a:spcAft>
                <a:spcPts val="1200"/>
              </a:spcAft>
              <a:buFont typeface="+mj-lt"/>
              <a:buAutoNum type="arabicPeriod"/>
            </a:pPr>
            <a:r>
              <a:rPr lang="en-US" dirty="0">
                <a:effectLst/>
              </a:rPr>
              <a:t>Data Lake Storage Gen2 houses data of all types, such as structured, unstructured, and semi-structured. It also stores batch and streaming data.</a:t>
            </a:r>
          </a:p>
          <a:p>
            <a:pPr marL="742950" lvl="1" indent="-285750">
              <a:spcBef>
                <a:spcPts val="1200"/>
              </a:spcBef>
              <a:spcAft>
                <a:spcPts val="1200"/>
              </a:spcAft>
              <a:buFont typeface="+mj-lt"/>
              <a:buAutoNum type="arabicPeriod"/>
            </a:pPr>
            <a:r>
              <a:rPr lang="en-US" dirty="0">
                <a:effectLst/>
              </a:rPr>
              <a:t>Delta Lake forms the curated layer of the data lake. It stores the refined data in an open-source format.</a:t>
            </a:r>
          </a:p>
          <a:p>
            <a:pPr marL="742950" lvl="1" indent="-285750">
              <a:spcBef>
                <a:spcPts val="1200"/>
              </a:spcBef>
              <a:spcAft>
                <a:spcPts val="1200"/>
              </a:spcAft>
              <a:buFont typeface="+mj-lt"/>
              <a:buAutoNum type="arabicPeriod"/>
            </a:pPr>
            <a:r>
              <a:rPr lang="en-US" dirty="0">
                <a:effectLst/>
              </a:rPr>
              <a:t>Azure Databricks works well with a </a:t>
            </a:r>
            <a:r>
              <a:rPr lang="en-US" u="none" strike="noStrike" dirty="0">
                <a:effectLst/>
                <a:hlinkClick r:id="rId3"/>
              </a:rPr>
              <a:t>medallion architecture</a:t>
            </a:r>
            <a:r>
              <a:rPr lang="en-US" dirty="0">
                <a:effectLst/>
              </a:rPr>
              <a:t> that organizes data into layers:</a:t>
            </a:r>
          </a:p>
          <a:p>
            <a:pPr marL="1143000" lvl="2" indent="-228600">
              <a:spcBef>
                <a:spcPts val="1200"/>
              </a:spcBef>
              <a:spcAft>
                <a:spcPts val="1200"/>
              </a:spcAft>
              <a:buFont typeface="+mj-lt"/>
              <a:buAutoNum type="arabicPeriod"/>
            </a:pPr>
            <a:r>
              <a:rPr lang="en-US" dirty="0">
                <a:effectLst/>
              </a:rPr>
              <a:t>Bronze: Holds raw data.</a:t>
            </a:r>
          </a:p>
          <a:p>
            <a:pPr marL="1143000" lvl="2" indent="-228600">
              <a:spcBef>
                <a:spcPts val="1200"/>
              </a:spcBef>
              <a:spcAft>
                <a:spcPts val="1200"/>
              </a:spcAft>
              <a:buFont typeface="+mj-lt"/>
              <a:buAutoNum type="arabicPeriod"/>
            </a:pPr>
            <a:r>
              <a:rPr lang="en-US" dirty="0">
                <a:effectLst/>
              </a:rPr>
              <a:t>Silver: Contains cleaned, filtered data.</a:t>
            </a:r>
          </a:p>
          <a:p>
            <a:pPr marL="1143000" lvl="2" indent="-228600">
              <a:spcBef>
                <a:spcPts val="1200"/>
              </a:spcBef>
              <a:spcAft>
                <a:spcPts val="1200"/>
              </a:spcAft>
              <a:buFont typeface="+mj-lt"/>
              <a:buAutoNum type="arabicPeriod"/>
            </a:pPr>
            <a:r>
              <a:rPr lang="en-US" dirty="0">
                <a:effectLst/>
              </a:rPr>
              <a:t>Gold: Stores aggregated data that's useful for business analytics.</a:t>
            </a:r>
          </a:p>
          <a:p>
            <a:pPr>
              <a:spcBef>
                <a:spcPts val="1200"/>
              </a:spcBef>
              <a:spcAft>
                <a:spcPts val="1200"/>
              </a:spcAft>
              <a:buFont typeface="+mj-lt"/>
              <a:buAutoNum type="arabicPeriod"/>
            </a:pPr>
            <a:r>
              <a:rPr lang="en-US" dirty="0">
                <a:effectLst/>
              </a:rPr>
              <a:t>The analytical platform ingests data from the disparate batch and streaming sources. Data scientists use this data for these tasks:</a:t>
            </a:r>
          </a:p>
          <a:p>
            <a:pPr marL="742950" lvl="1" indent="-285750">
              <a:spcBef>
                <a:spcPts val="1200"/>
              </a:spcBef>
              <a:spcAft>
                <a:spcPts val="1200"/>
              </a:spcAft>
              <a:buFont typeface="+mj-lt"/>
              <a:buAutoNum type="arabicPeriod"/>
            </a:pPr>
            <a:r>
              <a:rPr lang="en-US" dirty="0">
                <a:effectLst/>
              </a:rPr>
              <a:t>Data preparation.</a:t>
            </a:r>
          </a:p>
          <a:p>
            <a:pPr marL="742950" lvl="1" indent="-285750">
              <a:spcBef>
                <a:spcPts val="1200"/>
              </a:spcBef>
              <a:spcAft>
                <a:spcPts val="1200"/>
              </a:spcAft>
              <a:buFont typeface="+mj-lt"/>
              <a:buAutoNum type="arabicPeriod"/>
            </a:pPr>
            <a:r>
              <a:rPr lang="en-US" dirty="0">
                <a:effectLst/>
              </a:rPr>
              <a:t>Data exploration.</a:t>
            </a:r>
          </a:p>
          <a:p>
            <a:pPr marL="742950" lvl="1" indent="-285750">
              <a:spcBef>
                <a:spcPts val="1200"/>
              </a:spcBef>
              <a:spcAft>
                <a:spcPts val="1200"/>
              </a:spcAft>
              <a:buFont typeface="+mj-lt"/>
              <a:buAutoNum type="arabicPeriod"/>
            </a:pPr>
            <a:r>
              <a:rPr lang="en-US" dirty="0">
                <a:effectLst/>
              </a:rPr>
              <a:t>Model preparation.</a:t>
            </a:r>
          </a:p>
          <a:p>
            <a:pPr marL="742950" lvl="1" indent="-285750">
              <a:spcBef>
                <a:spcPts val="1200"/>
              </a:spcBef>
              <a:spcAft>
                <a:spcPts val="1200"/>
              </a:spcAft>
              <a:buFont typeface="+mj-lt"/>
              <a:buAutoNum type="arabicPeriod"/>
            </a:pPr>
            <a:r>
              <a:rPr lang="en-US" dirty="0">
                <a:effectLst/>
              </a:rPr>
              <a:t>Model training.</a:t>
            </a:r>
          </a:p>
          <a:p>
            <a:pPr>
              <a:spcBef>
                <a:spcPts val="1200"/>
              </a:spcBef>
              <a:spcAft>
                <a:spcPts val="1200"/>
              </a:spcAft>
              <a:buFont typeface="+mj-lt"/>
              <a:buAutoNum type="arabicPeriod"/>
            </a:pPr>
            <a:r>
              <a:rPr lang="en-US" dirty="0" err="1">
                <a:effectLst/>
              </a:rPr>
              <a:t>MLflow</a:t>
            </a:r>
            <a:r>
              <a:rPr lang="en-US" dirty="0">
                <a:effectLst/>
              </a:rPr>
              <a:t> manages parameter, metric, and model tracking in data science code runs. The coding possibilities are flexible:</a:t>
            </a:r>
          </a:p>
          <a:p>
            <a:pPr marL="742950" lvl="1" indent="-285750">
              <a:spcBef>
                <a:spcPts val="1200"/>
              </a:spcBef>
              <a:spcAft>
                <a:spcPts val="1200"/>
              </a:spcAft>
              <a:buFont typeface="+mj-lt"/>
              <a:buAutoNum type="arabicPeriod"/>
            </a:pPr>
            <a:r>
              <a:rPr lang="en-US" dirty="0">
                <a:effectLst/>
              </a:rPr>
              <a:t>Code can be in SQL, Python, R, and Scala.</a:t>
            </a:r>
          </a:p>
          <a:p>
            <a:pPr marL="742950" lvl="1" indent="-285750">
              <a:spcBef>
                <a:spcPts val="1200"/>
              </a:spcBef>
              <a:spcAft>
                <a:spcPts val="1200"/>
              </a:spcAft>
              <a:buFont typeface="+mj-lt"/>
              <a:buAutoNum type="arabicPeriod"/>
            </a:pPr>
            <a:r>
              <a:rPr lang="en-US" dirty="0">
                <a:effectLst/>
              </a:rPr>
              <a:t>Code can use popular open-source libraries and frameworks such as Koalas, Pandas, and scikit-learn, which are pre-installed and optimized.</a:t>
            </a:r>
          </a:p>
          <a:p>
            <a:pPr marL="742950" lvl="1" indent="-285750">
              <a:spcBef>
                <a:spcPts val="1200"/>
              </a:spcBef>
              <a:spcAft>
                <a:spcPts val="1200"/>
              </a:spcAft>
              <a:buFont typeface="+mj-lt"/>
              <a:buAutoNum type="arabicPeriod"/>
            </a:pPr>
            <a:r>
              <a:rPr lang="en-US" dirty="0">
                <a:effectLst/>
              </a:rPr>
              <a:t>Practitioners can optimize for performance and cost with single-node and multi-node compute options.</a:t>
            </a:r>
          </a:p>
          <a:p>
            <a:pPr>
              <a:spcBef>
                <a:spcPts val="1200"/>
              </a:spcBef>
              <a:spcAft>
                <a:spcPts val="1200"/>
              </a:spcAft>
              <a:buFont typeface="+mj-lt"/>
              <a:buAutoNum type="arabicPeriod"/>
            </a:pPr>
            <a:r>
              <a:rPr lang="en-US" dirty="0">
                <a:effectLst/>
              </a:rPr>
              <a:t>Machine learning models are available in several formats:</a:t>
            </a:r>
          </a:p>
          <a:p>
            <a:pPr marL="742950" lvl="1" indent="-285750">
              <a:spcBef>
                <a:spcPts val="1200"/>
              </a:spcBef>
              <a:spcAft>
                <a:spcPts val="1200"/>
              </a:spcAft>
              <a:buFont typeface="+mj-lt"/>
              <a:buAutoNum type="arabicPeriod"/>
            </a:pPr>
            <a:r>
              <a:rPr lang="en-US" dirty="0">
                <a:effectLst/>
              </a:rPr>
              <a:t>Azure Databricks stores information about models in the </a:t>
            </a:r>
            <a:r>
              <a:rPr lang="en-US" u="none" strike="noStrike" dirty="0" err="1">
                <a:effectLst/>
                <a:hlinkClick r:id="rId4"/>
              </a:rPr>
              <a:t>MLflow</a:t>
            </a:r>
            <a:r>
              <a:rPr lang="en-US" u="none" strike="noStrike" dirty="0">
                <a:effectLst/>
                <a:hlinkClick r:id="rId4"/>
              </a:rPr>
              <a:t> Model Registry</a:t>
            </a:r>
            <a:r>
              <a:rPr lang="en-US" dirty="0">
                <a:effectLst/>
              </a:rPr>
              <a:t>. The registry makes models available through batch, streaming, and REST APIs.</a:t>
            </a:r>
          </a:p>
          <a:p>
            <a:pPr marL="742950" lvl="1" indent="-285750">
              <a:spcBef>
                <a:spcPts val="1200"/>
              </a:spcBef>
              <a:spcAft>
                <a:spcPts val="1200"/>
              </a:spcAft>
              <a:buFont typeface="+mj-lt"/>
              <a:buAutoNum type="arabicPeriod"/>
            </a:pPr>
            <a:r>
              <a:rPr lang="en-US" dirty="0">
                <a:effectLst/>
              </a:rPr>
              <a:t>The solution can also deploy models to Azure Machine Learning web services or Azure Kubernetes Service (AKS).</a:t>
            </a:r>
          </a:p>
          <a:p>
            <a:pPr>
              <a:spcBef>
                <a:spcPts val="1200"/>
              </a:spcBef>
              <a:spcAft>
                <a:spcPts val="1200"/>
              </a:spcAft>
              <a:buFont typeface="+mj-lt"/>
              <a:buAutoNum type="arabicPeriod"/>
            </a:pPr>
            <a:r>
              <a:rPr lang="en-US" dirty="0">
                <a:effectLst/>
              </a:rPr>
              <a:t>Services that work with the data connect to a single underlying data source to ensure consistency. For instance, users can run SQL queries on the data lake with Azure Databricks SQL Analytics. This service:</a:t>
            </a:r>
          </a:p>
          <a:p>
            <a:pPr marL="742950" lvl="1" indent="-285750">
              <a:spcBef>
                <a:spcPts val="1200"/>
              </a:spcBef>
              <a:spcAft>
                <a:spcPts val="1200"/>
              </a:spcAft>
              <a:buFont typeface="+mj-lt"/>
              <a:buAutoNum type="arabicPeriod"/>
            </a:pPr>
            <a:r>
              <a:rPr lang="en-US" dirty="0">
                <a:effectLst/>
              </a:rPr>
              <a:t>Provides a query editor and catalog, the query history, basic dashboarding, and alerting.</a:t>
            </a:r>
          </a:p>
          <a:p>
            <a:pPr marL="742950" lvl="1" indent="-285750">
              <a:spcBef>
                <a:spcPts val="1200"/>
              </a:spcBef>
              <a:spcAft>
                <a:spcPts val="1200"/>
              </a:spcAft>
              <a:buFont typeface="+mj-lt"/>
              <a:buAutoNum type="arabicPeriod"/>
            </a:pPr>
            <a:r>
              <a:rPr lang="en-US" dirty="0">
                <a:effectLst/>
              </a:rPr>
              <a:t>Uses integrated security that includes row-level and column-level permissions.</a:t>
            </a:r>
          </a:p>
          <a:p>
            <a:pPr marL="742950" lvl="1" indent="-285750">
              <a:spcBef>
                <a:spcPts val="1200"/>
              </a:spcBef>
              <a:spcAft>
                <a:spcPts val="1200"/>
              </a:spcAft>
              <a:buFont typeface="+mj-lt"/>
              <a:buAutoNum type="arabicPeriod"/>
            </a:pPr>
            <a:r>
              <a:rPr lang="en-US" dirty="0">
                <a:effectLst/>
              </a:rPr>
              <a:t>Uses a </a:t>
            </a:r>
            <a:r>
              <a:rPr lang="en-US" u="none" strike="noStrike" dirty="0">
                <a:effectLst/>
                <a:hlinkClick r:id="rId5"/>
              </a:rPr>
              <a:t>Photon-powered Delta Engine to accelerate performance</a:t>
            </a:r>
            <a:r>
              <a:rPr lang="en-US" dirty="0">
                <a:effectLst/>
              </a:rPr>
              <a:t>.</a:t>
            </a:r>
          </a:p>
          <a:p>
            <a:pPr>
              <a:spcBef>
                <a:spcPts val="1200"/>
              </a:spcBef>
              <a:spcAft>
                <a:spcPts val="1200"/>
              </a:spcAft>
              <a:buFont typeface="+mj-lt"/>
              <a:buAutoNum type="arabicPeriod"/>
            </a:pPr>
            <a:r>
              <a:rPr lang="en-US" dirty="0">
                <a:effectLst/>
              </a:rPr>
              <a:t>Power BI generates analytical and historical reports and dashboards from the unified data platform. This service uses these features when working with Azure Databricks:</a:t>
            </a:r>
          </a:p>
          <a:p>
            <a:pPr marL="742950" lvl="1" indent="-285750">
              <a:spcBef>
                <a:spcPts val="1200"/>
              </a:spcBef>
              <a:spcAft>
                <a:spcPts val="1200"/>
              </a:spcAft>
              <a:buFont typeface="+mj-lt"/>
              <a:buAutoNum type="arabicPeriod"/>
            </a:pPr>
            <a:r>
              <a:rPr lang="en-US" dirty="0">
                <a:effectLst/>
              </a:rPr>
              <a:t>A </a:t>
            </a:r>
            <a:r>
              <a:rPr lang="en-US" u="none" strike="noStrike" dirty="0">
                <a:effectLst/>
                <a:hlinkClick r:id="rId6"/>
              </a:rPr>
              <a:t>built-in Azure Databricks connector</a:t>
            </a:r>
            <a:r>
              <a:rPr lang="en-US" dirty="0">
                <a:effectLst/>
              </a:rPr>
              <a:t> for visualizing the underlying data.</a:t>
            </a:r>
          </a:p>
          <a:p>
            <a:pPr marL="742950" lvl="1" indent="-285750">
              <a:spcBef>
                <a:spcPts val="1200"/>
              </a:spcBef>
              <a:spcAft>
                <a:spcPts val="1200"/>
              </a:spcAft>
              <a:buFont typeface="+mj-lt"/>
              <a:buAutoNum type="arabicPeriod"/>
            </a:pPr>
            <a:r>
              <a:rPr lang="en-US" dirty="0">
                <a:effectLst/>
              </a:rPr>
              <a:t>Optimized Java Database Connectivity (JDBC) and Open Database Connectivity (ODBC) drivers.</a:t>
            </a:r>
          </a:p>
          <a:p>
            <a:pPr>
              <a:spcBef>
                <a:spcPts val="1200"/>
              </a:spcBef>
              <a:spcAft>
                <a:spcPts val="1200"/>
              </a:spcAft>
              <a:buFont typeface="+mj-lt"/>
              <a:buAutoNum type="arabicPeriod"/>
            </a:pPr>
            <a:r>
              <a:rPr lang="en-US" dirty="0">
                <a:effectLst/>
              </a:rPr>
              <a:t>Users can export gold data sets out of the data lake into Azure Synapse via the optimized Synapse connector. SQL pools in Azure Synapse provide a data warehousing and compute environment.</a:t>
            </a:r>
          </a:p>
          <a:p>
            <a:pPr>
              <a:spcBef>
                <a:spcPts val="1200"/>
              </a:spcBef>
              <a:spcAft>
                <a:spcPts val="1200"/>
              </a:spcAft>
              <a:buFont typeface="+mj-lt"/>
              <a:buAutoNum type="arabicPeriod"/>
            </a:pPr>
            <a:r>
              <a:rPr lang="en-US" dirty="0">
                <a:effectLst/>
              </a:rPr>
              <a:t>The solution uses Azure services for collaboration, performance, reliability, governance, and security:</a:t>
            </a:r>
          </a:p>
          <a:p>
            <a:pPr marL="742950" lvl="1" indent="-28575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Microsoft Purview provides data discovery services, sensitive data classification, and governance insights across the data estate.</a:t>
            </a:r>
          </a:p>
          <a:p>
            <a:pPr marL="742950" lvl="1" indent="-28575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Azure DevOps offers continuous integration and continuous deployment (CI/CD) and other integrated version control features.</a:t>
            </a:r>
          </a:p>
          <a:p>
            <a:pPr marL="742950" lvl="1" indent="-28575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Azure Key Vault securely manages secrets, keys, and certificates.</a:t>
            </a:r>
          </a:p>
          <a:p>
            <a:pPr marL="742950" lvl="1" indent="-28575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Microsoft Entra ID provides single sign-on (SSO) for Azure Databricks users. Azure Databricks supports automated user provisioning with Microsoft Entra ID for these tasks:</a:t>
            </a:r>
          </a:p>
          <a:p>
            <a:pPr marL="1143000" lvl="2" indent="-22860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Creating new users.</a:t>
            </a:r>
          </a:p>
          <a:p>
            <a:pPr marL="1143000" lvl="2" indent="-22860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Assigning each user an access level.</a:t>
            </a:r>
          </a:p>
          <a:p>
            <a:pPr marL="1143000" lvl="2" indent="-22860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Removing users and denying them access.</a:t>
            </a:r>
          </a:p>
          <a:p>
            <a:pPr marL="742950" lvl="1" indent="-285750">
              <a:spcBef>
                <a:spcPts val="1200"/>
              </a:spcBef>
              <a:spcAft>
                <a:spcPts val="1200"/>
              </a:spcAft>
              <a:buFont typeface="+mj-lt"/>
              <a:buAutoNum type="arabicPeriod"/>
            </a:pPr>
            <a:r>
              <a:rPr lang="en-US" b="0" i="0" dirty="0">
                <a:solidFill>
                  <a:srgbClr val="161616"/>
                </a:solidFill>
                <a:effectLst/>
                <a:latin typeface="Segoe UI" panose="020B0502040204020203" pitchFamily="34" charset="0"/>
              </a:rPr>
              <a:t>Azure Monitor collects and analyzes Azure resource telemetry. By proactively identifying problems, this service maximizes performance and reliability.</a:t>
            </a:r>
          </a:p>
          <a:p>
            <a:br>
              <a:rPr lang="en-US" b="0" i="0" dirty="0">
                <a:solidFill>
                  <a:srgbClr val="161616"/>
                </a:solidFill>
                <a:effectLst/>
                <a:latin typeface="Segoe UI" panose="020B0502040204020203" pitchFamily="34" charset="0"/>
              </a:rPr>
            </a:br>
            <a:endParaRPr lang="en-IN" b="0" i="0" dirty="0">
              <a:solidFill>
                <a:srgbClr val="161616"/>
              </a:solidFill>
              <a:effectLst/>
              <a:latin typeface="Segoe UI" panose="020B0502040204020203" pitchFamily="34" charset="0"/>
            </a:endParaRPr>
          </a:p>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12/4/2024 10:31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790529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latin typeface="Segoe UI" panose="020B0502040204020203" pitchFamily="34" charset="0"/>
              </a:rPr>
              <a:t>Before you can work with data in Azure Databricks, you need to ingest data into the platform. Once in the platform, the cloud-based compute allows you to process large volumes of data efficiently.</a:t>
            </a:r>
          </a:p>
          <a:p>
            <a:pPr algn="l"/>
            <a:endParaRPr lang="en-US" b="0" i="0" dirty="0">
              <a:solidFill>
                <a:srgbClr val="161616"/>
              </a:solidFill>
              <a:effectLst/>
              <a:latin typeface="Segoe UI" panose="020B0502040204020203" pitchFamily="34" charset="0"/>
            </a:endParaRPr>
          </a:p>
          <a:p>
            <a:pPr algn="l"/>
            <a:r>
              <a:rPr lang="en-US" b="0" i="0" dirty="0">
                <a:solidFill>
                  <a:srgbClr val="161616"/>
                </a:solidFill>
                <a:effectLst/>
                <a:latin typeface="Segoe UI" panose="020B0502040204020203" pitchFamily="34" charset="0"/>
              </a:rPr>
              <a:t>There are multiple ways to ingest data into Azure Databricks:</a:t>
            </a:r>
          </a:p>
          <a:p>
            <a:pPr algn="l"/>
            <a:endParaRPr lang="en-US" b="0" i="0" dirty="0">
              <a:solidFill>
                <a:srgbClr val="161616"/>
              </a:solidFill>
              <a:effectLst/>
              <a:latin typeface="Segoe UI" panose="020B0502040204020203" pitchFamily="34" charset="0"/>
            </a:endParaRPr>
          </a:p>
          <a:p>
            <a:pPr algn="l"/>
            <a:r>
              <a:rPr lang="en-US" b="1" i="0" dirty="0">
                <a:solidFill>
                  <a:srgbClr val="161616"/>
                </a:solidFill>
                <a:effectLst/>
                <a:latin typeface="Segoe UI" panose="020B0502040204020203" pitchFamily="34" charset="0"/>
              </a:rPr>
              <a:t>Orchestrate data pipelines with Azure Data Factory</a:t>
            </a:r>
          </a:p>
          <a:p>
            <a:pPr algn="l"/>
            <a:r>
              <a:rPr lang="en-US" b="0" i="0" dirty="0">
                <a:solidFill>
                  <a:srgbClr val="161616"/>
                </a:solidFill>
                <a:effectLst/>
                <a:latin typeface="Segoe UI" panose="020B0502040204020203" pitchFamily="34" charset="0"/>
              </a:rPr>
              <a:t>Azure Data Factory is a data integration service that allows you to create data pipelines. These pipelines can ingest data from various sources into Azure Databricks, ensuring that all your data is centralized and ready for analysis.</a:t>
            </a:r>
          </a:p>
          <a:p>
            <a:pPr algn="l"/>
            <a:endParaRPr lang="en-US" b="0" i="0" dirty="0">
              <a:solidFill>
                <a:srgbClr val="161616"/>
              </a:solidFill>
              <a:effectLst/>
              <a:latin typeface="Segoe UI" panose="020B0502040204020203" pitchFamily="34" charset="0"/>
            </a:endParaRPr>
          </a:p>
          <a:p>
            <a:pPr algn="l"/>
            <a:r>
              <a:rPr lang="en-US" b="1" i="0" dirty="0">
                <a:solidFill>
                  <a:srgbClr val="161616"/>
                </a:solidFill>
                <a:effectLst/>
                <a:latin typeface="Segoe UI" panose="020B0502040204020203" pitchFamily="34" charset="0"/>
              </a:rPr>
              <a:t>Ingest real-time data with Event Hubs and IoT Hubs</a:t>
            </a:r>
          </a:p>
          <a:p>
            <a:pPr algn="l"/>
            <a:r>
              <a:rPr lang="en-US" b="0" i="0" dirty="0">
                <a:solidFill>
                  <a:srgbClr val="161616"/>
                </a:solidFill>
                <a:effectLst/>
                <a:latin typeface="Segoe UI" panose="020B0502040204020203" pitchFamily="34" charset="0"/>
              </a:rPr>
              <a:t>For real-time data ingestion, Azure Event Hubs and IoT Hubs are the most suitable choices. They enable you to stream data directly into Azure Databricks, allowing you to process and analyze data as it arrives. Real-time data ingestion and analysis is useful for scenarios like monitoring live events or tracking Internet of Things (IoT) device data.</a:t>
            </a:r>
          </a:p>
          <a:p>
            <a:pPr algn="l"/>
            <a:endParaRPr lang="en-US" b="1" i="0" dirty="0">
              <a:solidFill>
                <a:srgbClr val="161616"/>
              </a:solidFill>
              <a:effectLst/>
              <a:latin typeface="Segoe UI" panose="020B0502040204020203" pitchFamily="34" charset="0"/>
            </a:endParaRPr>
          </a:p>
          <a:p>
            <a:pPr algn="l"/>
            <a:r>
              <a:rPr lang="en-US" b="1" i="0" dirty="0">
                <a:solidFill>
                  <a:srgbClr val="161616"/>
                </a:solidFill>
                <a:effectLst/>
                <a:latin typeface="Segoe UI" panose="020B0502040204020203" pitchFamily="34" charset="0"/>
              </a:rPr>
              <a:t>Ingest data directly from Azure Blob Storage and Azure Data Lake</a:t>
            </a:r>
          </a:p>
          <a:p>
            <a:pPr algn="l"/>
            <a:r>
              <a:rPr lang="en-US" b="0" i="0" dirty="0">
                <a:solidFill>
                  <a:srgbClr val="161616"/>
                </a:solidFill>
                <a:effectLst/>
                <a:latin typeface="Segoe UI" panose="020B0502040204020203" pitchFamily="34" charset="0"/>
              </a:rPr>
              <a:t>Azure Blob Storage and Azure Data Lake Storage Gen2 are perfect for storing large amounts of unstructured data. </a:t>
            </a:r>
          </a:p>
          <a:p>
            <a:pPr algn="l"/>
            <a:endParaRPr lang="en-US" b="0" i="0" dirty="0">
              <a:solidFill>
                <a:srgbClr val="161616"/>
              </a:solidFill>
              <a:effectLst/>
              <a:latin typeface="Segoe UI" panose="020B0502040204020203" pitchFamily="34" charset="0"/>
            </a:endParaRPr>
          </a:p>
          <a:p>
            <a:pPr algn="l"/>
            <a:r>
              <a:rPr lang="en-US" b="0" i="0" dirty="0">
                <a:solidFill>
                  <a:srgbClr val="161616"/>
                </a:solidFill>
                <a:effectLst/>
                <a:latin typeface="Segoe UI" panose="020B0502040204020203" pitchFamily="34" charset="0"/>
              </a:rPr>
              <a:t>You can easily ingest this data into Databricks using:</a:t>
            </a:r>
          </a:p>
          <a:p>
            <a:pPr lvl="1" algn="l">
              <a:buFont typeface="Arial" panose="020B0604020202020204" pitchFamily="34" charset="0"/>
              <a:buChar char="•"/>
            </a:pPr>
            <a:r>
              <a:rPr lang="en-US" b="1" i="0" dirty="0">
                <a:solidFill>
                  <a:srgbClr val="161616"/>
                </a:solidFill>
                <a:effectLst/>
                <a:latin typeface="Segoe UI" panose="020B0502040204020203" pitchFamily="34" charset="0"/>
              </a:rPr>
              <a:t>Databricks File System</a:t>
            </a:r>
            <a:r>
              <a:rPr lang="en-US" b="0" i="0" dirty="0">
                <a:solidFill>
                  <a:srgbClr val="161616"/>
                </a:solidFill>
                <a:effectLst/>
                <a:latin typeface="Segoe UI" panose="020B0502040204020203" pitchFamily="34" charset="0"/>
              </a:rPr>
              <a:t> (</a:t>
            </a:r>
            <a:r>
              <a:rPr lang="en-US" b="1" i="0" dirty="0">
                <a:solidFill>
                  <a:srgbClr val="161616"/>
                </a:solidFill>
                <a:effectLst/>
                <a:latin typeface="Segoe UI" panose="020B0502040204020203" pitchFamily="34" charset="0"/>
              </a:rPr>
              <a:t>DBFS</a:t>
            </a:r>
            <a:r>
              <a:rPr lang="en-US" b="0" i="0" dirty="0">
                <a:solidFill>
                  <a:srgbClr val="161616"/>
                </a:solidFill>
                <a:effectLst/>
                <a:latin typeface="Segoe UI" panose="020B0502040204020203" pitchFamily="34" charset="0"/>
              </a:rPr>
              <a:t>): A distributed file system integrated with Azure Databricks, allowing you to mount Azure Blob Storage containers and access them as if they were part of the local file system.</a:t>
            </a:r>
          </a:p>
          <a:p>
            <a:pPr lvl="1" algn="l">
              <a:buFont typeface="Arial" panose="020B0604020202020204" pitchFamily="34" charset="0"/>
              <a:buChar char="•"/>
            </a:pPr>
            <a:r>
              <a:rPr lang="en-US" b="1" i="0" dirty="0">
                <a:solidFill>
                  <a:srgbClr val="161616"/>
                </a:solidFill>
                <a:effectLst/>
                <a:latin typeface="Segoe UI" panose="020B0502040204020203" pitchFamily="34" charset="0"/>
              </a:rPr>
              <a:t>Spark APIs</a:t>
            </a:r>
            <a:r>
              <a:rPr lang="en-US" b="0" i="0" dirty="0">
                <a:solidFill>
                  <a:srgbClr val="161616"/>
                </a:solidFill>
                <a:effectLst/>
                <a:latin typeface="Segoe UI" panose="020B0502040204020203" pitchFamily="34" charset="0"/>
              </a:rPr>
              <a:t>: Spark APIs provide a flexible way to read and write data from Azure Blob Storage directly into Spark DataFrames, using Spark's parallel processing capabilities for efficient large-scale data processing.</a:t>
            </a:r>
          </a:p>
          <a:p>
            <a:pPr marL="0" lvl="0" indent="-105829" algn="l">
              <a:buFont typeface="Arial" panose="020B0604020202020204" pitchFamily="34" charset="0"/>
              <a:buNone/>
            </a:pPr>
            <a:r>
              <a:rPr lang="en-US" b="0" i="0" dirty="0">
                <a:solidFill>
                  <a:srgbClr val="161616"/>
                </a:solidFill>
                <a:effectLst/>
                <a:latin typeface="Segoe UI" panose="020B0502040204020203" pitchFamily="34" charset="0"/>
              </a:rPr>
              <a:t>DBFS offers a simpler and more integrated way to work with data in Azure Blob Storage, while Spark APIs provide greater flexibility and performance for large-scale data processing tasks. The choice between the two depends on your specific use case and requirements.</a:t>
            </a:r>
          </a:p>
          <a:p>
            <a:pPr algn="l"/>
            <a:endParaRPr lang="en-US" b="0" i="0" dirty="0">
              <a:solidFill>
                <a:srgbClr val="161616"/>
              </a:solidFill>
              <a:effectLst/>
              <a:latin typeface="Segoe UI" panose="020B0502040204020203" pitchFamily="34"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12/4/2024 10:32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001993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latin typeface="Segoe UI" panose="020B0502040204020203" pitchFamily="34" charset="0"/>
              </a:rPr>
              <a:t>Using DataFrame APIs for data analysis is essential for efficiently exploring, manipulating, and </a:t>
            </a:r>
            <a:r>
              <a:rPr lang="en-US" b="1" i="0" dirty="0">
                <a:solidFill>
                  <a:srgbClr val="161616"/>
                </a:solidFill>
                <a:effectLst/>
                <a:latin typeface="Segoe UI" panose="020B0502040204020203" pitchFamily="34" charset="0"/>
              </a:rPr>
              <a:t>analyzing structured data </a:t>
            </a:r>
            <a:r>
              <a:rPr lang="en-US" b="0" i="0" dirty="0">
                <a:solidFill>
                  <a:srgbClr val="161616"/>
                </a:solidFill>
                <a:effectLst/>
                <a:latin typeface="Segoe UI" panose="020B0502040204020203" pitchFamily="34" charset="0"/>
              </a:rPr>
              <a:t>in various applications.</a:t>
            </a:r>
          </a:p>
          <a:p>
            <a:pPr algn="l"/>
            <a:endParaRPr lang="en-US" b="0" i="0" dirty="0">
              <a:solidFill>
                <a:srgbClr val="161616"/>
              </a:solidFill>
              <a:effectLst/>
              <a:latin typeface="Segoe UI" panose="020B0502040204020203" pitchFamily="34" charset="0"/>
            </a:endParaRPr>
          </a:p>
          <a:p>
            <a:pPr algn="l"/>
            <a:r>
              <a:rPr lang="en-US" b="0" i="0" dirty="0">
                <a:solidFill>
                  <a:srgbClr val="161616"/>
                </a:solidFill>
                <a:effectLst/>
                <a:latin typeface="Segoe UI" panose="020B0502040204020203" pitchFamily="34" charset="0"/>
              </a:rPr>
              <a:t>A </a:t>
            </a:r>
            <a:r>
              <a:rPr lang="en-US" b="1" i="0" dirty="0">
                <a:solidFill>
                  <a:srgbClr val="161616"/>
                </a:solidFill>
                <a:effectLst/>
                <a:latin typeface="Segoe UI" panose="020B0502040204020203" pitchFamily="34" charset="0"/>
              </a:rPr>
              <a:t>DataFrame</a:t>
            </a:r>
            <a:r>
              <a:rPr lang="en-US" b="0" i="0" dirty="0">
                <a:solidFill>
                  <a:srgbClr val="161616"/>
                </a:solidFill>
                <a:effectLst/>
                <a:latin typeface="Segoe UI" panose="020B0502040204020203" pitchFamily="34" charset="0"/>
              </a:rPr>
              <a:t> is a two-dimensional labeled data structure with columns of potentially different types. You can think of a DataFrame like a spreadsheet, a SQL table, or a dictionary of series objects.</a:t>
            </a:r>
          </a:p>
          <a:p>
            <a:pPr algn="l"/>
            <a:r>
              <a:rPr lang="en-US" b="0" i="0" dirty="0">
                <a:solidFill>
                  <a:srgbClr val="161616"/>
                </a:solidFill>
                <a:effectLst/>
                <a:latin typeface="Segoe UI" panose="020B0502040204020203" pitchFamily="34" charset="0"/>
              </a:rPr>
              <a:t> Apache Spark DataFrames provide a rich set of functions (select columns, filter, join, aggregate) that allow you to solve common data analysis problems efficiently.</a:t>
            </a:r>
          </a:p>
          <a:p>
            <a:pPr algn="l"/>
            <a:endParaRPr lang="en-US" b="0" i="0" dirty="0">
              <a:solidFill>
                <a:srgbClr val="161616"/>
              </a:solidFill>
              <a:effectLst/>
              <a:latin typeface="Segoe UI" panose="020B0502040204020203" pitchFamily="34" charset="0"/>
            </a:endParaRPr>
          </a:p>
          <a:p>
            <a:pPr algn="l"/>
            <a:r>
              <a:rPr lang="en-US" b="0" i="0" dirty="0">
                <a:solidFill>
                  <a:srgbClr val="161616"/>
                </a:solidFill>
                <a:effectLst/>
                <a:latin typeface="Segoe UI" panose="020B0502040204020203" pitchFamily="34" charset="0"/>
              </a:rPr>
              <a:t>DataFrame APIs are provided by several data processing libraries, such as Pandas in Python, Apache Spark, and R's dplyr, each offering tools to handle large datasets with ease. </a:t>
            </a:r>
          </a:p>
          <a:p>
            <a:pPr algn="l"/>
            <a:r>
              <a:rPr lang="en-US" b="0" i="0" dirty="0">
                <a:solidFill>
                  <a:srgbClr val="161616"/>
                </a:solidFill>
                <a:effectLst/>
                <a:latin typeface="Segoe UI" panose="020B0502040204020203" pitchFamily="34" charset="0"/>
              </a:rPr>
              <a:t>Working with DataFrames seems similar across libraries, but each library has some slight variations in its capabilities.</a:t>
            </a:r>
          </a:p>
          <a:p>
            <a:pPr algn="l"/>
            <a:endParaRPr lang="en-US" b="0" dirty="0"/>
          </a:p>
          <a:p>
            <a:pPr algn="l"/>
            <a:r>
              <a:rPr lang="en-US" b="0" i="0" dirty="0">
                <a:solidFill>
                  <a:srgbClr val="161616"/>
                </a:solidFill>
                <a:effectLst/>
                <a:latin typeface="Segoe UI" panose="020B0502040204020203" pitchFamily="34" charset="0"/>
              </a:rPr>
              <a:t>To create a simple </a:t>
            </a:r>
            <a:r>
              <a:rPr lang="en-US" b="0" i="0" dirty="0" err="1">
                <a:solidFill>
                  <a:srgbClr val="161616"/>
                </a:solidFill>
                <a:effectLst/>
                <a:latin typeface="Segoe UI" panose="020B0502040204020203" pitchFamily="34" charset="0"/>
              </a:rPr>
              <a:t>DataFrame</a:t>
            </a:r>
            <a:r>
              <a:rPr lang="en-US" b="0" i="0" dirty="0">
                <a:solidFill>
                  <a:srgbClr val="161616"/>
                </a:solidFill>
                <a:effectLst/>
                <a:latin typeface="Segoe UI" panose="020B0502040204020203" pitchFamily="34" charset="0"/>
              </a:rPr>
              <a:t>, you can run the following code:</a:t>
            </a:r>
          </a:p>
          <a:p>
            <a:pPr algn="l"/>
            <a:r>
              <a:rPr lang="en-US" b="0" i="0" dirty="0" err="1">
                <a:solidFill>
                  <a:srgbClr val="161616"/>
                </a:solidFill>
                <a:effectLst/>
                <a:latin typeface="Segoe UI" panose="020B0502040204020203" pitchFamily="34" charset="0"/>
              </a:rPr>
              <a:t>DataFrames</a:t>
            </a:r>
            <a:r>
              <a:rPr lang="en-US" b="0" i="0" dirty="0">
                <a:solidFill>
                  <a:srgbClr val="161616"/>
                </a:solidFill>
                <a:effectLst/>
                <a:latin typeface="Segoe UI" panose="020B0502040204020203" pitchFamily="34" charset="0"/>
              </a:rPr>
              <a:t> support operations like filtering, aggregation, and joining, which are crucial for data exploration.</a:t>
            </a:r>
          </a:p>
          <a:p>
            <a:pPr algn="l"/>
            <a:r>
              <a:rPr lang="en-US" b="0" i="0" dirty="0">
                <a:solidFill>
                  <a:srgbClr val="161616"/>
                </a:solidFill>
                <a:effectLst/>
                <a:latin typeface="Segoe UI" panose="020B0502040204020203" pitchFamily="34" charset="0"/>
              </a:rPr>
              <a:t>Azure Databricks also supports </a:t>
            </a:r>
            <a:r>
              <a:rPr lang="en-US" b="1" i="0" dirty="0">
                <a:solidFill>
                  <a:srgbClr val="161616"/>
                </a:solidFill>
                <a:effectLst/>
                <a:latin typeface="Segoe UI" panose="020B0502040204020203" pitchFamily="34" charset="0"/>
              </a:rPr>
              <a:t>SQL</a:t>
            </a:r>
            <a:r>
              <a:rPr lang="en-US" b="0" i="0" dirty="0">
                <a:solidFill>
                  <a:srgbClr val="161616"/>
                </a:solidFill>
                <a:effectLst/>
                <a:latin typeface="Segoe UI" panose="020B0502040204020203" pitchFamily="34" charset="0"/>
              </a:rPr>
              <a:t> by allowing to switch between </a:t>
            </a:r>
            <a:r>
              <a:rPr lang="en-US" b="0" i="0" dirty="0" err="1">
                <a:solidFill>
                  <a:srgbClr val="161616"/>
                </a:solidFill>
                <a:effectLst/>
                <a:latin typeface="Segoe UI" panose="020B0502040204020203" pitchFamily="34" charset="0"/>
              </a:rPr>
              <a:t>DataFrame</a:t>
            </a:r>
            <a:r>
              <a:rPr lang="en-US" b="0" i="0" dirty="0">
                <a:solidFill>
                  <a:srgbClr val="161616"/>
                </a:solidFill>
                <a:effectLst/>
                <a:latin typeface="Segoe UI" panose="020B0502040204020203" pitchFamily="34" charset="0"/>
              </a:rPr>
              <a:t> operations and SQL queries to interact with the data in a way that feels most natural. </a:t>
            </a:r>
          </a:p>
          <a:p>
            <a:pPr algn="l"/>
            <a:endParaRPr lang="en-US" b="0" i="0" dirty="0">
              <a:solidFill>
                <a:srgbClr val="161616"/>
              </a:solidFill>
              <a:effectLst/>
              <a:latin typeface="Segoe UI" panose="020B0502040204020203" pitchFamily="34" charset="0"/>
            </a:endParaRPr>
          </a:p>
          <a:p>
            <a:pPr algn="l"/>
            <a:endParaRPr lang="en-US" b="0" i="0" dirty="0">
              <a:solidFill>
                <a:srgbClr val="161616"/>
              </a:solidFill>
              <a:effectLst/>
              <a:latin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b="1" i="0" dirty="0">
                <a:solidFill>
                  <a:srgbClr val="161616"/>
                </a:solidFill>
                <a:effectLst/>
                <a:latin typeface="Segoe UI" panose="020B0502040204020203" pitchFamily="34" charset="0"/>
              </a:rPr>
              <a:t>Explore data using libraries and APIs</a:t>
            </a:r>
          </a:p>
          <a:p>
            <a:pPr algn="l"/>
            <a:endParaRPr lang="en-US" b="0" i="0" dirty="0">
              <a:solidFill>
                <a:srgbClr val="161616"/>
              </a:solidFill>
              <a:effectLst/>
              <a:latin typeface="Segoe UI" panose="020B0502040204020203" pitchFamily="34" charset="0"/>
            </a:endParaRPr>
          </a:p>
          <a:p>
            <a:pPr algn="l">
              <a:spcBef>
                <a:spcPts val="2250"/>
              </a:spcBef>
              <a:spcAft>
                <a:spcPts val="1350"/>
              </a:spcAft>
            </a:pPr>
            <a:r>
              <a:rPr lang="en-IN" b="1" i="0" dirty="0">
                <a:solidFill>
                  <a:srgbClr val="161616"/>
                </a:solidFill>
                <a:effectLst/>
                <a:latin typeface="Segoe UI" panose="020B0502040204020203" pitchFamily="34" charset="0"/>
              </a:rPr>
              <a:t>Visualize data with external visualization tools</a:t>
            </a:r>
          </a:p>
          <a:p>
            <a:pPr algn="l"/>
            <a:r>
              <a:rPr lang="en-IN" b="0" i="0" dirty="0">
                <a:solidFill>
                  <a:srgbClr val="161616"/>
                </a:solidFill>
                <a:effectLst/>
                <a:latin typeface="Segoe UI" panose="020B0502040204020203" pitchFamily="34" charset="0"/>
              </a:rPr>
              <a:t>Besides built-in chart options, Azure Databricks integrates with external visualization tools like Tableau or Power BI through </a:t>
            </a:r>
            <a:r>
              <a:rPr lang="en-IN" b="1" i="0" dirty="0">
                <a:solidFill>
                  <a:srgbClr val="161616"/>
                </a:solidFill>
                <a:effectLst/>
                <a:latin typeface="Segoe UI" panose="020B0502040204020203" pitchFamily="34" charset="0"/>
              </a:rPr>
              <a:t>data visualization APIs</a:t>
            </a:r>
            <a:r>
              <a:rPr lang="en-IN" b="0" i="0" dirty="0">
                <a:solidFill>
                  <a:srgbClr val="161616"/>
                </a:solidFill>
                <a:effectLst/>
                <a:latin typeface="Segoe UI" panose="020B0502040204020203" pitchFamily="34" charset="0"/>
              </a:rPr>
              <a:t> for enhanced dashboarding capabilities.</a:t>
            </a:r>
          </a:p>
          <a:p>
            <a:pPr algn="l">
              <a:spcBef>
                <a:spcPts val="2250"/>
              </a:spcBef>
              <a:spcAft>
                <a:spcPts val="1350"/>
              </a:spcAft>
            </a:pPr>
            <a:r>
              <a:rPr lang="en-US" b="1" i="0" dirty="0">
                <a:solidFill>
                  <a:srgbClr val="161616"/>
                </a:solidFill>
                <a:effectLst/>
                <a:latin typeface="Segoe UI" panose="020B0502040204020203" pitchFamily="34" charset="0"/>
              </a:rPr>
              <a:t>Install open-source libraries</a:t>
            </a:r>
          </a:p>
          <a:p>
            <a:pPr algn="l"/>
            <a:r>
              <a:rPr lang="en-US" b="0" i="0" dirty="0">
                <a:solidFill>
                  <a:srgbClr val="161616"/>
                </a:solidFill>
                <a:effectLst/>
                <a:latin typeface="Segoe UI" panose="020B0502040204020203" pitchFamily="34" charset="0"/>
              </a:rPr>
              <a:t>As a data analyst, data engineer, or data scientist, you can use your preferred open-source libraries to explore and process data. Azure Databricks allows you to install Python libraries such as Pandas, NumPy, or Scikit-learn for additional data analysis capabilities.</a:t>
            </a:r>
          </a:p>
          <a:p>
            <a:pPr algn="l">
              <a:spcBef>
                <a:spcPts val="2250"/>
              </a:spcBef>
              <a:spcAft>
                <a:spcPts val="1350"/>
              </a:spcAft>
            </a:pPr>
            <a:r>
              <a:rPr lang="en-US" b="1" i="0" dirty="0">
                <a:solidFill>
                  <a:srgbClr val="161616"/>
                </a:solidFill>
                <a:effectLst/>
                <a:latin typeface="Segoe UI" panose="020B0502040204020203" pitchFamily="34" charset="0"/>
              </a:rPr>
              <a:t>Use </a:t>
            </a:r>
            <a:r>
              <a:rPr lang="en-US" b="1" i="0" dirty="0" err="1">
                <a:solidFill>
                  <a:srgbClr val="161616"/>
                </a:solidFill>
                <a:effectLst/>
                <a:latin typeface="Segoe UI" panose="020B0502040204020203" pitchFamily="34" charset="0"/>
              </a:rPr>
              <a:t>MLlib</a:t>
            </a:r>
            <a:r>
              <a:rPr lang="en-US" b="1" i="0" dirty="0">
                <a:solidFill>
                  <a:srgbClr val="161616"/>
                </a:solidFill>
                <a:effectLst/>
                <a:latin typeface="Segoe UI" panose="020B0502040204020203" pitchFamily="34" charset="0"/>
              </a:rPr>
              <a:t> for machine learning workloads</a:t>
            </a:r>
          </a:p>
          <a:p>
            <a:pPr algn="l"/>
            <a:r>
              <a:rPr lang="en-US" b="0" i="0" dirty="0">
                <a:solidFill>
                  <a:srgbClr val="161616"/>
                </a:solidFill>
                <a:effectLst/>
                <a:latin typeface="Segoe UI" panose="020B0502040204020203" pitchFamily="34" charset="0"/>
              </a:rPr>
              <a:t>You can train machine learning models to help you explore and process your data. With Spark's </a:t>
            </a:r>
            <a:r>
              <a:rPr lang="en-US" b="0" i="0" dirty="0" err="1">
                <a:solidFill>
                  <a:srgbClr val="161616"/>
                </a:solidFill>
                <a:effectLst/>
                <a:latin typeface="Segoe UI" panose="020B0502040204020203" pitchFamily="34" charset="0"/>
              </a:rPr>
              <a:t>MLlib</a:t>
            </a:r>
            <a:r>
              <a:rPr lang="en-US" b="0" i="0" dirty="0">
                <a:solidFill>
                  <a:srgbClr val="161616"/>
                </a:solidFill>
                <a:effectLst/>
                <a:latin typeface="Segoe UI" panose="020B0502040204020203" pitchFamily="34" charset="0"/>
              </a:rPr>
              <a:t>, you make optimal use of the distributed compute clusters that are attached to your notebooks. With the </a:t>
            </a:r>
            <a:r>
              <a:rPr lang="en-US" b="0" i="0" dirty="0" err="1">
                <a:solidFill>
                  <a:srgbClr val="161616"/>
                </a:solidFill>
                <a:effectLst/>
                <a:latin typeface="Segoe UI" panose="020B0502040204020203" pitchFamily="34" charset="0"/>
              </a:rPr>
              <a:t>MLlib</a:t>
            </a:r>
            <a:r>
              <a:rPr lang="en-US" b="0" i="0" dirty="0">
                <a:solidFill>
                  <a:srgbClr val="161616"/>
                </a:solidFill>
                <a:effectLst/>
                <a:latin typeface="Segoe UI" panose="020B0502040204020203" pitchFamily="34" charset="0"/>
              </a:rPr>
              <a:t> library, you can apply machine learning techniques like clustering, regression, and classification, helping you to uncover hidden and complex patterns in your data.</a:t>
            </a:r>
          </a:p>
          <a:p>
            <a:pPr algn="l"/>
            <a:endParaRPr lang="en-US" b="0"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12/4/2024 10:33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720450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04BD9-2429-1139-D337-9C0D9D2C0A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8A910C-2EF5-F8AF-4CB9-C582F3AB32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91A545-E0F1-2A83-A108-A92231CBE6FF}"/>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5" name="Footer Placeholder 4">
            <a:extLst>
              <a:ext uri="{FF2B5EF4-FFF2-40B4-BE49-F238E27FC236}">
                <a16:creationId xmlns:a16="http://schemas.microsoft.com/office/drawing/2014/main" id="{1C4A4F64-36A6-4EC3-E3E8-AFB4C329AF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153193-A5FF-56F6-63EC-7FDC32701503}"/>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3770109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AA0C8-715E-6862-5244-A981CDF975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1E38A6-0487-4EAA-A147-E65EDEE006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3C6783-D790-4A26-4541-B3DB3559649F}"/>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5" name="Footer Placeholder 4">
            <a:extLst>
              <a:ext uri="{FF2B5EF4-FFF2-40B4-BE49-F238E27FC236}">
                <a16:creationId xmlns:a16="http://schemas.microsoft.com/office/drawing/2014/main" id="{BAFB8D89-7BB3-ACBE-7B49-B5F75640C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2D2053-88AA-B488-6A45-399BD5A40F9F}"/>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3577138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BA969-F7D0-1077-E9B2-7D475D2091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7B47F1-C3BA-60B0-9A0D-8749EB48C0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92BDC5-CC02-95CD-1916-EEFA799CD097}"/>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5" name="Footer Placeholder 4">
            <a:extLst>
              <a:ext uri="{FF2B5EF4-FFF2-40B4-BE49-F238E27FC236}">
                <a16:creationId xmlns:a16="http://schemas.microsoft.com/office/drawing/2014/main" id="{B0462F18-333D-AEBE-7E41-45FB3D05B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594D9B-E2D6-8DDD-F90F-888BFE2FDED3}"/>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1948215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1C36-65A1-5394-6120-B0B51A5348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03237F-B55B-6C72-02D5-FA95F3CB95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162D3B-9285-9FF2-F740-23BFA886B0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B63FC8-F4DC-91A6-1D27-936BA16ABA3E}"/>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6" name="Footer Placeholder 5">
            <a:extLst>
              <a:ext uri="{FF2B5EF4-FFF2-40B4-BE49-F238E27FC236}">
                <a16:creationId xmlns:a16="http://schemas.microsoft.com/office/drawing/2014/main" id="{4E2BC89E-7D31-2BDA-0EB9-5BFCA0E3DD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69EC39-8F1B-AE92-50EB-3192E237FBAA}"/>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3481384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3848-CB0F-F529-A4E4-8EC247F0FD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0E2914-748C-FE3A-4D84-DBF45EDE9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888604-EB3C-435B-7ABA-8001F0734A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17577C-BC5C-E1FF-C492-4FBC4693DA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E840AB-AD52-E9BE-F506-620BEE4A19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70CC29-7075-EE78-3847-D91255B5F9AA}"/>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8" name="Footer Placeholder 7">
            <a:extLst>
              <a:ext uri="{FF2B5EF4-FFF2-40B4-BE49-F238E27FC236}">
                <a16:creationId xmlns:a16="http://schemas.microsoft.com/office/drawing/2014/main" id="{8338E97F-A859-BC49-C803-FA3979B34C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2035FD-DA35-B296-33D7-EC869A033EAF}"/>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404809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C6B7-8AEB-C8BB-D9AA-F2D584F62C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503FB1-88B9-E7AD-8FFB-AA3A28A088DC}"/>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4" name="Footer Placeholder 3">
            <a:extLst>
              <a:ext uri="{FF2B5EF4-FFF2-40B4-BE49-F238E27FC236}">
                <a16:creationId xmlns:a16="http://schemas.microsoft.com/office/drawing/2014/main" id="{A8095322-B352-C043-38A5-0E23F2AB84B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ED61C9-BBD5-B40E-F182-F64E52E2325C}"/>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1018384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AE746F-6BEA-A5B4-26B5-E593987C089B}"/>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3" name="Footer Placeholder 2">
            <a:extLst>
              <a:ext uri="{FF2B5EF4-FFF2-40B4-BE49-F238E27FC236}">
                <a16:creationId xmlns:a16="http://schemas.microsoft.com/office/drawing/2014/main" id="{A1B2572D-5FDD-3312-9BF2-597C476600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348AC6B-02CA-EE10-545B-6CB07F22DD6A}"/>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1451404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1E2E8-641F-C372-D467-1E06B5DBFB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850F68-9C35-1965-5478-2C4A8FE68B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A62D05-87F7-40CA-CD54-50694AB5A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0BE71-8A5B-BF03-FECA-9D9C3B533E25}"/>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6" name="Footer Placeholder 5">
            <a:extLst>
              <a:ext uri="{FF2B5EF4-FFF2-40B4-BE49-F238E27FC236}">
                <a16:creationId xmlns:a16="http://schemas.microsoft.com/office/drawing/2014/main" id="{C67218AC-27AE-3508-EEC7-B72F46A54B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F64D4E-76AB-511B-1B24-3CE01E8D0002}"/>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1594315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55F19-82A7-325A-82A5-197A825248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60956E-F026-7608-6A7D-941924C73C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DFF3EE-AB40-798E-1A2E-8FFFD25D31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EAEC97-37B7-27B6-CBF4-195704BA0F25}"/>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6" name="Footer Placeholder 5">
            <a:extLst>
              <a:ext uri="{FF2B5EF4-FFF2-40B4-BE49-F238E27FC236}">
                <a16:creationId xmlns:a16="http://schemas.microsoft.com/office/drawing/2014/main" id="{A4CADB23-97B1-6509-189D-E2FA55260A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BBED8A-8AC7-405D-E650-88581A07D466}"/>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514161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043F-E3D7-5262-9AD4-6AE9B082F9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5709E7-399D-81E8-FAF4-062E5FEA2E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0A99A0-6AAA-346F-0C4B-E4EA41572C03}"/>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5" name="Footer Placeholder 4">
            <a:extLst>
              <a:ext uri="{FF2B5EF4-FFF2-40B4-BE49-F238E27FC236}">
                <a16:creationId xmlns:a16="http://schemas.microsoft.com/office/drawing/2014/main" id="{A033C115-D13B-8E44-9F3D-832DF15DEE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82A39C-89B1-7D7D-C386-918AD64F85E4}"/>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2379409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690C93-4A08-3BDD-7E5D-12290405F4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9AC8B-5BEF-4254-ADD2-9E38BAA430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B12A13-CAE5-9B96-6912-577FECE6F2D8}"/>
              </a:ext>
            </a:extLst>
          </p:cNvPr>
          <p:cNvSpPr>
            <a:spLocks noGrp="1"/>
          </p:cNvSpPr>
          <p:nvPr>
            <p:ph type="dt" sz="half" idx="10"/>
          </p:nvPr>
        </p:nvSpPr>
        <p:spPr/>
        <p:txBody>
          <a:bodyPr/>
          <a:lstStyle/>
          <a:p>
            <a:fld id="{928263C3-D460-41CC-BBBC-A0D64F2EC416}" type="datetimeFigureOut">
              <a:rPr lang="en-IN" smtClean="0"/>
              <a:t>04-12-2024</a:t>
            </a:fld>
            <a:endParaRPr lang="en-IN"/>
          </a:p>
        </p:txBody>
      </p:sp>
      <p:sp>
        <p:nvSpPr>
          <p:cNvPr id="5" name="Footer Placeholder 4">
            <a:extLst>
              <a:ext uri="{FF2B5EF4-FFF2-40B4-BE49-F238E27FC236}">
                <a16:creationId xmlns:a16="http://schemas.microsoft.com/office/drawing/2014/main" id="{487F8EEE-0CC5-3C28-DAAB-DE7989D729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8F5B1-8CA4-8A8C-7DAB-B2F96DD305BF}"/>
              </a:ext>
            </a:extLst>
          </p:cNvPr>
          <p:cNvSpPr>
            <a:spLocks noGrp="1"/>
          </p:cNvSpPr>
          <p:nvPr>
            <p:ph type="sldNum" sz="quarter" idx="12"/>
          </p:nvPr>
        </p:nvSpPr>
        <p:spPr/>
        <p:txBody>
          <a:bodyPr/>
          <a:lstStyle/>
          <a:p>
            <a:fld id="{FF2DA241-7D76-4A09-85A7-C50D532F0007}" type="slidenum">
              <a:rPr lang="en-IN" smtClean="0"/>
              <a:t>‹#›</a:t>
            </a:fld>
            <a:endParaRPr lang="en-IN"/>
          </a:p>
        </p:txBody>
      </p:sp>
    </p:spTree>
    <p:extLst>
      <p:ext uri="{BB962C8B-B14F-4D97-AF65-F5344CB8AC3E}">
        <p14:creationId xmlns:p14="http://schemas.microsoft.com/office/powerpoint/2010/main" val="3182948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3283680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78118953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6832B3-CD5E-8239-D92A-DF71E2F655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2ABF3B-D4E3-5224-035C-41E7AEC7E2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D9CF11-42B5-0148-B12B-34A2638397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8263C3-D460-41CC-BBBC-A0D64F2EC416}" type="datetimeFigureOut">
              <a:rPr lang="en-IN" smtClean="0"/>
              <a:t>04-12-2024</a:t>
            </a:fld>
            <a:endParaRPr lang="en-IN"/>
          </a:p>
        </p:txBody>
      </p:sp>
      <p:sp>
        <p:nvSpPr>
          <p:cNvPr id="5" name="Footer Placeholder 4">
            <a:extLst>
              <a:ext uri="{FF2B5EF4-FFF2-40B4-BE49-F238E27FC236}">
                <a16:creationId xmlns:a16="http://schemas.microsoft.com/office/drawing/2014/main" id="{4176F789-BB9B-914E-CDF7-4B62F07E6A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86C4800-3CB2-A96E-5BA4-9488F9686E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2DA241-7D76-4A09-85A7-C50D532F0007}" type="slidenum">
              <a:rPr lang="en-IN" smtClean="0"/>
              <a:t>‹#›</a:t>
            </a:fld>
            <a:endParaRPr lang="en-IN"/>
          </a:p>
        </p:txBody>
      </p:sp>
    </p:spTree>
    <p:extLst>
      <p:ext uri="{BB962C8B-B14F-4D97-AF65-F5344CB8AC3E}">
        <p14:creationId xmlns:p14="http://schemas.microsoft.com/office/powerpoint/2010/main" val="2972295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3.png"/><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ustomXml" Target="../ink/ink2.xml"/><Relationship Id="rId5" Type="http://schemas.openxmlformats.org/officeDocument/2006/relationships/image" Target="../media/image51.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3" name="Group 32">
            <a:extLst>
              <a:ext uri="{FF2B5EF4-FFF2-40B4-BE49-F238E27FC236}">
                <a16:creationId xmlns:a16="http://schemas.microsoft.com/office/drawing/2014/main" id="{1F9866A9-B167-4D75-8F7F-360025AD6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3490956"/>
            <a:chOff x="651279" y="598259"/>
            <a:chExt cx="10889442" cy="5680742"/>
          </a:xfrm>
        </p:grpSpPr>
        <p:sp>
          <p:nvSpPr>
            <p:cNvPr id="34" name="Color">
              <a:extLst>
                <a:ext uri="{FF2B5EF4-FFF2-40B4-BE49-F238E27FC236}">
                  <a16:creationId xmlns:a16="http://schemas.microsoft.com/office/drawing/2014/main" id="{C2DD07C1-6CFB-48E5-AD0E-AC091042B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Color">
              <a:extLst>
                <a:ext uri="{FF2B5EF4-FFF2-40B4-BE49-F238E27FC236}">
                  <a16:creationId xmlns:a16="http://schemas.microsoft.com/office/drawing/2014/main" id="{F9A8FC0F-BD29-4D9A-ABF1-D75E3A269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id="{0FB1D018-906D-8BCA-96DA-0028E468343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05030" y="1065276"/>
            <a:ext cx="4727448" cy="4727448"/>
          </a:xfrm>
          <a:prstGeom prst="rect">
            <a:avLst/>
          </a:prstGeom>
        </p:spPr>
      </p:pic>
      <p:grpSp>
        <p:nvGrpSpPr>
          <p:cNvPr id="37" name="Group 36">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8" name="Freeform: Shape 37">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2" name="Freeform: Shape 41">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3" name="Freeform: Shape 42">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4" name="Freeform: Shape 43">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678BC9A9-2710-400A-9636-E56AE356CD76}"/>
              </a:ext>
            </a:extLst>
          </p:cNvPr>
          <p:cNvSpPr>
            <a:spLocks noGrp="1"/>
          </p:cNvSpPr>
          <p:nvPr>
            <p:ph type="ctrTitle"/>
          </p:nvPr>
        </p:nvSpPr>
        <p:spPr>
          <a:xfrm>
            <a:off x="790418" y="1277138"/>
            <a:ext cx="5633531" cy="2226769"/>
          </a:xfrm>
        </p:spPr>
        <p:txBody>
          <a:bodyPr anchor="ctr">
            <a:normAutofit/>
          </a:bodyPr>
          <a:lstStyle/>
          <a:p>
            <a:pPr algn="l"/>
            <a:r>
              <a:rPr lang="en-US" sz="4800" dirty="0">
                <a:solidFill>
                  <a:schemeClr val="bg1"/>
                </a:solidFill>
              </a:rPr>
              <a:t>Data Analysis with Azure Databricks</a:t>
            </a:r>
            <a:endParaRPr lang="en-IN" sz="4800" dirty="0">
              <a:solidFill>
                <a:schemeClr val="bg1"/>
              </a:solidFill>
            </a:endParaRPr>
          </a:p>
        </p:txBody>
      </p:sp>
    </p:spTree>
    <p:extLst>
      <p:ext uri="{BB962C8B-B14F-4D97-AF65-F5344CB8AC3E}">
        <p14:creationId xmlns:p14="http://schemas.microsoft.com/office/powerpoint/2010/main" val="220126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75A71E6-09AD-CA7A-D26C-D2B81355EFF6}"/>
              </a:ext>
              <a:ext uri="{C183D7F6-B498-43B3-948B-1728B52AA6E4}">
                <adec:decorative xmlns:adec="http://schemas.microsoft.com/office/drawing/2017/decorative" val="1"/>
              </a:ext>
            </a:extLst>
          </p:cNvPr>
          <p:cNvSpPr/>
          <p:nvPr/>
        </p:nvSpPr>
        <p:spPr bwMode="auto">
          <a:xfrm>
            <a:off x="1997766" y="2246245"/>
            <a:ext cx="8607286" cy="1723550"/>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F7F1C9E7-852C-5A22-65FD-572C1DA9A6EC}"/>
              </a:ext>
            </a:extLst>
          </p:cNvPr>
          <p:cNvSpPr>
            <a:spLocks noGrp="1"/>
          </p:cNvSpPr>
          <p:nvPr>
            <p:ph type="title"/>
          </p:nvPr>
        </p:nvSpPr>
        <p:spPr/>
        <p:txBody>
          <a:bodyPr>
            <a:noAutofit/>
          </a:bodyPr>
          <a:lstStyle/>
          <a:p>
            <a:pPr algn="ctr"/>
            <a:r>
              <a:rPr lang="en-US" sz="3600" dirty="0"/>
              <a:t>What is Azure Databricks?</a:t>
            </a:r>
          </a:p>
        </p:txBody>
      </p:sp>
      <p:sp>
        <p:nvSpPr>
          <p:cNvPr id="5" name="Text Placeholder 4">
            <a:extLst>
              <a:ext uri="{FF2B5EF4-FFF2-40B4-BE49-F238E27FC236}">
                <a16:creationId xmlns:a16="http://schemas.microsoft.com/office/drawing/2014/main" id="{CA86EB0F-96BE-D56D-8A17-81D96082A401}"/>
              </a:ext>
            </a:extLst>
          </p:cNvPr>
          <p:cNvSpPr>
            <a:spLocks noGrp="1"/>
          </p:cNvSpPr>
          <p:nvPr>
            <p:ph type="body" sz="quarter" idx="15"/>
          </p:nvPr>
        </p:nvSpPr>
        <p:spPr>
          <a:xfrm>
            <a:off x="2430335" y="2650464"/>
            <a:ext cx="7339830" cy="1415772"/>
          </a:xfrm>
        </p:spPr>
        <p:txBody>
          <a:bodyPr/>
          <a:lstStyle/>
          <a:p>
            <a:r>
              <a:rPr lang="en-US" sz="2000" dirty="0"/>
              <a:t>Fully-managed data lake analytics platform</a:t>
            </a:r>
          </a:p>
          <a:p>
            <a:r>
              <a:rPr lang="en-US" sz="2000" dirty="0"/>
              <a:t>Based on open-source technologies</a:t>
            </a:r>
          </a:p>
          <a:p>
            <a:r>
              <a:rPr lang="en-US" sz="2000" dirty="0"/>
              <a:t>Integrated with Azure for resource management and security</a:t>
            </a:r>
          </a:p>
          <a:p>
            <a:endParaRPr lang="en-US" sz="2000" dirty="0"/>
          </a:p>
        </p:txBody>
      </p:sp>
      <p:pic>
        <p:nvPicPr>
          <p:cNvPr id="6" name="Graphic 5">
            <a:extLst>
              <a:ext uri="{FF2B5EF4-FFF2-40B4-BE49-F238E27FC236}">
                <a16:creationId xmlns:a16="http://schemas.microsoft.com/office/drawing/2014/main" id="{CEADAAE0-8B15-D1C4-27DD-29F29E44B96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2232" y="2645878"/>
            <a:ext cx="1205534" cy="1205534"/>
          </a:xfrm>
          <a:prstGeom prst="rect">
            <a:avLst/>
          </a:prstGeom>
        </p:spPr>
      </p:pic>
      <p:sp>
        <p:nvSpPr>
          <p:cNvPr id="8" name="TextBox 7">
            <a:extLst>
              <a:ext uri="{FF2B5EF4-FFF2-40B4-BE49-F238E27FC236}">
                <a16:creationId xmlns:a16="http://schemas.microsoft.com/office/drawing/2014/main" id="{0F4E7D7B-F0F6-4865-77B7-191758C0B6DF}"/>
              </a:ext>
            </a:extLst>
          </p:cNvPr>
          <p:cNvSpPr txBox="1"/>
          <p:nvPr/>
        </p:nvSpPr>
        <p:spPr>
          <a:xfrm>
            <a:off x="1997767" y="5025566"/>
            <a:ext cx="8607285" cy="635559"/>
          </a:xfrm>
          <a:prstGeom prst="rect">
            <a:avLst/>
          </a:prstGeom>
          <a:noFill/>
          <a:ln>
            <a:solidFill>
              <a:schemeClr val="accent1"/>
            </a:solidFill>
          </a:ln>
        </p:spPr>
        <p:txBody>
          <a:bodyPr wrap="square">
            <a:spAutoFit/>
          </a:bodyPr>
          <a:lstStyle/>
          <a:p>
            <a:r>
              <a:rPr lang="en-US" b="0" i="0" dirty="0">
                <a:solidFill>
                  <a:srgbClr val="161616"/>
                </a:solidFill>
                <a:effectLst/>
                <a:latin typeface="Segoe UI" panose="020B0502040204020203" pitchFamily="34" charset="0"/>
              </a:rPr>
              <a:t>Azure Databricks is a cloud-based data analytics platform that provides a unified environment for data engineering, machine learning, and analytics</a:t>
            </a:r>
            <a:endParaRPr lang="en-IN" dirty="0"/>
          </a:p>
        </p:txBody>
      </p:sp>
    </p:spTree>
    <p:extLst>
      <p:ext uri="{BB962C8B-B14F-4D97-AF65-F5344CB8AC3E}">
        <p14:creationId xmlns:p14="http://schemas.microsoft.com/office/powerpoint/2010/main" val="1982097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a:xfrm>
            <a:off x="588262" y="585216"/>
            <a:ext cx="11013474" cy="492443"/>
          </a:xfrm>
        </p:spPr>
        <p:txBody>
          <a:bodyPr>
            <a:normAutofit fontScale="90000"/>
          </a:bodyPr>
          <a:lstStyle/>
          <a:p>
            <a:r>
              <a:rPr lang="en-US" sz="3200" dirty="0"/>
              <a:t>Azure Databricks workloads</a:t>
            </a:r>
            <a:endParaRPr lang="en-US" sz="3200" dirty="0">
              <a:solidFill>
                <a:schemeClr val="bg1">
                  <a:lumMod val="50000"/>
                </a:schemeClr>
              </a:solidFill>
            </a:endParaRPr>
          </a:p>
        </p:txBody>
      </p:sp>
      <p:graphicFrame>
        <p:nvGraphicFramePr>
          <p:cNvPr id="16" name="Table 16">
            <a:extLst>
              <a:ext uri="{FF2B5EF4-FFF2-40B4-BE49-F238E27FC236}">
                <a16:creationId xmlns:a16="http://schemas.microsoft.com/office/drawing/2014/main" id="{FD0F6227-911B-BA94-7425-AD972B13FC8F}"/>
              </a:ext>
              <a:ext uri="{C183D7F6-B498-43B3-948B-1728B52AA6E4}">
                <adec:decorative xmlns:adec="http://schemas.microsoft.com/office/drawing/2017/decorative" val="0"/>
              </a:ext>
            </a:extLst>
          </p:cNvPr>
          <p:cNvGraphicFramePr>
            <a:graphicFrameLocks noGrp="1"/>
          </p:cNvGraphicFramePr>
          <p:nvPr/>
        </p:nvGraphicFramePr>
        <p:xfrm>
          <a:off x="221629" y="1570819"/>
          <a:ext cx="11689110" cy="3802236"/>
        </p:xfrm>
        <a:graphic>
          <a:graphicData uri="http://schemas.openxmlformats.org/drawingml/2006/table">
            <a:tbl>
              <a:tblPr firstRow="1" bandRow="1">
                <a:tableStyleId>{5C22544A-7EE6-4342-B048-85BDC9FD1C3A}</a:tableStyleId>
              </a:tblPr>
              <a:tblGrid>
                <a:gridCol w="3896370">
                  <a:extLst>
                    <a:ext uri="{9D8B030D-6E8A-4147-A177-3AD203B41FA5}">
                      <a16:colId xmlns:a16="http://schemas.microsoft.com/office/drawing/2014/main" val="3072538384"/>
                    </a:ext>
                  </a:extLst>
                </a:gridCol>
                <a:gridCol w="3896370">
                  <a:extLst>
                    <a:ext uri="{9D8B030D-6E8A-4147-A177-3AD203B41FA5}">
                      <a16:colId xmlns:a16="http://schemas.microsoft.com/office/drawing/2014/main" val="1548079632"/>
                    </a:ext>
                  </a:extLst>
                </a:gridCol>
                <a:gridCol w="3896370">
                  <a:extLst>
                    <a:ext uri="{9D8B030D-6E8A-4147-A177-3AD203B41FA5}">
                      <a16:colId xmlns:a16="http://schemas.microsoft.com/office/drawing/2014/main" val="145538181"/>
                    </a:ext>
                  </a:extLst>
                </a:gridCol>
              </a:tblGrid>
              <a:tr h="373330">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2000" dirty="0"/>
                        <a:t>Data Science and Engineering</a:t>
                      </a:r>
                    </a:p>
                  </a:txBody>
                  <a:tcPr>
                    <a:solidFill>
                      <a:srgbClr val="0070C0"/>
                    </a:solidFill>
                  </a:tcPr>
                </a:tc>
                <a:tc>
                  <a:txBody>
                    <a:bodyPr/>
                    <a:lstStyle/>
                    <a:p>
                      <a:pPr algn="ctr"/>
                      <a:r>
                        <a:rPr lang="en-US" sz="2000" dirty="0"/>
                        <a:t>Machine Learning</a:t>
                      </a:r>
                    </a:p>
                  </a:txBody>
                  <a:tcPr>
                    <a:solidFill>
                      <a:srgbClr val="0070C0"/>
                    </a:solidFill>
                  </a:tcPr>
                </a:tc>
                <a:tc>
                  <a:txBody>
                    <a:bodyPr/>
                    <a:lstStyle/>
                    <a:p>
                      <a:pPr algn="ctr"/>
                      <a:r>
                        <a:rPr lang="en-US" sz="2000" dirty="0"/>
                        <a:t>SQL</a:t>
                      </a:r>
                    </a:p>
                  </a:txBody>
                  <a:tcPr>
                    <a:solidFill>
                      <a:srgbClr val="0070C0"/>
                    </a:solidFill>
                  </a:tcPr>
                </a:tc>
                <a:extLst>
                  <a:ext uri="{0D108BD9-81ED-4DB2-BD59-A6C34878D82A}">
                    <a16:rowId xmlns:a16="http://schemas.microsoft.com/office/drawing/2014/main" val="2153694392"/>
                  </a:ext>
                </a:extLst>
              </a:tr>
              <a:tr h="3405996">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3764302656"/>
                  </a:ext>
                </a:extLst>
              </a:tr>
            </a:tbl>
          </a:graphicData>
        </a:graphic>
      </p:graphicFrame>
      <p:pic>
        <p:nvPicPr>
          <p:cNvPr id="7" name="Picture 6" descr="A screenshot showing Databricks data sources">
            <a:extLst>
              <a:ext uri="{FF2B5EF4-FFF2-40B4-BE49-F238E27FC236}">
                <a16:creationId xmlns:a16="http://schemas.microsoft.com/office/drawing/2014/main" id="{E3F9B6B2-3B5B-79E1-B0F1-2D45FD571FF0}"/>
              </a:ext>
            </a:extLst>
          </p:cNvPr>
          <p:cNvPicPr>
            <a:picLocks noChangeAspect="1"/>
          </p:cNvPicPr>
          <p:nvPr/>
        </p:nvPicPr>
        <p:blipFill>
          <a:blip r:embed="rId3"/>
          <a:stretch>
            <a:fillRect/>
          </a:stretch>
        </p:blipFill>
        <p:spPr>
          <a:xfrm>
            <a:off x="281261" y="2176989"/>
            <a:ext cx="3779209" cy="2735203"/>
          </a:xfrm>
          <a:prstGeom prst="rect">
            <a:avLst/>
          </a:prstGeom>
          <a:ln>
            <a:solidFill>
              <a:schemeClr val="tx1"/>
            </a:solidFill>
          </a:ln>
        </p:spPr>
      </p:pic>
      <p:pic>
        <p:nvPicPr>
          <p:cNvPr id="10" name="Picture 9" descr="A screenshot showing a machine learning model in Databricks">
            <a:extLst>
              <a:ext uri="{FF2B5EF4-FFF2-40B4-BE49-F238E27FC236}">
                <a16:creationId xmlns:a16="http://schemas.microsoft.com/office/drawing/2014/main" id="{87C6979A-AA3F-80FF-864D-552BAC97214B}"/>
              </a:ext>
            </a:extLst>
          </p:cNvPr>
          <p:cNvPicPr>
            <a:picLocks noChangeAspect="1"/>
          </p:cNvPicPr>
          <p:nvPr/>
        </p:nvPicPr>
        <p:blipFill>
          <a:blip r:embed="rId4"/>
          <a:stretch>
            <a:fillRect/>
          </a:stretch>
        </p:blipFill>
        <p:spPr>
          <a:xfrm>
            <a:off x="4176579" y="2176989"/>
            <a:ext cx="3779209" cy="2735203"/>
          </a:xfrm>
          <a:prstGeom prst="rect">
            <a:avLst/>
          </a:prstGeom>
          <a:ln>
            <a:solidFill>
              <a:schemeClr val="tx1"/>
            </a:solidFill>
          </a:ln>
        </p:spPr>
      </p:pic>
      <p:pic>
        <p:nvPicPr>
          <p:cNvPr id="5" name="Picture 4" descr="A screenshot showing a SQL query in Databricks">
            <a:extLst>
              <a:ext uri="{FF2B5EF4-FFF2-40B4-BE49-F238E27FC236}">
                <a16:creationId xmlns:a16="http://schemas.microsoft.com/office/drawing/2014/main" id="{0F567F9A-C0F6-748A-E9D8-ECA0076F4C96}"/>
              </a:ext>
            </a:extLst>
          </p:cNvPr>
          <p:cNvPicPr>
            <a:picLocks noChangeAspect="1"/>
          </p:cNvPicPr>
          <p:nvPr/>
        </p:nvPicPr>
        <p:blipFill>
          <a:blip r:embed="rId5"/>
          <a:stretch>
            <a:fillRect/>
          </a:stretch>
        </p:blipFill>
        <p:spPr>
          <a:xfrm>
            <a:off x="8043659" y="2176988"/>
            <a:ext cx="3779209" cy="2735203"/>
          </a:xfrm>
          <a:prstGeom prst="rect">
            <a:avLst/>
          </a:prstGeom>
          <a:ln>
            <a:solidFill>
              <a:schemeClr val="tx1"/>
            </a:solidFill>
          </a:ln>
        </p:spPr>
      </p:pic>
      <p:pic>
        <p:nvPicPr>
          <p:cNvPr id="3" name="Picture 2">
            <a:extLst>
              <a:ext uri="{FF2B5EF4-FFF2-40B4-BE49-F238E27FC236}">
                <a16:creationId xmlns:a16="http://schemas.microsoft.com/office/drawing/2014/main" id="{055520A1-690B-F51C-9E1C-111493FACCC3}"/>
              </a:ext>
            </a:extLst>
          </p:cNvPr>
          <p:cNvPicPr>
            <a:picLocks noChangeAspect="1"/>
          </p:cNvPicPr>
          <p:nvPr/>
        </p:nvPicPr>
        <p:blipFill>
          <a:blip r:embed="rId6"/>
          <a:stretch>
            <a:fillRect/>
          </a:stretch>
        </p:blipFill>
        <p:spPr>
          <a:xfrm>
            <a:off x="1200642" y="5287181"/>
            <a:ext cx="8857341" cy="1012024"/>
          </a:xfrm>
          <a:prstGeom prst="rect">
            <a:avLst/>
          </a:prstGeom>
        </p:spPr>
      </p:pic>
    </p:spTree>
    <p:extLst>
      <p:ext uri="{BB962C8B-B14F-4D97-AF65-F5344CB8AC3E}">
        <p14:creationId xmlns:p14="http://schemas.microsoft.com/office/powerpoint/2010/main" val="17432086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0776B-ADFA-1C6D-4C9F-14AFED25B9D9}"/>
              </a:ext>
            </a:extLst>
          </p:cNvPr>
          <p:cNvSpPr>
            <a:spLocks noGrp="1"/>
          </p:cNvSpPr>
          <p:nvPr>
            <p:ph type="title"/>
          </p:nvPr>
        </p:nvSpPr>
        <p:spPr>
          <a:xfrm>
            <a:off x="490291" y="920872"/>
            <a:ext cx="10430257" cy="307777"/>
          </a:xfrm>
        </p:spPr>
        <p:txBody>
          <a:bodyPr wrap="square" anchor="ctr">
            <a:noAutofit/>
          </a:bodyPr>
          <a:lstStyle/>
          <a:p>
            <a:r>
              <a:rPr lang="en-US" sz="2400" dirty="0"/>
              <a:t>Key concepts</a:t>
            </a:r>
          </a:p>
        </p:txBody>
      </p:sp>
      <p:graphicFrame>
        <p:nvGraphicFramePr>
          <p:cNvPr id="12" name="Text Placeholder 2" descr="Icon with a folder for a workspace">
            <a:extLst>
              <a:ext uri="{FF2B5EF4-FFF2-40B4-BE49-F238E27FC236}">
                <a16:creationId xmlns:a16="http://schemas.microsoft.com/office/drawing/2014/main" id="{1C0C0CBF-D0FD-9A10-9DE0-BD57F254EAC2}"/>
              </a:ext>
            </a:extLst>
          </p:cNvPr>
          <p:cNvGraphicFramePr/>
          <p:nvPr>
            <p:extLst>
              <p:ext uri="{D42A27DB-BD31-4B8C-83A1-F6EECF244321}">
                <p14:modId xmlns:p14="http://schemas.microsoft.com/office/powerpoint/2010/main" val="2675456613"/>
              </p:ext>
            </p:extLst>
          </p:nvPr>
        </p:nvGraphicFramePr>
        <p:xfrm>
          <a:off x="490291" y="1338412"/>
          <a:ext cx="11538423" cy="5344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6AF55186-092E-A660-4627-773AD0CFA89F}"/>
              </a:ext>
            </a:extLst>
          </p:cNvPr>
          <p:cNvSpPr txBox="1"/>
          <p:nvPr/>
        </p:nvSpPr>
        <p:spPr>
          <a:xfrm>
            <a:off x="579438" y="175550"/>
            <a:ext cx="10439082" cy="635559"/>
          </a:xfrm>
          <a:prstGeom prst="rect">
            <a:avLst/>
          </a:prstGeom>
          <a:noFill/>
          <a:ln>
            <a:solidFill>
              <a:schemeClr val="accent1"/>
            </a:solidFill>
          </a:ln>
        </p:spPr>
        <p:txBody>
          <a:bodyPr wrap="square">
            <a:spAutoFit/>
          </a:bodyPr>
          <a:lstStyle/>
          <a:p>
            <a:pPr algn="ctr"/>
            <a:r>
              <a:rPr lang="en-US" b="1" i="0" dirty="0">
                <a:solidFill>
                  <a:srgbClr val="161616"/>
                </a:solidFill>
                <a:effectLst/>
                <a:latin typeface="Segoe UI" panose="020B0502040204020203" pitchFamily="34" charset="0"/>
              </a:rPr>
              <a:t>Azure Databricks is a single service platform with multiple technologies that enable working with data at scale</a:t>
            </a:r>
            <a:endParaRPr lang="en-IN" b="1" dirty="0"/>
          </a:p>
        </p:txBody>
      </p:sp>
    </p:spTree>
    <p:extLst>
      <p:ext uri="{BB962C8B-B14F-4D97-AF65-F5344CB8AC3E}">
        <p14:creationId xmlns:p14="http://schemas.microsoft.com/office/powerpoint/2010/main" val="112561318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C0FD9AF-A0FF-9270-AC30-27CE687ABE93}"/>
              </a:ext>
            </a:extLst>
          </p:cNvPr>
          <p:cNvPicPr>
            <a:picLocks noChangeAspect="1"/>
          </p:cNvPicPr>
          <p:nvPr/>
        </p:nvPicPr>
        <p:blipFill>
          <a:blip r:embed="rId3"/>
          <a:stretch>
            <a:fillRect/>
          </a:stretch>
        </p:blipFill>
        <p:spPr>
          <a:xfrm>
            <a:off x="2655094" y="561637"/>
            <a:ext cx="7582813" cy="5859446"/>
          </a:xfrm>
          <a:prstGeom prst="rect">
            <a:avLst/>
          </a:prstGeom>
        </p:spPr>
      </p:pic>
      <p:sp>
        <p:nvSpPr>
          <p:cNvPr id="7" name="TextBox 6">
            <a:extLst>
              <a:ext uri="{FF2B5EF4-FFF2-40B4-BE49-F238E27FC236}">
                <a16:creationId xmlns:a16="http://schemas.microsoft.com/office/drawing/2014/main" id="{3324233B-C104-1F28-FAC9-52CB2D99EBEE}"/>
              </a:ext>
            </a:extLst>
          </p:cNvPr>
          <p:cNvSpPr txBox="1"/>
          <p:nvPr/>
        </p:nvSpPr>
        <p:spPr>
          <a:xfrm>
            <a:off x="3396976" y="197691"/>
            <a:ext cx="6099048" cy="363946"/>
          </a:xfrm>
          <a:prstGeom prst="rect">
            <a:avLst/>
          </a:prstGeom>
          <a:noFill/>
        </p:spPr>
        <p:txBody>
          <a:bodyPr wrap="square">
            <a:spAutoFit/>
          </a:bodyPr>
          <a:lstStyle/>
          <a:p>
            <a:r>
              <a:rPr lang="en-US" dirty="0"/>
              <a:t>Modern analytics architecture with Azure Databricks</a:t>
            </a:r>
            <a:endParaRPr lang="en-IN" dirty="0"/>
          </a:p>
        </p:txBody>
      </p:sp>
    </p:spTree>
    <p:extLst>
      <p:ext uri="{BB962C8B-B14F-4D97-AF65-F5344CB8AC3E}">
        <p14:creationId xmlns:p14="http://schemas.microsoft.com/office/powerpoint/2010/main" val="1306618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a:xfrm>
            <a:off x="588262" y="585216"/>
            <a:ext cx="11013474" cy="738664"/>
          </a:xfrm>
        </p:spPr>
        <p:txBody>
          <a:bodyPr>
            <a:normAutofit fontScale="90000"/>
          </a:bodyPr>
          <a:lstStyle/>
          <a:p>
            <a:r>
              <a:rPr lang="en-US" dirty="0"/>
              <a:t>How to ingest data with Databricks</a:t>
            </a:r>
            <a:br>
              <a:rPr lang="en-US" dirty="0"/>
            </a:br>
            <a:endParaRPr lang="en-US" dirty="0">
              <a:solidFill>
                <a:schemeClr val="bg1">
                  <a:lumMod val="50000"/>
                </a:schemeClr>
              </a:solidFill>
            </a:endParaRPr>
          </a:p>
        </p:txBody>
      </p:sp>
      <p:sp>
        <p:nvSpPr>
          <p:cNvPr id="13" name="Rectangle: Rounded Corners 12">
            <a:extLst>
              <a:ext uri="{FF2B5EF4-FFF2-40B4-BE49-F238E27FC236}">
                <a16:creationId xmlns:a16="http://schemas.microsoft.com/office/drawing/2014/main" id="{B76A69C9-A62C-83C8-3FB2-F41A5D278458}"/>
              </a:ext>
              <a:ext uri="{C183D7F6-B498-43B3-948B-1728B52AA6E4}">
                <adec:decorative xmlns:adec="http://schemas.microsoft.com/office/drawing/2017/decorative" val="1"/>
              </a:ext>
            </a:extLst>
          </p:cNvPr>
          <p:cNvSpPr/>
          <p:nvPr/>
        </p:nvSpPr>
        <p:spPr bwMode="auto">
          <a:xfrm>
            <a:off x="96601" y="1864242"/>
            <a:ext cx="8738927" cy="3253896"/>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indent="-342900" algn="l">
              <a:buFont typeface="Wingdings" panose="05000000000000000000" pitchFamily="2" charset="2"/>
              <a:buChar char="Ø"/>
            </a:pPr>
            <a:r>
              <a:rPr lang="en-US" sz="1800" dirty="0">
                <a:solidFill>
                  <a:srgbClr val="161616"/>
                </a:solidFill>
                <a:latin typeface="Segoe UI" panose="020B0502040204020203" pitchFamily="34" charset="0"/>
              </a:rPr>
              <a:t>Event Hubs and IoT Hubs</a:t>
            </a:r>
          </a:p>
          <a:p>
            <a:pPr marL="342900" indent="-342900" algn="l">
              <a:buFont typeface="Wingdings" panose="05000000000000000000" pitchFamily="2" charset="2"/>
              <a:buChar char="Ø"/>
            </a:pPr>
            <a:endParaRPr lang="en-US" sz="1800" dirty="0">
              <a:solidFill>
                <a:srgbClr val="161616"/>
              </a:solidFill>
              <a:latin typeface="Segoe UI" panose="020B0502040204020203" pitchFamily="34" charset="0"/>
            </a:endParaRPr>
          </a:p>
          <a:p>
            <a:pPr marL="342900" indent="-342900" algn="l">
              <a:buFont typeface="Wingdings" panose="05000000000000000000" pitchFamily="2" charset="2"/>
              <a:buChar char="Ø"/>
            </a:pPr>
            <a:endParaRPr lang="en-US" sz="1800" dirty="0">
              <a:solidFill>
                <a:srgbClr val="161616"/>
              </a:solidFill>
              <a:latin typeface="Segoe UI" panose="020B0502040204020203" pitchFamily="34" charset="0"/>
            </a:endParaRPr>
          </a:p>
          <a:p>
            <a:pPr marL="342900" indent="-342900" algn="l">
              <a:buFont typeface="Wingdings" panose="05000000000000000000" pitchFamily="2" charset="2"/>
              <a:buChar char="Ø"/>
            </a:pPr>
            <a:endParaRPr lang="en-US" sz="1800" dirty="0">
              <a:solidFill>
                <a:srgbClr val="161616"/>
              </a:solidFill>
              <a:latin typeface="Segoe UI" panose="020B0502040204020203" pitchFamily="34" charset="0"/>
            </a:endParaRPr>
          </a:p>
          <a:p>
            <a:pPr marL="342900" indent="-342900">
              <a:buFont typeface="Wingdings" panose="05000000000000000000" pitchFamily="2" charset="2"/>
              <a:buChar char="Ø"/>
            </a:pPr>
            <a:r>
              <a:rPr lang="en-US" sz="1800" dirty="0">
                <a:solidFill>
                  <a:srgbClr val="161616"/>
                </a:solidFill>
                <a:latin typeface="Segoe UI" panose="020B0502040204020203" pitchFamily="34" charset="0"/>
              </a:rPr>
              <a:t>Data pipelines with Azure Data Factory</a:t>
            </a:r>
          </a:p>
          <a:p>
            <a:pPr marL="342900" indent="-342900">
              <a:buFont typeface="Wingdings" panose="05000000000000000000" pitchFamily="2" charset="2"/>
              <a:buChar char="Ø"/>
            </a:pPr>
            <a:endParaRPr lang="en-US" sz="1800" dirty="0">
              <a:solidFill>
                <a:srgbClr val="161616"/>
              </a:solidFill>
              <a:latin typeface="Segoe UI" panose="020B0502040204020203" pitchFamily="34" charset="0"/>
            </a:endParaRPr>
          </a:p>
          <a:p>
            <a:pPr marL="342900" indent="-342900">
              <a:buFont typeface="Wingdings" panose="05000000000000000000" pitchFamily="2" charset="2"/>
              <a:buChar char="Ø"/>
            </a:pPr>
            <a:endParaRPr lang="en-US" sz="1800" dirty="0">
              <a:solidFill>
                <a:srgbClr val="161616"/>
              </a:solidFill>
              <a:latin typeface="Segoe UI" panose="020B0502040204020203" pitchFamily="34" charset="0"/>
            </a:endParaRPr>
          </a:p>
          <a:p>
            <a:pPr marL="342900" indent="-342900">
              <a:buFont typeface="Wingdings" panose="05000000000000000000" pitchFamily="2" charset="2"/>
              <a:buChar char="Ø"/>
            </a:pPr>
            <a:endParaRPr lang="en-US" sz="1800" dirty="0">
              <a:solidFill>
                <a:srgbClr val="161616"/>
              </a:solidFill>
              <a:latin typeface="Segoe UI" panose="020B0502040204020203" pitchFamily="34" charset="0"/>
            </a:endParaRPr>
          </a:p>
          <a:p>
            <a:pPr marL="342900" indent="-342900" algn="l">
              <a:buFont typeface="Wingdings" panose="05000000000000000000" pitchFamily="2" charset="2"/>
              <a:buChar char="Ø"/>
            </a:pPr>
            <a:r>
              <a:rPr lang="en-US" sz="1800" i="0" dirty="0">
                <a:solidFill>
                  <a:srgbClr val="161616"/>
                </a:solidFill>
                <a:effectLst/>
                <a:latin typeface="Segoe UI" panose="020B0502040204020203" pitchFamily="34" charset="0"/>
              </a:rPr>
              <a:t>Directly from Azu</a:t>
            </a:r>
            <a:r>
              <a:rPr lang="en-US" sz="1800" dirty="0">
                <a:solidFill>
                  <a:srgbClr val="161616"/>
                </a:solidFill>
                <a:latin typeface="Segoe UI" panose="020B0502040204020203" pitchFamily="34" charset="0"/>
              </a:rPr>
              <a:t>re Blob Storage and Azure Data Lake</a:t>
            </a:r>
            <a:endParaRPr lang="en-US" sz="2000" i="0" dirty="0">
              <a:solidFill>
                <a:srgbClr val="161616"/>
              </a:solidFill>
              <a:effectLst/>
              <a:latin typeface="Segoe UI" panose="020B0502040204020203" pitchFamily="34" charset="0"/>
            </a:endParaRPr>
          </a:p>
        </p:txBody>
      </p:sp>
      <p:pic>
        <p:nvPicPr>
          <p:cNvPr id="3" name="Picture 2">
            <a:extLst>
              <a:ext uri="{FF2B5EF4-FFF2-40B4-BE49-F238E27FC236}">
                <a16:creationId xmlns:a16="http://schemas.microsoft.com/office/drawing/2014/main" id="{CD5BA38E-F2BF-291F-41E4-3F48CB89D4A6}"/>
              </a:ext>
            </a:extLst>
          </p:cNvPr>
          <p:cNvPicPr>
            <a:picLocks noChangeAspect="1"/>
          </p:cNvPicPr>
          <p:nvPr/>
        </p:nvPicPr>
        <p:blipFill>
          <a:blip r:embed="rId3"/>
          <a:stretch>
            <a:fillRect/>
          </a:stretch>
        </p:blipFill>
        <p:spPr>
          <a:xfrm>
            <a:off x="6463040" y="1125578"/>
            <a:ext cx="5728960" cy="4426924"/>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E44168F9-0FB0-08DA-09C9-D502D246C6E0}"/>
                  </a:ext>
                </a:extLst>
              </p14:cNvPr>
              <p14:cNvContentPartPr/>
              <p14:nvPr/>
            </p14:nvContentPartPr>
            <p14:xfrm>
              <a:off x="6925787" y="2392935"/>
              <a:ext cx="360" cy="360"/>
            </p14:xfrm>
          </p:contentPart>
        </mc:Choice>
        <mc:Fallback xmlns="">
          <p:pic>
            <p:nvPicPr>
              <p:cNvPr id="9" name="Ink 8">
                <a:extLst>
                  <a:ext uri="{FF2B5EF4-FFF2-40B4-BE49-F238E27FC236}">
                    <a16:creationId xmlns:a16="http://schemas.microsoft.com/office/drawing/2014/main" id="{E44168F9-0FB0-08DA-09C9-D502D246C6E0}"/>
                  </a:ext>
                </a:extLst>
              </p:cNvPr>
              <p:cNvPicPr/>
              <p:nvPr/>
            </p:nvPicPr>
            <p:blipFill>
              <a:blip r:embed="rId5"/>
              <a:stretch>
                <a:fillRect/>
              </a:stretch>
            </p:blipFill>
            <p:spPr>
              <a:xfrm>
                <a:off x="6908147" y="237493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79AE5912-C31A-169B-668D-1CC674D84E54}"/>
                  </a:ext>
                </a:extLst>
              </p14:cNvPr>
              <p14:cNvContentPartPr/>
              <p14:nvPr/>
            </p14:nvContentPartPr>
            <p14:xfrm>
              <a:off x="6906707" y="3384735"/>
              <a:ext cx="360" cy="360"/>
            </p14:xfrm>
          </p:contentPart>
        </mc:Choice>
        <mc:Fallback xmlns="">
          <p:pic>
            <p:nvPicPr>
              <p:cNvPr id="10" name="Ink 9">
                <a:extLst>
                  <a:ext uri="{FF2B5EF4-FFF2-40B4-BE49-F238E27FC236}">
                    <a16:creationId xmlns:a16="http://schemas.microsoft.com/office/drawing/2014/main" id="{79AE5912-C31A-169B-668D-1CC674D84E54}"/>
                  </a:ext>
                </a:extLst>
              </p:cNvPr>
              <p:cNvPicPr/>
              <p:nvPr/>
            </p:nvPicPr>
            <p:blipFill>
              <a:blip r:embed="rId5"/>
              <a:stretch>
                <a:fillRect/>
              </a:stretch>
            </p:blipFill>
            <p:spPr>
              <a:xfrm>
                <a:off x="6889067" y="336709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E2F1421-B0AF-A529-A98F-23D25B937949}"/>
                  </a:ext>
                </a:extLst>
              </p14:cNvPr>
              <p14:cNvContentPartPr/>
              <p14:nvPr/>
            </p14:nvContentPartPr>
            <p14:xfrm>
              <a:off x="8910467" y="4182495"/>
              <a:ext cx="360" cy="360"/>
            </p14:xfrm>
          </p:contentPart>
        </mc:Choice>
        <mc:Fallback xmlns="">
          <p:pic>
            <p:nvPicPr>
              <p:cNvPr id="11" name="Ink 10">
                <a:extLst>
                  <a:ext uri="{FF2B5EF4-FFF2-40B4-BE49-F238E27FC236}">
                    <a16:creationId xmlns:a16="http://schemas.microsoft.com/office/drawing/2014/main" id="{9E2F1421-B0AF-A529-A98F-23D25B937949}"/>
                  </a:ext>
                </a:extLst>
              </p:cNvPr>
              <p:cNvPicPr/>
              <p:nvPr/>
            </p:nvPicPr>
            <p:blipFill>
              <a:blip r:embed="rId5"/>
              <a:stretch>
                <a:fillRect/>
              </a:stretch>
            </p:blipFill>
            <p:spPr>
              <a:xfrm>
                <a:off x="8892827" y="416485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3D90383A-36E6-2FE8-BB0D-74E76641F049}"/>
                  </a:ext>
                </a:extLst>
              </p14:cNvPr>
              <p14:cNvContentPartPr/>
              <p14:nvPr/>
            </p14:nvContentPartPr>
            <p14:xfrm>
              <a:off x="7431947" y="3774615"/>
              <a:ext cx="360" cy="360"/>
            </p14:xfrm>
          </p:contentPart>
        </mc:Choice>
        <mc:Fallback xmlns="">
          <p:pic>
            <p:nvPicPr>
              <p:cNvPr id="12" name="Ink 11">
                <a:extLst>
                  <a:ext uri="{FF2B5EF4-FFF2-40B4-BE49-F238E27FC236}">
                    <a16:creationId xmlns:a16="http://schemas.microsoft.com/office/drawing/2014/main" id="{3D90383A-36E6-2FE8-BB0D-74E76641F049}"/>
                  </a:ext>
                </a:extLst>
              </p:cNvPr>
              <p:cNvPicPr/>
              <p:nvPr/>
            </p:nvPicPr>
            <p:blipFill>
              <a:blip r:embed="rId5"/>
              <a:stretch>
                <a:fillRect/>
              </a:stretch>
            </p:blipFill>
            <p:spPr>
              <a:xfrm>
                <a:off x="7413947" y="3756615"/>
                <a:ext cx="36000" cy="36000"/>
              </a:xfrm>
              <a:prstGeom prst="rect">
                <a:avLst/>
              </a:prstGeom>
            </p:spPr>
          </p:pic>
        </mc:Fallback>
      </mc:AlternateContent>
    </p:spTree>
    <p:extLst>
      <p:ext uri="{BB962C8B-B14F-4D97-AF65-F5344CB8AC3E}">
        <p14:creationId xmlns:p14="http://schemas.microsoft.com/office/powerpoint/2010/main" val="36150226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811818-660D-8784-7DD8-6C1E3E8327C8}"/>
              </a:ext>
            </a:extLst>
          </p:cNvPr>
          <p:cNvSpPr txBox="1"/>
          <p:nvPr/>
        </p:nvSpPr>
        <p:spPr>
          <a:xfrm>
            <a:off x="1559790" y="303685"/>
            <a:ext cx="9884229"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Once your data is ingested, you can explore your data to uncover actionable insights. Azure Databricks notebooks provide a collaborative environment where you can perform analysis using </a:t>
            </a:r>
            <a:r>
              <a:rPr lang="en-US" dirty="0" err="1"/>
              <a:t>PySpark</a:t>
            </a:r>
            <a:r>
              <a:rPr lang="en-US" dirty="0"/>
              <a:t>, Scala, R, or SQL. These notebooks aren't just powerful but also user-friendly, making it easy to manipulate and visualize your data.</a:t>
            </a:r>
            <a:endParaRPr lang="en-IN" dirty="0"/>
          </a:p>
        </p:txBody>
      </p:sp>
      <p:pic>
        <p:nvPicPr>
          <p:cNvPr id="6" name="Picture 5">
            <a:extLst>
              <a:ext uri="{FF2B5EF4-FFF2-40B4-BE49-F238E27FC236}">
                <a16:creationId xmlns:a16="http://schemas.microsoft.com/office/drawing/2014/main" id="{27D659DA-9956-23EE-3054-A5C495D02653}"/>
              </a:ext>
            </a:extLst>
          </p:cNvPr>
          <p:cNvPicPr>
            <a:picLocks noChangeAspect="1"/>
          </p:cNvPicPr>
          <p:nvPr/>
        </p:nvPicPr>
        <p:blipFill>
          <a:blip r:embed="rId2"/>
          <a:stretch>
            <a:fillRect/>
          </a:stretch>
        </p:blipFill>
        <p:spPr>
          <a:xfrm>
            <a:off x="1559790" y="1810398"/>
            <a:ext cx="9487831" cy="4743917"/>
          </a:xfrm>
          <a:prstGeom prst="rect">
            <a:avLst/>
          </a:prstGeom>
        </p:spPr>
      </p:pic>
    </p:spTree>
    <p:extLst>
      <p:ext uri="{BB962C8B-B14F-4D97-AF65-F5344CB8AC3E}">
        <p14:creationId xmlns:p14="http://schemas.microsoft.com/office/powerpoint/2010/main" val="2803779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a:xfrm>
            <a:off x="316411" y="1221478"/>
            <a:ext cx="11013474" cy="738664"/>
          </a:xfrm>
        </p:spPr>
        <p:txBody>
          <a:bodyPr>
            <a:normAutofit fontScale="90000"/>
          </a:bodyPr>
          <a:lstStyle/>
          <a:p>
            <a:r>
              <a:rPr lang="en-US" dirty="0"/>
              <a:t>Data analysis using DataFrame APIs</a:t>
            </a:r>
            <a:br>
              <a:rPr lang="en-US" dirty="0"/>
            </a:br>
            <a:endParaRPr lang="en-US" dirty="0">
              <a:solidFill>
                <a:schemeClr val="bg1">
                  <a:lumMod val="50000"/>
                </a:schemeClr>
              </a:solidFill>
            </a:endParaRPr>
          </a:p>
        </p:txBody>
      </p:sp>
      <p:sp>
        <p:nvSpPr>
          <p:cNvPr id="9" name="TextBox 8">
            <a:extLst>
              <a:ext uri="{FF2B5EF4-FFF2-40B4-BE49-F238E27FC236}">
                <a16:creationId xmlns:a16="http://schemas.microsoft.com/office/drawing/2014/main" id="{A955D345-84BC-0F11-4E2E-9D454E82E4B7}"/>
              </a:ext>
            </a:extLst>
          </p:cNvPr>
          <p:cNvSpPr txBox="1"/>
          <p:nvPr/>
        </p:nvSpPr>
        <p:spPr>
          <a:xfrm>
            <a:off x="316411" y="2005780"/>
            <a:ext cx="3927208" cy="3785652"/>
          </a:xfrm>
          <a:prstGeom prst="rect">
            <a:avLst/>
          </a:prstGeom>
          <a:noFill/>
          <a:ln>
            <a:solidFill>
              <a:schemeClr val="accent1"/>
            </a:solidFill>
          </a:ln>
        </p:spPr>
        <p:txBody>
          <a:bodyPr wrap="square">
            <a:spAutoFit/>
          </a:bodyPr>
          <a:lstStyle/>
          <a:p>
            <a:pPr marL="342900" indent="-342900">
              <a:buFont typeface="Wingdings" panose="05000000000000000000" pitchFamily="2" charset="2"/>
              <a:buChar char="Ø"/>
            </a:pPr>
            <a:r>
              <a:rPr lang="en-US" sz="2400" dirty="0">
                <a:solidFill>
                  <a:srgbClr val="161616"/>
                </a:solidFill>
                <a:latin typeface="Segoe UI" panose="020B0502040204020203" pitchFamily="34" charset="0"/>
              </a:rPr>
              <a:t>Two-dimensional data structure</a:t>
            </a:r>
          </a:p>
          <a:p>
            <a:pPr marL="342900" indent="-342900">
              <a:buFont typeface="Wingdings" panose="05000000000000000000" pitchFamily="2" charset="2"/>
              <a:buChar char="Ø"/>
            </a:pPr>
            <a:endParaRPr lang="en-US" sz="2400" dirty="0">
              <a:solidFill>
                <a:srgbClr val="161616"/>
              </a:solidFill>
              <a:latin typeface="Segoe UI" panose="020B0502040204020203" pitchFamily="34" charset="0"/>
            </a:endParaRPr>
          </a:p>
          <a:p>
            <a:pPr marL="342900" indent="-342900">
              <a:buFont typeface="Wingdings" panose="05000000000000000000" pitchFamily="2" charset="2"/>
              <a:buChar char="Ø"/>
            </a:pPr>
            <a:endParaRPr lang="en-US" sz="2400" dirty="0">
              <a:solidFill>
                <a:srgbClr val="161616"/>
              </a:solidFill>
              <a:latin typeface="Segoe UI" panose="020B0502040204020203" pitchFamily="34" charset="0"/>
            </a:endParaRPr>
          </a:p>
          <a:p>
            <a:pPr marL="342900" indent="-342900">
              <a:buFont typeface="Wingdings" panose="05000000000000000000" pitchFamily="2" charset="2"/>
              <a:buChar char="Ø"/>
            </a:pPr>
            <a:r>
              <a:rPr lang="en-US" sz="2400" dirty="0">
                <a:solidFill>
                  <a:srgbClr val="161616"/>
                </a:solidFill>
                <a:latin typeface="Segoe UI" panose="020B0502040204020203" pitchFamily="34" charset="0"/>
              </a:rPr>
              <a:t>Like a table or spreadsheet</a:t>
            </a:r>
          </a:p>
          <a:p>
            <a:pPr marL="342900" indent="-342900">
              <a:buFont typeface="Wingdings" panose="05000000000000000000" pitchFamily="2" charset="2"/>
              <a:buChar char="Ø"/>
            </a:pPr>
            <a:endParaRPr lang="en-US" sz="2400" dirty="0">
              <a:solidFill>
                <a:srgbClr val="161616"/>
              </a:solidFill>
              <a:latin typeface="Segoe UI" panose="020B0502040204020203" pitchFamily="34" charset="0"/>
            </a:endParaRPr>
          </a:p>
          <a:p>
            <a:pPr marL="342900" indent="-342900">
              <a:buFont typeface="Wingdings" panose="05000000000000000000" pitchFamily="2" charset="2"/>
              <a:buChar char="Ø"/>
            </a:pPr>
            <a:endParaRPr lang="en-US" sz="2400" dirty="0">
              <a:solidFill>
                <a:srgbClr val="161616"/>
              </a:solidFill>
              <a:latin typeface="Segoe UI" panose="020B0502040204020203" pitchFamily="34" charset="0"/>
            </a:endParaRPr>
          </a:p>
          <a:p>
            <a:pPr marL="342900" indent="-342900">
              <a:buFont typeface="Wingdings" panose="05000000000000000000" pitchFamily="2" charset="2"/>
              <a:buChar char="Ø"/>
            </a:pPr>
            <a:r>
              <a:rPr lang="en-US" sz="2400" dirty="0">
                <a:solidFill>
                  <a:srgbClr val="161616"/>
                </a:solidFill>
                <a:latin typeface="Segoe UI" panose="020B0502040204020203" pitchFamily="34" charset="0"/>
              </a:rPr>
              <a:t>Has functions for data analysis</a:t>
            </a:r>
          </a:p>
        </p:txBody>
      </p:sp>
      <p:pic>
        <p:nvPicPr>
          <p:cNvPr id="5" name="Picture 4" descr="Image of a code sample using Python to create a DataFrame, then select columns, filter rows and group by and aggregate within the DataFrame.">
            <a:extLst>
              <a:ext uri="{FF2B5EF4-FFF2-40B4-BE49-F238E27FC236}">
                <a16:creationId xmlns:a16="http://schemas.microsoft.com/office/drawing/2014/main" id="{9F281771-24CE-B8B6-E92E-7248A186956A}"/>
              </a:ext>
            </a:extLst>
          </p:cNvPr>
          <p:cNvPicPr>
            <a:picLocks noChangeAspect="1"/>
          </p:cNvPicPr>
          <p:nvPr/>
        </p:nvPicPr>
        <p:blipFill>
          <a:blip r:embed="rId3"/>
          <a:stretch>
            <a:fillRect/>
          </a:stretch>
        </p:blipFill>
        <p:spPr>
          <a:xfrm>
            <a:off x="4243619" y="1882207"/>
            <a:ext cx="7948381" cy="3980549"/>
          </a:xfrm>
          <a:prstGeom prst="rect">
            <a:avLst/>
          </a:prstGeom>
        </p:spPr>
      </p:pic>
      <p:sp>
        <p:nvSpPr>
          <p:cNvPr id="6" name="TextBox 5">
            <a:extLst>
              <a:ext uri="{FF2B5EF4-FFF2-40B4-BE49-F238E27FC236}">
                <a16:creationId xmlns:a16="http://schemas.microsoft.com/office/drawing/2014/main" id="{E47631F8-7453-E2A0-1ED9-C2A3AED0470E}"/>
              </a:ext>
            </a:extLst>
          </p:cNvPr>
          <p:cNvSpPr txBox="1"/>
          <p:nvPr/>
        </p:nvSpPr>
        <p:spPr>
          <a:xfrm>
            <a:off x="179882" y="271286"/>
            <a:ext cx="12012118" cy="830997"/>
          </a:xfrm>
          <a:prstGeom prst="rect">
            <a:avLst/>
          </a:prstGeom>
          <a:noFill/>
          <a:ln>
            <a:solidFill>
              <a:schemeClr val="accent1"/>
            </a:solidFill>
          </a:ln>
        </p:spPr>
        <p:txBody>
          <a:bodyPr wrap="square">
            <a:spAutoFit/>
          </a:bodyPr>
          <a:lstStyle/>
          <a:p>
            <a:pPr marL="285750" indent="-285750">
              <a:buFont typeface="Wingdings" panose="05000000000000000000" pitchFamily="2" charset="2"/>
              <a:buChar char="ü"/>
            </a:pPr>
            <a:r>
              <a:rPr lang="en-US" sz="1600" b="1" dirty="0"/>
              <a:t>When you work with data in notebooks, you make use of Spark </a:t>
            </a:r>
            <a:r>
              <a:rPr lang="en-US" sz="1600" b="1" dirty="0" err="1"/>
              <a:t>DataFrames</a:t>
            </a:r>
            <a:r>
              <a:rPr lang="en-US" sz="1600" b="1" dirty="0"/>
              <a:t> that are built on Apache Spark.</a:t>
            </a:r>
          </a:p>
          <a:p>
            <a:pPr marL="285750" indent="-285750">
              <a:buFont typeface="Wingdings" panose="05000000000000000000" pitchFamily="2" charset="2"/>
              <a:buChar char="ü"/>
            </a:pPr>
            <a:r>
              <a:rPr lang="en-US" sz="1600" b="1" dirty="0"/>
              <a:t> </a:t>
            </a:r>
            <a:r>
              <a:rPr lang="en-US" sz="1600" b="1" dirty="0" err="1"/>
              <a:t>DataFrames</a:t>
            </a:r>
            <a:r>
              <a:rPr lang="en-US" sz="1600" dirty="0"/>
              <a:t> allow you to manipulate large datasets efficiently. Purpose is </a:t>
            </a:r>
            <a:r>
              <a:rPr lang="en-US" sz="1600" u="sng" dirty="0"/>
              <a:t>to </a:t>
            </a:r>
            <a:r>
              <a:rPr lang="en-US" sz="1600" u="sng" dirty="0">
                <a:solidFill>
                  <a:srgbClr val="171717"/>
                </a:solidFill>
                <a:latin typeface="Segoe UI Semibold" panose="020B0702040204020203" pitchFamily="34" charset="0"/>
                <a:cs typeface="Segoe UI Semibold" panose="020B0702040204020203" pitchFamily="34" charset="0"/>
              </a:rPr>
              <a:t> explore, manipulate, and analyze structured data</a:t>
            </a:r>
          </a:p>
          <a:p>
            <a:pPr marL="285750" indent="-285750">
              <a:buFont typeface="Wingdings" panose="05000000000000000000" pitchFamily="2" charset="2"/>
              <a:buChar char="ü"/>
            </a:pPr>
            <a:endParaRPr lang="en-IN" sz="1600" dirty="0"/>
          </a:p>
        </p:txBody>
      </p:sp>
    </p:spTree>
    <p:extLst>
      <p:ext uri="{BB962C8B-B14F-4D97-AF65-F5344CB8AC3E}">
        <p14:creationId xmlns:p14="http://schemas.microsoft.com/office/powerpoint/2010/main" val="1991000966"/>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2609</Words>
  <Application>Microsoft Office PowerPoint</Application>
  <PresentationFormat>Widescreen</PresentationFormat>
  <Paragraphs>186</Paragraphs>
  <Slides>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Segoe UI</vt:lpstr>
      <vt:lpstr>Segoe UI Semibold</vt:lpstr>
      <vt:lpstr>Wingdings</vt:lpstr>
      <vt:lpstr>Office Theme</vt:lpstr>
      <vt:lpstr>Data Analysis with Azure Databricks</vt:lpstr>
      <vt:lpstr>What is Azure Databricks?</vt:lpstr>
      <vt:lpstr>Azure Databricks workloads</vt:lpstr>
      <vt:lpstr>Key concepts</vt:lpstr>
      <vt:lpstr>PowerPoint Presentation</vt:lpstr>
      <vt:lpstr>How to ingest data with Databricks </vt:lpstr>
      <vt:lpstr>PowerPoint Presentation</vt:lpstr>
      <vt:lpstr>Data analysis using DataFrame APIs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1</cp:revision>
  <dcterms:created xsi:type="dcterms:W3CDTF">2024-12-04T04:39:10Z</dcterms:created>
  <dcterms:modified xsi:type="dcterms:W3CDTF">2024-12-04T05:06:47Z</dcterms:modified>
</cp:coreProperties>
</file>