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147479813" r:id="rId3"/>
    <p:sldId id="257" r:id="rId4"/>
    <p:sldId id="2147479807" r:id="rId5"/>
    <p:sldId id="2147479808" r:id="rId6"/>
    <p:sldId id="2147479809" r:id="rId7"/>
    <p:sldId id="2147479812" r:id="rId8"/>
    <p:sldId id="2147479811" r:id="rId9"/>
    <p:sldId id="2147479810" r:id="rId10"/>
    <p:sldId id="2147479814" r:id="rId11"/>
    <p:sldId id="214747981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p:scale>
          <a:sx n="75" d="100"/>
          <a:sy n="75" d="100"/>
        </p:scale>
        <p:origin x="-54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6741C6-DB95-4516-8F3D-D786607475DD}" type="datetimeFigureOut">
              <a:rPr lang="en-IN" smtClean="0"/>
              <a:pPr/>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C7965-C37F-4719-A1C0-C764B96414D7}" type="slidenum">
              <a:rPr lang="en-IN" smtClean="0"/>
              <a:pPr/>
              <a:t>‹#›</a:t>
            </a:fld>
            <a:endParaRPr lang="en-IN"/>
          </a:p>
        </p:txBody>
      </p:sp>
    </p:spTree>
    <p:extLst>
      <p:ext uri="{BB962C8B-B14F-4D97-AF65-F5344CB8AC3E}">
        <p14:creationId xmlns:p14="http://schemas.microsoft.com/office/powerpoint/2010/main" xmlns="" val="238029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Medallion architecture</a:t>
            </a:r>
            <a:r>
              <a:rPr lang="en-US" dirty="0"/>
              <a:t> is a data design pattern used to logically organize data in a </a:t>
            </a:r>
            <a:r>
              <a:rPr lang="en-US" dirty="0" err="1"/>
              <a:t>lakehouse</a:t>
            </a:r>
            <a:r>
              <a:rPr lang="en-US" dirty="0"/>
              <a:t>, with the goal of incrementally and progressively improving the structure and quality of data as it flows through each  layer of the architecture. It consists of three layers: Bronze, Silver, and Gold.</a:t>
            </a:r>
          </a:p>
          <a:p>
            <a:endParaRPr lang="en-US" dirty="0"/>
          </a:p>
          <a:p>
            <a:r>
              <a:rPr lang="en-US" b="1" dirty="0"/>
              <a:t>Layers of the Medallion Architecture:</a:t>
            </a:r>
          </a:p>
          <a:p>
            <a:pPr>
              <a:buFont typeface="+mj-lt"/>
              <a:buAutoNum type="arabicPeriod"/>
            </a:pPr>
            <a:r>
              <a:rPr lang="en-US" b="1" dirty="0"/>
              <a:t>Bronze Layer</a:t>
            </a:r>
            <a:r>
              <a:rPr lang="en-US" dirty="0"/>
              <a:t>: This is the raw data layer where data is ingested in its original format. It is typically unprocessed and may contain duplicates, missing values, and other inconsistencies</a:t>
            </a:r>
            <a:r>
              <a:rPr lang="en-US" dirty="0">
                <a:effectLst/>
              </a:rPr>
              <a:t>1</a:t>
            </a:r>
            <a:r>
              <a:rPr lang="en-US" dirty="0"/>
              <a:t>.</a:t>
            </a:r>
          </a:p>
          <a:p>
            <a:pPr>
              <a:buFont typeface="+mj-lt"/>
              <a:buAutoNum type="arabicPeriod"/>
            </a:pPr>
            <a:r>
              <a:rPr lang="en-US" b="1" dirty="0"/>
              <a:t>Silver Layer</a:t>
            </a:r>
            <a:r>
              <a:rPr lang="en-US" dirty="0"/>
              <a:t>: This is the cleaned and enriched data layer. Data in this layer has been processed to remove duplicates, handle missing values, and apply basic transformations</a:t>
            </a:r>
            <a:r>
              <a:rPr lang="en-US" dirty="0">
                <a:effectLst/>
              </a:rPr>
              <a:t>1</a:t>
            </a:r>
            <a:r>
              <a:rPr lang="en-US" dirty="0"/>
              <a:t>. It is more structured and ready for further analysis.</a:t>
            </a:r>
          </a:p>
          <a:p>
            <a:pPr>
              <a:buFont typeface="+mj-lt"/>
              <a:buAutoNum type="arabicPeriod"/>
            </a:pPr>
            <a:r>
              <a:rPr lang="en-US" b="1" dirty="0">
                <a:effectLst/>
              </a:rPr>
              <a:t>Gold Layer</a:t>
            </a:r>
            <a:r>
              <a:rPr lang="en-US" dirty="0">
                <a:effectLst/>
              </a:rPr>
              <a:t>: This is the curated and aggregated data layer. Data in this layer is highly processed, aggregated, and optimized for business intelligence and analytics1. It is ready for consumption by end-users and applications</a:t>
            </a:r>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pPr/>
              <a:t>7/22/2025 8:53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xmlns="" val="3215921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5FEA8B-5A8C-4B97-D212-582FA4874D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99B9B71-2804-DD9B-F560-180236C5E0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D6836F1-6E3D-7190-244D-46EFDFC8F527}"/>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2F2ED51B-2E4C-A39A-413B-F6239D90E1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22583BB-6999-84F5-5131-7A498BA46DF8}"/>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514799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1ED66F-6427-A4B5-FBBC-805E0635C1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832AEDA-B82F-602D-101B-F3CDEA5683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B0198B7-4FCB-6DB1-7C74-EDB9D30C291B}"/>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6C196605-BB2A-B194-8738-6DB310B035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7AD9D3C-5E8D-5944-0342-E4397F4E154A}"/>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171367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1BDCD6-745F-CA1A-002E-4A5AA08B35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AA74079-5130-53F4-412B-5F0B63135C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1D2FBEC-EFEB-0574-51CF-13CA8DA0DC84}"/>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F9FE631E-4FE6-1AE1-CC88-54B5B1DBB2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C3B0B98-15AD-54F5-C205-C82FC4ECD5D9}"/>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307518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074FD7-9FE6-6A8A-F3DC-F27CBBC1EE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40705E2-5DFD-BA52-33D9-0614CF159B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9555F859-9F95-9E42-C9F6-7928C6123D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C83F382-C4C2-8D6E-D79F-176C6F58E9B2}"/>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6" name="Footer Placeholder 5">
            <a:extLst>
              <a:ext uri="{FF2B5EF4-FFF2-40B4-BE49-F238E27FC236}">
                <a16:creationId xmlns:a16="http://schemas.microsoft.com/office/drawing/2014/main" xmlns="" id="{90BF5DAB-FE67-7A74-7DA5-B9AFFC6B6F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C635941-4662-20F0-D5DE-C03E9EE0E0BD}"/>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370156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6F23CE-3A17-EF74-31C8-DD837D1744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49BA083-C515-32A9-25ED-479B032228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1330247-92C5-53E6-3028-6FA06E6432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3BF26D4-B4A1-A6B7-B253-F690550454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A70E1A0-62C0-966C-57AA-FA9996F9E1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4017948-D681-6784-A789-9883AEBD3E00}"/>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8" name="Footer Placeholder 7">
            <a:extLst>
              <a:ext uri="{FF2B5EF4-FFF2-40B4-BE49-F238E27FC236}">
                <a16:creationId xmlns:a16="http://schemas.microsoft.com/office/drawing/2014/main" xmlns="" id="{BA5C10D1-B62F-FC1A-B47F-B1C4D5D6E4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1F64EE1E-C300-39D2-893B-1AF0203531CC}"/>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1907837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612091-2E05-BB26-AB10-5411D05AFD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57720FC4-74F2-C31E-D6FE-A0844D57C1AB}"/>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4" name="Footer Placeholder 3">
            <a:extLst>
              <a:ext uri="{FF2B5EF4-FFF2-40B4-BE49-F238E27FC236}">
                <a16:creationId xmlns:a16="http://schemas.microsoft.com/office/drawing/2014/main" xmlns="" id="{8415C91C-7C83-C4E9-3828-7DB7931F85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D55EA9AE-34B4-D98D-5341-3DBB67CD75A8}"/>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304098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E602F2B-39C9-F557-F899-6349DA185991}"/>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3" name="Footer Placeholder 2">
            <a:extLst>
              <a:ext uri="{FF2B5EF4-FFF2-40B4-BE49-F238E27FC236}">
                <a16:creationId xmlns:a16="http://schemas.microsoft.com/office/drawing/2014/main" xmlns="" id="{FF0FCD31-5F67-0B3B-51F7-833AEC7738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1646175-BC12-89EB-7FFA-04BFD52973F3}"/>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1067983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C4EF36-9DC4-B71C-0859-BA00E997FD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74DCDAF-C130-F8C9-2DAC-31954BC51D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BAC47D3-3CEB-4D81-AADF-DB8F46212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A2A7F6E-35D8-CCA9-A851-30193520E420}"/>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6" name="Footer Placeholder 5">
            <a:extLst>
              <a:ext uri="{FF2B5EF4-FFF2-40B4-BE49-F238E27FC236}">
                <a16:creationId xmlns:a16="http://schemas.microsoft.com/office/drawing/2014/main" xmlns="" id="{25798410-A521-1176-0631-3F9B2F028D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AC5F320-3FBF-97C7-56D6-8E6786A4C86D}"/>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278903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3AAF3B-F95E-50DE-D87E-A8FD0051FA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07B2F9D-D13B-B6DF-208F-92AB80E877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5B82A5C-F930-564A-47F2-A443E1062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4D51D79-4A5A-E9E9-B636-168A8508D686}"/>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6" name="Footer Placeholder 5">
            <a:extLst>
              <a:ext uri="{FF2B5EF4-FFF2-40B4-BE49-F238E27FC236}">
                <a16:creationId xmlns:a16="http://schemas.microsoft.com/office/drawing/2014/main" xmlns="" id="{BD2CB17E-F328-F244-5463-E1078F15B4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A7D7C56-6E5B-808F-9827-CB5B45451E98}"/>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1809156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C9BFD5-5403-00E6-9CC2-E775CED02E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D045A4A-9816-F3E7-6D74-738801C47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8F7859E-C27B-714F-D75F-B4852D26B80A}"/>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049CBB15-0180-C73E-8AD4-E37592D064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4E49778-39F4-37FE-B917-547961BA1632}"/>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2306776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C0F29E9-7A64-D159-73A1-9020D4E057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CD7328B-F95C-6F90-73DD-C462BBBEE8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A3E8B49-109B-9320-FCAA-DE3E4715FEB1}"/>
              </a:ext>
            </a:extLst>
          </p:cNvPr>
          <p:cNvSpPr>
            <a:spLocks noGrp="1"/>
          </p:cNvSpPr>
          <p:nvPr>
            <p:ph type="dt" sz="half" idx="10"/>
          </p:nvPr>
        </p:nvSpPr>
        <p:spPr/>
        <p:txBody>
          <a:body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20E65293-124B-F68E-6BA6-4557A5929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997BE0D-40B9-8EA2-B2B6-9685E2BEF390}"/>
              </a:ext>
            </a:extLst>
          </p:cNvPr>
          <p:cNvSpPr>
            <a:spLocks noGrp="1"/>
          </p:cNvSpPr>
          <p:nvPr>
            <p:ph type="sldNum" sz="quarter" idx="12"/>
          </p:nvPr>
        </p:nvSpPr>
        <p:spPr/>
        <p:txBody>
          <a:body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3796601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xmlns=""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xmlns=""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xmlns="" val="7403281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xmlns="">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AB3BF50-E944-CF6A-B0AC-B889FB26D5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107F44B-010C-FCCD-E7B6-2CAF3343B9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269B262-EB8A-4D4B-4F9A-B8597219E9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BAA1DC-C30D-4732-8CAA-F58AB37AAB1F}" type="datetimeFigureOut">
              <a:rPr lang="en-IN" smtClean="0"/>
              <a:pPr/>
              <a:t>22-07-2025</a:t>
            </a:fld>
            <a:endParaRPr lang="en-IN"/>
          </a:p>
        </p:txBody>
      </p:sp>
      <p:sp>
        <p:nvSpPr>
          <p:cNvPr id="5" name="Footer Placeholder 4">
            <a:extLst>
              <a:ext uri="{FF2B5EF4-FFF2-40B4-BE49-F238E27FC236}">
                <a16:creationId xmlns:a16="http://schemas.microsoft.com/office/drawing/2014/main" xmlns="" id="{3FC6AE77-040F-AFAF-0C4B-FF5D8CA51A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15E68DD7-7C92-BABB-604F-58054C70B4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D4185F-2F24-4568-965D-C75B3BF4D3C9}" type="slidenum">
              <a:rPr lang="en-IN" smtClean="0"/>
              <a:pPr/>
              <a:t>‹#›</a:t>
            </a:fld>
            <a:endParaRPr lang="en-IN"/>
          </a:p>
        </p:txBody>
      </p:sp>
    </p:spTree>
    <p:extLst>
      <p:ext uri="{BB962C8B-B14F-4D97-AF65-F5344CB8AC3E}">
        <p14:creationId xmlns:p14="http://schemas.microsoft.com/office/powerpoint/2010/main" xmlns="" val="855010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xmlns="" id="{C7D023E4-8DE1-436E-9847-ED6A4B4B04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Cover">
            <a:extLst>
              <a:ext uri="{FF2B5EF4-FFF2-40B4-BE49-F238E27FC236}">
                <a16:creationId xmlns:a16="http://schemas.microsoft.com/office/drawing/2014/main" xmlns="" id="{8B2B1708-8CE4-4A20-94F5-55118AE2CB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xmlns="" id="{C291FB31-BA2D-4C80-8229-F0E34C8AEAE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51" y="0"/>
            <a:ext cx="6064235" cy="6858000"/>
            <a:chOff x="651279" y="598259"/>
            <a:chExt cx="10889442" cy="5680742"/>
          </a:xfrm>
        </p:grpSpPr>
        <p:sp>
          <p:nvSpPr>
            <p:cNvPr id="14" name="Color">
              <a:extLst>
                <a:ext uri="{FF2B5EF4-FFF2-40B4-BE49-F238E27FC236}">
                  <a16:creationId xmlns:a16="http://schemas.microsoft.com/office/drawing/2014/main" xmlns="" id="{E22877A0-D105-4005-84F8-4BCC429EC0F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xmlns="" id="{B0B1E571-9D76-4678-B0AC-9BE9176A231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xmlns="" id="{6EAEB662-E308-5BC2-38D4-B55597B2017D}"/>
              </a:ext>
              <a:ext uri="{C183D7F6-B498-43B3-948B-1728B52AA6E4}">
                <adec:decorative xmlns:adec="http://schemas.microsoft.com/office/drawing/2017/decorative" xmlns="" val="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803647" y="1058510"/>
            <a:ext cx="4730214" cy="4730214"/>
          </a:xfrm>
          <a:prstGeom prst="rect">
            <a:avLst/>
          </a:prstGeom>
        </p:spPr>
      </p:pic>
      <p:grpSp>
        <p:nvGrpSpPr>
          <p:cNvPr id="17" name="Group 16">
            <a:extLst>
              <a:ext uri="{FF2B5EF4-FFF2-40B4-BE49-F238E27FC236}">
                <a16:creationId xmlns:a16="http://schemas.microsoft.com/office/drawing/2014/main" xmlns="" id="{E27AF472-EAE3-4572-AB69-B92BD10DBC6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xmlns="" id="{BF4DB9D2-6215-420C-874C-82EADF8C6C7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xmlns="" id="{1F003139-C97C-44FA-B139-32E4DFDCE9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xmlns="" id="{5CE4DD6E-8CEA-45EE-B630-DBC22144D88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xmlns="" id="{A4372F7F-AA3C-470B-AA61-7C35B7722C9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xmlns="" id="{34B605BF-D199-43DD-9328-E99F2ADFC6F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xmlns="" id="{E5D42A77-7336-4A35-8922-8098A16AA27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xmlns="" id="{7401EE7D-B85D-4C10-AB8C-71884EFB112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xmlns="" id="{C36CAABF-1ED9-F615-23B5-2E5C3DB9DD69}"/>
              </a:ext>
            </a:extLst>
          </p:cNvPr>
          <p:cNvSpPr>
            <a:spLocks noGrp="1"/>
          </p:cNvSpPr>
          <p:nvPr>
            <p:ph type="ctrTitle"/>
          </p:nvPr>
        </p:nvSpPr>
        <p:spPr>
          <a:xfrm>
            <a:off x="63345" y="873099"/>
            <a:ext cx="6367935" cy="2459382"/>
          </a:xfrm>
        </p:spPr>
        <p:txBody>
          <a:bodyPr anchor="b">
            <a:normAutofit/>
          </a:bodyPr>
          <a:lstStyle/>
          <a:p>
            <a:pPr algn="l"/>
            <a:r>
              <a:rPr lang="en-US" sz="4800" dirty="0">
                <a:solidFill>
                  <a:schemeClr val="bg1"/>
                </a:solidFill>
              </a:rPr>
              <a:t>Delta Live Tables (DLT)</a:t>
            </a:r>
            <a:endParaRPr lang="en-IN" sz="4800" dirty="0">
              <a:solidFill>
                <a:schemeClr val="bg1"/>
              </a:solidFill>
            </a:endParaRPr>
          </a:p>
        </p:txBody>
      </p:sp>
      <p:pic>
        <p:nvPicPr>
          <p:cNvPr id="25" name="Picture 24" descr="Cloud Computing.png"/>
          <p:cNvPicPr/>
          <p:nvPr/>
        </p:nvPicPr>
        <p:blipFill>
          <a:blip r:embed="rId4" cstate="print"/>
          <a:stretch>
            <a:fillRect/>
          </a:stretch>
        </p:blipFill>
        <p:spPr>
          <a:xfrm>
            <a:off x="10565017" y="6144600"/>
            <a:ext cx="1100045" cy="360000"/>
          </a:xfrm>
          <a:prstGeom prst="rect">
            <a:avLst/>
          </a:prstGeom>
        </p:spPr>
      </p:pic>
    </p:spTree>
    <p:extLst>
      <p:ext uri="{BB962C8B-B14F-4D97-AF65-F5344CB8AC3E}">
        <p14:creationId xmlns:p14="http://schemas.microsoft.com/office/powerpoint/2010/main" xmlns="" val="1344103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4" name="Picture 3"/>
          <p:cNvPicPr/>
          <p:nvPr/>
        </p:nvPicPr>
        <p:blipFill>
          <a:blip r:embed="rId2"/>
          <a:srcRect/>
          <a:stretch>
            <a:fillRect/>
          </a:stretch>
        </p:blipFill>
        <p:spPr bwMode="auto">
          <a:xfrm>
            <a:off x="386080" y="1148080"/>
            <a:ext cx="11480800" cy="4988560"/>
          </a:xfrm>
          <a:prstGeom prst="rect">
            <a:avLst/>
          </a:prstGeom>
          <a:noFill/>
          <a:ln w="9525">
            <a:noFill/>
            <a:miter lim="800000"/>
            <a:headEnd/>
            <a:tailEnd/>
          </a:ln>
        </p:spPr>
      </p:pic>
      <p:pic>
        <p:nvPicPr>
          <p:cNvPr id="5" name="Picture 4" descr="Cloud Computing.png"/>
          <p:cNvPicPr/>
          <p:nvPr/>
        </p:nvPicPr>
        <p:blipFill>
          <a:blip r:embed="rId3" cstate="print"/>
          <a:stretch>
            <a:fillRect/>
          </a:stretch>
        </p:blipFill>
        <p:spPr>
          <a:xfrm>
            <a:off x="10565017" y="6144600"/>
            <a:ext cx="1100045" cy="360000"/>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944C6D7-AA9C-758F-A0B7-D2AC08313D6F}"/>
              </a:ext>
            </a:extLst>
          </p:cNvPr>
          <p:cNvSpPr txBox="1"/>
          <p:nvPr/>
        </p:nvSpPr>
        <p:spPr>
          <a:xfrm>
            <a:off x="1197428" y="548865"/>
            <a:ext cx="1001485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Delta Live Tables is a declarative framework for building reliable, maintainable, and testable data processing pipelines. You define the transformations to perform on your data and Delta Live Tables manages task orchestration, cluster management, monitoring, data quality, and error handling.</a:t>
            </a:r>
            <a:endParaRPr lang="en-IN" dirty="0"/>
          </a:p>
        </p:txBody>
      </p:sp>
      <p:pic>
        <p:nvPicPr>
          <p:cNvPr id="1026" name="Picture 2" descr="Delta Live Tables | Databricks">
            <a:extLst>
              <a:ext uri="{FF2B5EF4-FFF2-40B4-BE49-F238E27FC236}">
                <a16:creationId xmlns:a16="http://schemas.microsoft.com/office/drawing/2014/main" xmlns="" id="{23DF1ACE-6078-EBBE-FAFF-04B20C961F18}"/>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13114" y="1751811"/>
            <a:ext cx="8850086" cy="4899813"/>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3" descr="Cloud Computing.png"/>
          <p:cNvPicPr/>
          <p:nvPr/>
        </p:nvPicPr>
        <p:blipFill>
          <a:blip r:embed="rId3" cstate="print"/>
          <a:stretch>
            <a:fillRect/>
          </a:stretch>
        </p:blipFill>
        <p:spPr>
          <a:xfrm>
            <a:off x="10565017" y="6144600"/>
            <a:ext cx="1100045" cy="360000"/>
          </a:xfrm>
          <a:prstGeom prst="rect">
            <a:avLst/>
          </a:prstGeom>
        </p:spPr>
      </p:pic>
    </p:spTree>
    <p:extLst>
      <p:ext uri="{BB962C8B-B14F-4D97-AF65-F5344CB8AC3E}">
        <p14:creationId xmlns:p14="http://schemas.microsoft.com/office/powerpoint/2010/main" xmlns="" val="317282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edallion architecture bronze, silver, and gold layers">
            <a:extLst>
              <a:ext uri="{FF2B5EF4-FFF2-40B4-BE49-F238E27FC236}">
                <a16:creationId xmlns:a16="http://schemas.microsoft.com/office/drawing/2014/main" xmlns="" id="{802A119B-3BA2-F099-A806-880B7A7D3614}"/>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946484" y="1520771"/>
            <a:ext cx="7910622" cy="4449724"/>
          </a:xfrm>
          <a:prstGeom prst="rect">
            <a:avLst/>
          </a:prstGeom>
          <a:noFill/>
          <a:ln>
            <a:solidFill>
              <a:schemeClr val="tx1"/>
            </a:solidFill>
          </a:ln>
          <a:extLst>
            <a:ext uri="{909E8E84-426E-40DD-AFC4-6F175D3DCCD1}">
              <a14:hiddenFill xmlns:a14="http://schemas.microsoft.com/office/drawing/2010/main" xmlns="">
                <a:solidFill>
                  <a:srgbClr val="FFFFFF"/>
                </a:solidFill>
              </a14:hiddenFill>
            </a:ext>
          </a:extLst>
        </p:spPr>
      </p:pic>
      <p:sp>
        <p:nvSpPr>
          <p:cNvPr id="5" name="TextBox 4">
            <a:extLst>
              <a:ext uri="{FF2B5EF4-FFF2-40B4-BE49-F238E27FC236}">
                <a16:creationId xmlns:a16="http://schemas.microsoft.com/office/drawing/2014/main" xmlns="" id="{F11E12BC-5F9C-206A-49E3-5C4D43C121B6}"/>
              </a:ext>
            </a:extLst>
          </p:cNvPr>
          <p:cNvSpPr txBox="1"/>
          <p:nvPr/>
        </p:nvSpPr>
        <p:spPr>
          <a:xfrm>
            <a:off x="2910390" y="98988"/>
            <a:ext cx="7141580" cy="430887"/>
          </a:xfrm>
          <a:prstGeom prst="rect">
            <a:avLst/>
          </a:prstGeom>
          <a:noFill/>
        </p:spPr>
        <p:txBody>
          <a:bodyPr wrap="square" lIns="0" tIns="0" rIns="0" bIns="0" rtlCol="0">
            <a:spAutoFit/>
          </a:bodyPr>
          <a:lstStyle/>
          <a:p>
            <a:pPr algn="ctr"/>
            <a:r>
              <a:rPr lang="en-US" sz="2800" dirty="0"/>
              <a:t>The Medallion architecture</a:t>
            </a:r>
            <a:endParaRPr lang="en-IN" sz="2800" dirty="0"/>
          </a:p>
        </p:txBody>
      </p:sp>
      <p:sp>
        <p:nvSpPr>
          <p:cNvPr id="10" name="TextBox 9">
            <a:extLst>
              <a:ext uri="{FF2B5EF4-FFF2-40B4-BE49-F238E27FC236}">
                <a16:creationId xmlns:a16="http://schemas.microsoft.com/office/drawing/2014/main" xmlns="" id="{55B51D07-DC32-BD25-8E06-8FD769C1E3C8}"/>
              </a:ext>
            </a:extLst>
          </p:cNvPr>
          <p:cNvSpPr txBox="1"/>
          <p:nvPr/>
        </p:nvSpPr>
        <p:spPr>
          <a:xfrm>
            <a:off x="301214" y="631696"/>
            <a:ext cx="11555892"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b="0" i="0" dirty="0">
                <a:effectLst/>
                <a:latin typeface="Segoe UI" panose="020B0502040204020203" pitchFamily="34" charset="0"/>
              </a:rPr>
              <a:t>This example of a medallion architecture shows bronze, silver, and gold layers for use by a business operations team. Each layer is stored in a different schema of the ops catalog.</a:t>
            </a:r>
            <a:endParaRPr lang="en-IN" sz="2000" dirty="0"/>
          </a:p>
        </p:txBody>
      </p:sp>
      <p:sp>
        <p:nvSpPr>
          <p:cNvPr id="3" name="TextBox 2">
            <a:extLst>
              <a:ext uri="{FF2B5EF4-FFF2-40B4-BE49-F238E27FC236}">
                <a16:creationId xmlns:a16="http://schemas.microsoft.com/office/drawing/2014/main" xmlns="" id="{6A86EB5F-A75D-9E3D-3410-E01D70629D45}"/>
              </a:ext>
            </a:extLst>
          </p:cNvPr>
          <p:cNvSpPr txBox="1"/>
          <p:nvPr/>
        </p:nvSpPr>
        <p:spPr>
          <a:xfrm>
            <a:off x="110267" y="1545030"/>
            <a:ext cx="3836217" cy="4401205"/>
          </a:xfrm>
          <a:prstGeom prst="rect">
            <a:avLst/>
          </a:prstGeom>
          <a:noFill/>
          <a:ln>
            <a:solidFill>
              <a:schemeClr val="tx1"/>
            </a:solidFill>
          </a:ln>
        </p:spPr>
        <p:txBody>
          <a:bodyPr wrap="square">
            <a:spAutoFit/>
          </a:bodyPr>
          <a:lstStyle/>
          <a:p>
            <a:r>
              <a:rPr lang="en-US" sz="1400" b="1" dirty="0"/>
              <a:t>Bronze Layer</a:t>
            </a:r>
            <a:r>
              <a:rPr lang="en-US" sz="1400" dirty="0"/>
              <a:t>: This is the raw data layer where data is ingested in its original format. It is typically unprocessed and may contain duplicates, missing values, and other inconsistencies.</a:t>
            </a:r>
          </a:p>
          <a:p>
            <a:endParaRPr lang="en-US" sz="1400" dirty="0"/>
          </a:p>
          <a:p>
            <a:endParaRPr lang="en-US" sz="1400" dirty="0"/>
          </a:p>
          <a:p>
            <a:r>
              <a:rPr lang="en-US" sz="1400" b="1" dirty="0"/>
              <a:t>Silver Layer: </a:t>
            </a:r>
            <a:r>
              <a:rPr lang="en-US" sz="1400" dirty="0"/>
              <a:t>This is the cleaned and enriched data layer. Data in this layer has been processed to remove duplicates, handle missing values, and apply basic transformations1. It is more structured and ready for further analysis.</a:t>
            </a:r>
          </a:p>
          <a:p>
            <a:endParaRPr lang="en-US" sz="1400" dirty="0"/>
          </a:p>
          <a:p>
            <a:r>
              <a:rPr lang="en-US" sz="1400" b="1" dirty="0"/>
              <a:t>Gold Layer: </a:t>
            </a:r>
            <a:r>
              <a:rPr lang="en-US" sz="1400" dirty="0"/>
              <a:t>This is the curated and aggregated data layer. Data in this layer is highly processed, aggregated, and optimized for business intelligence and analytics1. It is ready for consumption by end-users and applications</a:t>
            </a:r>
            <a:endParaRPr lang="en-IN" sz="1400" dirty="0"/>
          </a:p>
        </p:txBody>
      </p:sp>
    </p:spTree>
    <p:extLst>
      <p:ext uri="{BB962C8B-B14F-4D97-AF65-F5344CB8AC3E}">
        <p14:creationId xmlns:p14="http://schemas.microsoft.com/office/powerpoint/2010/main" xmlns="" val="26842436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1026" name="Picture 2" descr="D:\MS Azure\Azure Databricks\Hands on Files for Azure Data Engineering Hands-on project with Unity Catalog, Delta Lake, Medallion Architecture\Day 16 End to End  Project\Data Engineering END to END Project.png"/>
          <p:cNvPicPr>
            <a:picLocks noChangeAspect="1" noChangeArrowheads="1"/>
          </p:cNvPicPr>
          <p:nvPr/>
        </p:nvPicPr>
        <p:blipFill>
          <a:blip r:embed="rId2" cstate="print"/>
          <a:srcRect/>
          <a:stretch>
            <a:fillRect/>
          </a:stretch>
        </p:blipFill>
        <p:spPr bwMode="auto">
          <a:xfrm>
            <a:off x="0" y="-1"/>
            <a:ext cx="12192000" cy="6858001"/>
          </a:xfrm>
          <a:prstGeom prst="rect">
            <a:avLst/>
          </a:prstGeom>
          <a:noFill/>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1494" y="740779"/>
            <a:ext cx="11960506" cy="3139321"/>
          </a:xfrm>
          <a:prstGeom prst="rect">
            <a:avLst/>
          </a:prstGeom>
          <a:noFill/>
        </p:spPr>
        <p:txBody>
          <a:bodyPr wrap="square" rtlCol="0">
            <a:spAutoFit/>
          </a:bodyPr>
          <a:lstStyle/>
          <a:p>
            <a:r>
              <a:rPr lang="en-US" dirty="0" smtClean="0"/>
              <a:t>Delta Live Tables (DLT) revolutionizes the way you build and manage data pipelines. With a declarative approach, you can define transformations in simple SQL or Python while ensuring data quality and automating operations seamlessly.</a:t>
            </a:r>
            <a:br>
              <a:rPr lang="en-US" dirty="0" smtClean="0"/>
            </a:br>
            <a:r>
              <a:rPr lang="en-US" dirty="0" smtClean="0"/>
              <a:t/>
            </a:r>
            <a:br>
              <a:rPr lang="en-US" dirty="0" smtClean="0"/>
            </a:br>
            <a:r>
              <a:rPr lang="en-US" b="1" dirty="0" smtClean="0"/>
              <a:t>What’s inside this guide?</a:t>
            </a:r>
            <a:r>
              <a:rPr lang="en-US" dirty="0" smtClean="0"/>
              <a:t/>
            </a:r>
            <a:br>
              <a:rPr lang="en-US" dirty="0" smtClean="0"/>
            </a:br>
            <a:r>
              <a:rPr lang="en-US" dirty="0" smtClean="0"/>
              <a:t>✔️ Overview of the </a:t>
            </a:r>
            <a:r>
              <a:rPr lang="en-US" dirty="0" err="1" smtClean="0"/>
              <a:t>Databricks</a:t>
            </a:r>
            <a:r>
              <a:rPr lang="en-US" dirty="0" smtClean="0"/>
              <a:t> </a:t>
            </a:r>
            <a:r>
              <a:rPr lang="en-US" dirty="0" err="1" smtClean="0"/>
              <a:t>Lakehouse</a:t>
            </a:r>
            <a:r>
              <a:rPr lang="en-US" dirty="0" smtClean="0"/>
              <a:t> platform</a:t>
            </a:r>
            <a:br>
              <a:rPr lang="en-US" dirty="0" smtClean="0"/>
            </a:br>
            <a:r>
              <a:rPr lang="en-US" dirty="0" smtClean="0"/>
              <a:t>✔️ Key differences between Data Warehouses and Data Lakes</a:t>
            </a:r>
            <a:br>
              <a:rPr lang="en-US" dirty="0" smtClean="0"/>
            </a:br>
            <a:r>
              <a:rPr lang="en-US" dirty="0" smtClean="0"/>
              <a:t>✔️ Building ETL pipelines with DLT</a:t>
            </a:r>
            <a:br>
              <a:rPr lang="en-US" dirty="0" smtClean="0"/>
            </a:br>
            <a:r>
              <a:rPr lang="en-US" dirty="0" smtClean="0"/>
              <a:t>✔️ Automating data ingestion using Auto Loader</a:t>
            </a:r>
            <a:br>
              <a:rPr lang="en-US" dirty="0" smtClean="0"/>
            </a:br>
            <a:r>
              <a:rPr lang="en-US" dirty="0" smtClean="0"/>
              <a:t>✔️ Implementing Change Data Capture (CDC) with DLT</a:t>
            </a:r>
            <a:br>
              <a:rPr lang="en-US" dirty="0" smtClean="0"/>
            </a:br>
            <a:endParaRPr lang="en-US" dirty="0"/>
          </a:p>
        </p:txBody>
      </p:sp>
      <p:pic>
        <p:nvPicPr>
          <p:cNvPr id="5" name="Picture 4"/>
          <p:cNvPicPr/>
          <p:nvPr/>
        </p:nvPicPr>
        <p:blipFill>
          <a:blip r:embed="rId2"/>
          <a:srcRect/>
          <a:stretch>
            <a:fillRect/>
          </a:stretch>
        </p:blipFill>
        <p:spPr bwMode="auto">
          <a:xfrm>
            <a:off x="5245620" y="3734876"/>
            <a:ext cx="5767819" cy="2645603"/>
          </a:xfrm>
          <a:prstGeom prst="rect">
            <a:avLst/>
          </a:prstGeom>
          <a:noFill/>
          <a:ln w="9525">
            <a:noFill/>
            <a:miter lim="800000"/>
            <a:headEnd/>
            <a:tailEnd/>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DLT in </a:t>
            </a:r>
            <a:r>
              <a:rPr lang="en-US" b="1" dirty="0" err="1" smtClean="0"/>
              <a:t>Databricks</a:t>
            </a:r>
            <a:r>
              <a:rPr lang="en-US" b="1" dirty="0" smtClean="0"/>
              <a:t> and How Can It Simplify Your Data Pipelines?</a:t>
            </a:r>
            <a:endParaRPr lang="en-US" dirty="0"/>
          </a:p>
        </p:txBody>
      </p:sp>
      <p:sp>
        <p:nvSpPr>
          <p:cNvPr id="3" name="Text Placeholder 2"/>
          <p:cNvSpPr>
            <a:spLocks noGrp="1"/>
          </p:cNvSpPr>
          <p:nvPr>
            <p:ph type="body" sz="quarter" idx="15"/>
          </p:nvPr>
        </p:nvSpPr>
        <p:spPr>
          <a:xfrm>
            <a:off x="586389" y="1591056"/>
            <a:ext cx="11013474" cy="3388620"/>
          </a:xfrm>
        </p:spPr>
        <p:txBody>
          <a:bodyPr/>
          <a:lstStyle/>
          <a:p>
            <a:r>
              <a:rPr lang="en-US" sz="1400" dirty="0" smtClean="0">
                <a:solidFill>
                  <a:srgbClr val="FF0000"/>
                </a:solidFill>
              </a:rPr>
              <a:t>What is DLT?</a:t>
            </a:r>
            <a:r>
              <a:rPr lang="en-US" sz="1400" dirty="0" smtClean="0"/>
              <a:t/>
            </a:r>
            <a:br>
              <a:rPr lang="en-US" sz="1400" dirty="0" smtClean="0"/>
            </a:br>
            <a:r>
              <a:rPr lang="en-US" sz="1400" dirty="0" smtClean="0"/>
              <a:t/>
            </a:r>
            <a:br>
              <a:rPr lang="en-US" sz="1400" dirty="0" smtClean="0"/>
            </a:br>
            <a:r>
              <a:rPr lang="en-US" sz="1400" dirty="0" smtClean="0"/>
              <a:t>DLT (Delta Live Tables) is a tool in </a:t>
            </a:r>
            <a:r>
              <a:rPr lang="en-US" sz="1400" dirty="0" err="1" smtClean="0"/>
              <a:t>Databricks</a:t>
            </a:r>
            <a:r>
              <a:rPr lang="en-US" sz="1400" dirty="0" smtClean="0"/>
              <a:t> that helps you easily build and manage data pipelines.</a:t>
            </a:r>
            <a:br>
              <a:rPr lang="en-US" sz="1400" dirty="0" smtClean="0"/>
            </a:br>
            <a:r>
              <a:rPr lang="en-US" sz="1400" dirty="0" smtClean="0"/>
              <a:t/>
            </a:r>
            <a:br>
              <a:rPr lang="en-US" sz="1400" dirty="0" smtClean="0"/>
            </a:br>
            <a:r>
              <a:rPr lang="en-US" sz="1400" dirty="0" smtClean="0"/>
              <a:t>It automates data tasks, ensuring your data is always clean, up-to-date, and ready for analysis.</a:t>
            </a:r>
            <a:br>
              <a:rPr lang="en-US" sz="1400" dirty="0" smtClean="0"/>
            </a:br>
            <a:r>
              <a:rPr lang="en-US" sz="1400" dirty="0" smtClean="0"/>
              <a:t/>
            </a:r>
            <a:br>
              <a:rPr lang="en-US" sz="1400" dirty="0" smtClean="0"/>
            </a:br>
            <a:r>
              <a:rPr lang="en-US" sz="1400" dirty="0" smtClean="0"/>
              <a:t>Whether you're working with large data sets or just a few tables, DLT simplifies the process.</a:t>
            </a:r>
            <a:br>
              <a:rPr lang="en-US" sz="1400" dirty="0" smtClean="0"/>
            </a:br>
            <a:r>
              <a:rPr lang="en-US" sz="1400" dirty="0" smtClean="0"/>
              <a:t/>
            </a:r>
            <a:br>
              <a:rPr lang="en-US" sz="1400" dirty="0" smtClean="0"/>
            </a:br>
            <a:r>
              <a:rPr lang="en-US" sz="1400" dirty="0" smtClean="0">
                <a:solidFill>
                  <a:srgbClr val="FF0000"/>
                </a:solidFill>
              </a:rPr>
              <a:t>How does DLT work?</a:t>
            </a:r>
            <a:r>
              <a:rPr lang="en-US" sz="1400" dirty="0" smtClean="0"/>
              <a:t/>
            </a:r>
            <a:br>
              <a:rPr lang="en-US" sz="1400" dirty="0" smtClean="0"/>
            </a:br>
            <a:r>
              <a:rPr lang="en-US" sz="1400" dirty="0" smtClean="0"/>
              <a:t/>
            </a:r>
            <a:br>
              <a:rPr lang="en-US" sz="1400" dirty="0" smtClean="0"/>
            </a:br>
            <a:r>
              <a:rPr lang="en-US" sz="1400" dirty="0" smtClean="0"/>
              <a:t>Simple Setup: Use basic SQL or Python to define your data pipelines. No complex coding required.</a:t>
            </a:r>
            <a:br>
              <a:rPr lang="en-US" sz="1400" dirty="0" smtClean="0"/>
            </a:br>
            <a:r>
              <a:rPr lang="en-US" sz="1400" dirty="0" smtClean="0"/>
              <a:t/>
            </a:r>
            <a:br>
              <a:rPr lang="en-US" sz="1400" dirty="0" smtClean="0"/>
            </a:br>
            <a:r>
              <a:rPr lang="en-US" sz="1400" dirty="0" smtClean="0"/>
              <a:t>Automated Data Management: DLT takes care of cleaning, organizing, and updating your data without you having to lift a finger.</a:t>
            </a:r>
            <a:br>
              <a:rPr lang="en-US" sz="1400" dirty="0" smtClean="0"/>
            </a:br>
            <a:r>
              <a:rPr lang="en-US" sz="1400" dirty="0" smtClean="0"/>
              <a:t/>
            </a:r>
            <a:br>
              <a:rPr lang="en-US" sz="1400" dirty="0" smtClean="0"/>
            </a:br>
            <a:r>
              <a:rPr lang="en-US" sz="1400" dirty="0" smtClean="0"/>
              <a:t>Built-in Data Checks: It ensures your data meets quality standards by running checks automatically.</a:t>
            </a:r>
            <a:br>
              <a:rPr lang="en-US" sz="1400" dirty="0" smtClean="0"/>
            </a:br>
            <a:r>
              <a:rPr lang="en-US" sz="1400" dirty="0" smtClean="0"/>
              <a:t/>
            </a:r>
            <a:br>
              <a:rPr lang="en-US" sz="1400" dirty="0" smtClean="0"/>
            </a:br>
            <a:r>
              <a:rPr lang="en-US" sz="1400" dirty="0" smtClean="0"/>
              <a:t>Data Versioning: Easily track changes in your data and see how it has evolved over time.</a:t>
            </a:r>
            <a:endParaRPr lang="en-US" sz="1400" dirty="0"/>
          </a:p>
        </p:txBody>
      </p:sp>
      <p:pic>
        <p:nvPicPr>
          <p:cNvPr id="4" name="Picture 3" descr="Cloud Computing.png"/>
          <p:cNvPicPr/>
          <p:nvPr/>
        </p:nvPicPr>
        <p:blipFill>
          <a:blip r:embed="rId2" cstate="print"/>
          <a:stretch>
            <a:fillRect/>
          </a:stretch>
        </p:blipFill>
        <p:spPr>
          <a:xfrm>
            <a:off x="10565017" y="6144600"/>
            <a:ext cx="1100045" cy="360000"/>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4" name="Picture 3"/>
          <p:cNvPicPr/>
          <p:nvPr/>
        </p:nvPicPr>
        <p:blipFill>
          <a:blip r:embed="rId2"/>
          <a:srcRect/>
          <a:stretch>
            <a:fillRect/>
          </a:stretch>
        </p:blipFill>
        <p:spPr bwMode="auto">
          <a:xfrm>
            <a:off x="2108200" y="923455"/>
            <a:ext cx="7310120" cy="4237825"/>
          </a:xfrm>
          <a:prstGeom prst="rect">
            <a:avLst/>
          </a:prstGeom>
          <a:noFill/>
          <a:ln w="9525">
            <a:noFill/>
            <a:miter lim="800000"/>
            <a:headEnd/>
            <a:tailEnd/>
          </a:ln>
        </p:spPr>
      </p:pic>
      <p:pic>
        <p:nvPicPr>
          <p:cNvPr id="5" name="Picture 4" descr="Cloud Computing.png"/>
          <p:cNvPicPr/>
          <p:nvPr/>
        </p:nvPicPr>
        <p:blipFill>
          <a:blip r:embed="rId3" cstate="print"/>
          <a:stretch>
            <a:fillRect/>
          </a:stretch>
        </p:blipFill>
        <p:spPr>
          <a:xfrm>
            <a:off x="10565017" y="6144600"/>
            <a:ext cx="1100045" cy="36000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4" name="Picture 3"/>
          <p:cNvPicPr/>
          <p:nvPr/>
        </p:nvPicPr>
        <p:blipFill>
          <a:blip r:embed="rId2"/>
          <a:srcRect/>
          <a:stretch>
            <a:fillRect/>
          </a:stretch>
        </p:blipFill>
        <p:spPr bwMode="auto">
          <a:xfrm>
            <a:off x="1132840" y="485627"/>
            <a:ext cx="9088120" cy="5143013"/>
          </a:xfrm>
          <a:prstGeom prst="rect">
            <a:avLst/>
          </a:prstGeom>
          <a:noFill/>
          <a:ln w="9525">
            <a:noFill/>
            <a:miter lim="800000"/>
            <a:headEnd/>
            <a:tailEnd/>
          </a:ln>
        </p:spPr>
      </p:pic>
      <p:pic>
        <p:nvPicPr>
          <p:cNvPr id="5" name="Picture 4" descr="Cloud Computing.png"/>
          <p:cNvPicPr/>
          <p:nvPr/>
        </p:nvPicPr>
        <p:blipFill>
          <a:blip r:embed="rId3" cstate="print"/>
          <a:stretch>
            <a:fillRect/>
          </a:stretch>
        </p:blipFill>
        <p:spPr>
          <a:xfrm>
            <a:off x="10565017" y="6144600"/>
            <a:ext cx="1100045" cy="36000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4" name="Picture 3"/>
          <p:cNvPicPr/>
          <p:nvPr/>
        </p:nvPicPr>
        <p:blipFill>
          <a:blip r:embed="rId2"/>
          <a:srcRect/>
          <a:stretch>
            <a:fillRect/>
          </a:stretch>
        </p:blipFill>
        <p:spPr bwMode="auto">
          <a:xfrm>
            <a:off x="2458720" y="1097280"/>
            <a:ext cx="7660640" cy="4297680"/>
          </a:xfrm>
          <a:prstGeom prst="rect">
            <a:avLst/>
          </a:prstGeom>
          <a:noFill/>
          <a:ln w="9525">
            <a:noFill/>
            <a:miter lim="800000"/>
            <a:headEnd/>
            <a:tailEnd/>
          </a:ln>
        </p:spPr>
      </p:pic>
      <p:pic>
        <p:nvPicPr>
          <p:cNvPr id="5" name="Picture 4" descr="Cloud Computing.png"/>
          <p:cNvPicPr/>
          <p:nvPr/>
        </p:nvPicPr>
        <p:blipFill>
          <a:blip r:embed="rId3" cstate="print"/>
          <a:stretch>
            <a:fillRect/>
          </a:stretch>
        </p:blipFill>
        <p:spPr>
          <a:xfrm>
            <a:off x="10565017" y="6144600"/>
            <a:ext cx="1100045" cy="36000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sz="quarter" idx="15"/>
          </p:nvPr>
        </p:nvSpPr>
        <p:spPr/>
        <p:txBody>
          <a:bodyPr/>
          <a:lstStyle/>
          <a:p>
            <a:endParaRPr lang="en-US"/>
          </a:p>
        </p:txBody>
      </p:sp>
      <p:pic>
        <p:nvPicPr>
          <p:cNvPr id="4" name="Picture 3"/>
          <p:cNvPicPr/>
          <p:nvPr/>
        </p:nvPicPr>
        <p:blipFill>
          <a:blip r:embed="rId2"/>
          <a:srcRect/>
          <a:stretch>
            <a:fillRect/>
          </a:stretch>
        </p:blipFill>
        <p:spPr bwMode="auto">
          <a:xfrm>
            <a:off x="1605280" y="1158240"/>
            <a:ext cx="8839200" cy="4643120"/>
          </a:xfrm>
          <a:prstGeom prst="rect">
            <a:avLst/>
          </a:prstGeom>
          <a:noFill/>
          <a:ln w="9525">
            <a:noFill/>
            <a:miter lim="800000"/>
            <a:headEnd/>
            <a:tailEnd/>
          </a:ln>
        </p:spPr>
      </p:pic>
      <p:pic>
        <p:nvPicPr>
          <p:cNvPr id="5" name="Picture 4" descr="Cloud Computing.png"/>
          <p:cNvPicPr/>
          <p:nvPr/>
        </p:nvPicPr>
        <p:blipFill>
          <a:blip r:embed="rId3" cstate="print"/>
          <a:stretch>
            <a:fillRect/>
          </a:stretch>
        </p:blipFill>
        <p:spPr>
          <a:xfrm>
            <a:off x="10565017" y="6144600"/>
            <a:ext cx="1100045" cy="360000"/>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468</Words>
  <Application>Microsoft Office PowerPoint</Application>
  <PresentationFormat>Custom</PresentationFormat>
  <Paragraphs>22</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Delta Live Tables (DLT)</vt:lpstr>
      <vt:lpstr>Slide 2</vt:lpstr>
      <vt:lpstr>Slide 3</vt:lpstr>
      <vt:lpstr>Slide 4</vt:lpstr>
      <vt:lpstr>Slide 5</vt:lpstr>
      <vt:lpstr>Slide 6</vt:lpstr>
      <vt:lpstr>What is DLT in Databricks and How Can It Simplify Your Data Pipelines?</vt:lpstr>
      <vt:lpstr>Slide 8</vt:lpstr>
      <vt:lpstr>Slide 9</vt:lpstr>
      <vt:lpstr>Slide 10</vt:lpstr>
      <vt:lpstr>Slide 11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Delta Live Tables (DLT)</dc:title>
  <dc:creator>Prabhjot Singh Bakshi</dc:creator>
  <cp:lastModifiedBy>hp</cp:lastModifiedBy>
  <cp:revision>3</cp:revision>
  <dcterms:created xsi:type="dcterms:W3CDTF">2024-12-04T20:18:08Z</dcterms:created>
  <dcterms:modified xsi:type="dcterms:W3CDTF">2025-07-22T03:29:29Z</dcterms:modified>
</cp:coreProperties>
</file>