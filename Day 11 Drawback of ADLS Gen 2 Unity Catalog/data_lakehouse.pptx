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56" r:id="rId2"/>
    <p:sldId id="2147479805" r:id="rId3"/>
    <p:sldId id="2147479825"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1166"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9T03:04:59.01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1,'2409'0,"-2381"0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1CC74C-200B-419B-A215-32EADE7C6E80}" type="datetimeFigureOut">
              <a:rPr lang="en-IN" smtClean="0"/>
              <a:t>04-12-2024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8869A1-DDE0-4E73-9A70-CEA32FBFCBD6}" type="slidenum">
              <a:rPr lang="en-IN" smtClean="0"/>
              <a:t>‹#›</a:t>
            </a:fld>
            <a:endParaRPr lang="en-IN"/>
          </a:p>
        </p:txBody>
      </p:sp>
    </p:spTree>
    <p:extLst>
      <p:ext uri="{BB962C8B-B14F-4D97-AF65-F5344CB8AC3E}">
        <p14:creationId xmlns:p14="http://schemas.microsoft.com/office/powerpoint/2010/main" val="2137924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Storage Foundation</a:t>
            </a:r>
            <a:r>
              <a:rPr lang="en-US" dirty="0"/>
              <a:t>: ADLS serves as the underlying storage layer for a data </a:t>
            </a:r>
            <a:r>
              <a:rPr lang="en-US" dirty="0" err="1"/>
              <a:t>lakehouse</a:t>
            </a:r>
            <a:r>
              <a:rPr lang="en-US" dirty="0"/>
              <a:t>. It provides the scalable and cost-effective storage needed to hold large volumes of data.</a:t>
            </a:r>
          </a:p>
          <a:p>
            <a:r>
              <a:rPr lang="en-US" b="1" dirty="0"/>
              <a:t>Delta Lake Integration</a:t>
            </a:r>
            <a:r>
              <a:rPr lang="en-US" dirty="0"/>
              <a:t>: On top of ADLS, Delta Lake is often used to add data management capabilities. Delta Lake provides ACID transactions, schema enforcement, and other data management features that enhance the reliability and performance of the data </a:t>
            </a:r>
            <a:r>
              <a:rPr lang="en-US" dirty="0" err="1"/>
              <a:t>lakehouse</a:t>
            </a:r>
            <a:r>
              <a:rPr lang="en-US" dirty="0"/>
              <a:t>.</a:t>
            </a:r>
          </a:p>
          <a:p>
            <a:r>
              <a:rPr lang="en-US" b="1" dirty="0"/>
              <a:t>Unified Data Access</a:t>
            </a:r>
            <a:r>
              <a:rPr lang="en-US" dirty="0"/>
              <a:t>: The data </a:t>
            </a:r>
            <a:r>
              <a:rPr lang="en-US" dirty="0" err="1"/>
              <a:t>lakehouse</a:t>
            </a:r>
            <a:r>
              <a:rPr lang="en-US" dirty="0"/>
              <a:t> architecture allows users to access and analyze data stored in ADLS using a single platform, simplifying data workflows and reducing the need for multiple systems</a:t>
            </a:r>
          </a:p>
          <a:p>
            <a:endParaRPr lang="en-IN" dirty="0"/>
          </a:p>
          <a:p>
            <a:endParaRPr lang="en-IN" dirty="0"/>
          </a:p>
          <a:p>
            <a:r>
              <a:rPr lang="en-US" dirty="0"/>
              <a:t>Delta Lake can be considered a bridge between traditional data lakes and data warehouses. By adding data warehouse-like management capabilities to data lakes (like ACID transactions and schema enforcement), Delta Lake transforms a simple data lake into a more robust, reliable, and performance-optimized data platform, which is sometimes referred to as a </a:t>
            </a:r>
            <a:r>
              <a:rPr lang="en-US" b="1" dirty="0"/>
              <a:t>data </a:t>
            </a:r>
            <a:r>
              <a:rPr lang="en-US" b="1" dirty="0" err="1"/>
              <a:t>lakehouse</a:t>
            </a:r>
            <a:endParaRPr lang="en-IN" b="1" dirty="0"/>
          </a:p>
          <a:p>
            <a:endParaRPr lang="en-IN" b="1" dirty="0"/>
          </a:p>
          <a:p>
            <a:r>
              <a:rPr lang="en-US" dirty="0"/>
              <a:t>Delta lake = data warehouse</a:t>
            </a:r>
          </a:p>
          <a:p>
            <a:r>
              <a:rPr lang="en-US" b="1" dirty="0"/>
              <a:t>Not quite. </a:t>
            </a:r>
            <a:r>
              <a:rPr lang="en-US" dirty="0"/>
              <a:t>Although Delta Lake provides some data warehouse-like features, it is not a data warehouse itself. Here's a breakdown:</a:t>
            </a:r>
          </a:p>
          <a:p>
            <a:endParaRPr lang="en-US" dirty="0"/>
          </a:p>
          <a:p>
            <a:r>
              <a:rPr lang="en-US" dirty="0"/>
              <a:t>Delta lake = data warehouse</a:t>
            </a:r>
          </a:p>
          <a:p>
            <a:r>
              <a:rPr lang="en-US" dirty="0"/>
              <a:t>Not quite. Although Delta Lake provides some data warehouse-like features, it is not a data warehouse itself. Here's a breakdown:</a:t>
            </a:r>
          </a:p>
          <a:p>
            <a:r>
              <a:rPr lang="en-US" b="1" dirty="0"/>
              <a:t>Delta Lake</a:t>
            </a:r>
          </a:p>
          <a:p>
            <a:pPr>
              <a:buFont typeface="Arial" panose="020B0604020202020204" pitchFamily="34" charset="0"/>
              <a:buChar char="•"/>
            </a:pPr>
            <a:r>
              <a:rPr lang="en-US" b="1" dirty="0"/>
              <a:t>Purpose</a:t>
            </a:r>
            <a:r>
              <a:rPr lang="en-US" dirty="0"/>
              <a:t>: Delta Lake is an open-source storage layer that adds reliability and performance optimizations to data lakes.</a:t>
            </a:r>
          </a:p>
          <a:p>
            <a:pPr>
              <a:buFont typeface="Arial" panose="020B0604020202020204" pitchFamily="34" charset="0"/>
              <a:buChar char="•"/>
            </a:pPr>
            <a:r>
              <a:rPr lang="en-US" b="1" dirty="0"/>
              <a:t>Features</a:t>
            </a:r>
            <a:r>
              <a:rPr lang="en-US" dirty="0"/>
              <a:t>: It provides ACID transactions, scalable metadata handling, and unified batch and streaming data processing.</a:t>
            </a:r>
          </a:p>
          <a:p>
            <a:pPr>
              <a:buFont typeface="Arial" panose="020B0604020202020204" pitchFamily="34" charset="0"/>
              <a:buChar char="•"/>
            </a:pPr>
            <a:r>
              <a:rPr lang="en-US" b="1" dirty="0"/>
              <a:t>Integration</a:t>
            </a:r>
            <a:r>
              <a:rPr lang="en-US" dirty="0"/>
              <a:t>: It integrates with big data tools like Apache Spark to enhance the capabilities of a data lake.</a:t>
            </a:r>
          </a:p>
          <a:p>
            <a:pPr>
              <a:buFont typeface="Arial" panose="020B0604020202020204" pitchFamily="34" charset="0"/>
              <a:buChar char="•"/>
            </a:pPr>
            <a:endParaRPr lang="en-US" dirty="0"/>
          </a:p>
          <a:p>
            <a:r>
              <a:rPr lang="en-US" b="1" dirty="0"/>
              <a:t>Data Warehouse</a:t>
            </a:r>
          </a:p>
          <a:p>
            <a:pPr>
              <a:buFont typeface="Arial" panose="020B0604020202020204" pitchFamily="34" charset="0"/>
              <a:buChar char="•"/>
            </a:pPr>
            <a:r>
              <a:rPr lang="en-US" b="1" dirty="0"/>
              <a:t>Purpose</a:t>
            </a:r>
            <a:r>
              <a:rPr lang="en-US" dirty="0"/>
              <a:t>: A data warehouse is a system designed for querying and analyzing large volumes of structured data, typically from various sources.</a:t>
            </a:r>
          </a:p>
          <a:p>
            <a:pPr>
              <a:buFont typeface="Arial" panose="020B0604020202020204" pitchFamily="34" charset="0"/>
              <a:buChar char="•"/>
            </a:pPr>
            <a:r>
              <a:rPr lang="en-US" b="1" dirty="0"/>
              <a:t>Features</a:t>
            </a:r>
            <a:r>
              <a:rPr lang="en-US" dirty="0"/>
              <a:t>: It includes optimized storage, complex querying capabilities, and data transformation functionalities, usually structured in a star or snowflake schema.</a:t>
            </a:r>
          </a:p>
          <a:p>
            <a:pPr>
              <a:buFont typeface="Arial" panose="020B0604020202020204" pitchFamily="34" charset="0"/>
              <a:buChar char="•"/>
            </a:pPr>
            <a:r>
              <a:rPr lang="en-US" b="1" dirty="0"/>
              <a:t>Usage</a:t>
            </a:r>
            <a:r>
              <a:rPr lang="en-US" dirty="0"/>
              <a:t>: Data warehouses are used for Business Intelligence (BI) and reporting.</a:t>
            </a:r>
          </a:p>
          <a:p>
            <a:endParaRPr lang="en-US" dirty="0"/>
          </a:p>
          <a:p>
            <a:endParaRPr lang="en-IN"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12/4/2024 1:12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38517140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058BF-C5E1-4B52-BD8A-FD1AD5779347}"/>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FCD51F7-3CC3-4BB7-8291-B1789482E8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FD320447-D6C7-43E1-AE88-1FB66CC9C55E}"/>
              </a:ext>
            </a:extLst>
          </p:cNvPr>
          <p:cNvSpPr>
            <a:spLocks noGrp="1"/>
          </p:cNvSpPr>
          <p:nvPr>
            <p:ph type="dt" sz="half" idx="10"/>
          </p:nvPr>
        </p:nvSpPr>
        <p:spPr/>
        <p:txBody>
          <a:bodyPr/>
          <a:lstStyle/>
          <a:p>
            <a:fld id="{3657AA7F-BE72-4467-897E-7A302F46504F}" type="datetimeFigureOut">
              <a:rPr lang="en-US" smtClean="0"/>
              <a:t>12/4/2024</a:t>
            </a:fld>
            <a:endParaRPr lang="en-US"/>
          </a:p>
        </p:txBody>
      </p:sp>
      <p:sp>
        <p:nvSpPr>
          <p:cNvPr id="5" name="Footer Placeholder 4">
            <a:extLst>
              <a:ext uri="{FF2B5EF4-FFF2-40B4-BE49-F238E27FC236}">
                <a16:creationId xmlns:a16="http://schemas.microsoft.com/office/drawing/2014/main" id="{6F5E17B6-E7FC-473A-8D5F-0E6B838EA7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4AF4E0-FDDB-42B9-862C-7BBC501CDAC5}"/>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913768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736C8-0B4F-4655-A630-0B1D2540B7DD}"/>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378B888-85E0-4D92-903E-C3FE7E870D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648916-250B-4232-BD7D-571FDE79F5E7}"/>
              </a:ext>
            </a:extLst>
          </p:cNvPr>
          <p:cNvSpPr>
            <a:spLocks noGrp="1"/>
          </p:cNvSpPr>
          <p:nvPr>
            <p:ph type="dt" sz="half" idx="10"/>
          </p:nvPr>
        </p:nvSpPr>
        <p:spPr/>
        <p:txBody>
          <a:bodyPr/>
          <a:lstStyle/>
          <a:p>
            <a:fld id="{3657AA7F-BE72-4467-897E-7A302F46504F}" type="datetimeFigureOut">
              <a:rPr lang="en-US" smtClean="0"/>
              <a:t>12/4/2024</a:t>
            </a:fld>
            <a:endParaRPr lang="en-US"/>
          </a:p>
        </p:txBody>
      </p:sp>
      <p:sp>
        <p:nvSpPr>
          <p:cNvPr id="5" name="Footer Placeholder 4">
            <a:extLst>
              <a:ext uri="{FF2B5EF4-FFF2-40B4-BE49-F238E27FC236}">
                <a16:creationId xmlns:a16="http://schemas.microsoft.com/office/drawing/2014/main" id="{B6A8BFB4-647C-4104-B6D4-3346051C36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0FA73F-2BE8-4370-AE90-58F4CE51FC5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547486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1446D-9FAC-4157-A41A-51675C8BE929}"/>
              </a:ext>
            </a:extLst>
          </p:cNvPr>
          <p:cNvSpPr>
            <a:spLocks noGrp="1"/>
          </p:cNvSpPr>
          <p:nvPr>
            <p:ph type="title"/>
          </p:nvPr>
        </p:nvSpPr>
        <p:spPr>
          <a:xfrm>
            <a:off x="730293" y="1709738"/>
            <a:ext cx="10617157" cy="2758895"/>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2AF8D4A-8F93-4399-9546-64F286400D24}"/>
              </a:ext>
            </a:extLst>
          </p:cNvPr>
          <p:cNvSpPr>
            <a:spLocks noGrp="1"/>
          </p:cNvSpPr>
          <p:nvPr>
            <p:ph type="body" idx="1"/>
          </p:nvPr>
        </p:nvSpPr>
        <p:spPr>
          <a:xfrm>
            <a:off x="730293" y="4589463"/>
            <a:ext cx="1061715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9C2FD4-BF96-470C-8247-20DFAE1CF870}"/>
              </a:ext>
            </a:extLst>
          </p:cNvPr>
          <p:cNvSpPr>
            <a:spLocks noGrp="1"/>
          </p:cNvSpPr>
          <p:nvPr>
            <p:ph type="dt" sz="half" idx="10"/>
          </p:nvPr>
        </p:nvSpPr>
        <p:spPr/>
        <p:txBody>
          <a:bodyPr/>
          <a:lstStyle/>
          <a:p>
            <a:fld id="{3657AA7F-BE72-4467-897E-7A302F46504F}" type="datetimeFigureOut">
              <a:rPr lang="en-US" smtClean="0"/>
              <a:t>12/4/2024</a:t>
            </a:fld>
            <a:endParaRPr lang="en-US"/>
          </a:p>
        </p:txBody>
      </p:sp>
      <p:sp>
        <p:nvSpPr>
          <p:cNvPr id="5" name="Footer Placeholder 4">
            <a:extLst>
              <a:ext uri="{FF2B5EF4-FFF2-40B4-BE49-F238E27FC236}">
                <a16:creationId xmlns:a16="http://schemas.microsoft.com/office/drawing/2014/main" id="{27175A2D-86C4-4467-BAB8-E9ED004D2C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442A4D-D9B2-4C82-95E4-B86F9F5F380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40996145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6B3AA-8C30-429E-B934-AF12204387B9}"/>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915834E-691F-4728-88F5-A0C4696695EB}"/>
              </a:ext>
            </a:extLst>
          </p:cNvPr>
          <p:cNvSpPr>
            <a:spLocks noGrp="1"/>
          </p:cNvSpPr>
          <p:nvPr>
            <p:ph sz="half" idx="1"/>
          </p:nvPr>
        </p:nvSpPr>
        <p:spPr>
          <a:xfrm>
            <a:off x="777240" y="1825625"/>
            <a:ext cx="52425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3876374-880F-4E25-9F88-79E3C1AB1F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19BD69-B509-4FCE-95A8-ED03FFC8CC3C}"/>
              </a:ext>
            </a:extLst>
          </p:cNvPr>
          <p:cNvSpPr>
            <a:spLocks noGrp="1"/>
          </p:cNvSpPr>
          <p:nvPr>
            <p:ph type="dt" sz="half" idx="10"/>
          </p:nvPr>
        </p:nvSpPr>
        <p:spPr/>
        <p:txBody>
          <a:bodyPr/>
          <a:lstStyle/>
          <a:p>
            <a:fld id="{3657AA7F-BE72-4467-897E-7A302F46504F}" type="datetimeFigureOut">
              <a:rPr lang="en-US" smtClean="0"/>
              <a:t>12/4/2024</a:t>
            </a:fld>
            <a:endParaRPr lang="en-US"/>
          </a:p>
        </p:txBody>
      </p:sp>
      <p:sp>
        <p:nvSpPr>
          <p:cNvPr id="6" name="Footer Placeholder 5">
            <a:extLst>
              <a:ext uri="{FF2B5EF4-FFF2-40B4-BE49-F238E27FC236}">
                <a16:creationId xmlns:a16="http://schemas.microsoft.com/office/drawing/2014/main" id="{DB7C287B-AE5B-490B-BF81-A50D7A2E87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3C2246-303C-4A29-B6EA-E62CEDE6C2A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868275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2FE79-D5BE-43E8-B6C5-2675B7F4D818}"/>
              </a:ext>
            </a:extLst>
          </p:cNvPr>
          <p:cNvSpPr>
            <a:spLocks noGrp="1"/>
          </p:cNvSpPr>
          <p:nvPr>
            <p:ph type="title"/>
          </p:nvPr>
        </p:nvSpPr>
        <p:spPr>
          <a:xfrm>
            <a:off x="777240" y="365125"/>
            <a:ext cx="10578148"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69D3A07-BA51-4113-902E-830A887D2394}"/>
              </a:ext>
            </a:extLst>
          </p:cNvPr>
          <p:cNvSpPr>
            <a:spLocks noGrp="1"/>
          </p:cNvSpPr>
          <p:nvPr>
            <p:ph type="body" idx="1"/>
          </p:nvPr>
        </p:nvSpPr>
        <p:spPr>
          <a:xfrm>
            <a:off x="777240" y="1803903"/>
            <a:ext cx="522033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E320A9-E274-4E1B-B02D-9A3F510A1F22}"/>
              </a:ext>
            </a:extLst>
          </p:cNvPr>
          <p:cNvSpPr>
            <a:spLocks noGrp="1"/>
          </p:cNvSpPr>
          <p:nvPr>
            <p:ph sz="half" idx="2"/>
          </p:nvPr>
        </p:nvSpPr>
        <p:spPr>
          <a:xfrm>
            <a:off x="777240" y="2737063"/>
            <a:ext cx="5220335" cy="3452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DBE80D3A-C2A8-4B78-B7E2-4908C74B1C43}"/>
              </a:ext>
            </a:extLst>
          </p:cNvPr>
          <p:cNvSpPr>
            <a:spLocks noGrp="1"/>
          </p:cNvSpPr>
          <p:nvPr>
            <p:ph type="body" sz="quarter" idx="3"/>
          </p:nvPr>
        </p:nvSpPr>
        <p:spPr>
          <a:xfrm>
            <a:off x="6172200" y="180390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5D84DD-9460-4B08-86AD-27486A940047}"/>
              </a:ext>
            </a:extLst>
          </p:cNvPr>
          <p:cNvSpPr>
            <a:spLocks noGrp="1"/>
          </p:cNvSpPr>
          <p:nvPr>
            <p:ph sz="quarter" idx="4"/>
          </p:nvPr>
        </p:nvSpPr>
        <p:spPr>
          <a:xfrm>
            <a:off x="6172200" y="2737063"/>
            <a:ext cx="5183188" cy="3452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B0B7F8-282C-4210-AE7D-F35228BAC803}"/>
              </a:ext>
            </a:extLst>
          </p:cNvPr>
          <p:cNvSpPr>
            <a:spLocks noGrp="1"/>
          </p:cNvSpPr>
          <p:nvPr>
            <p:ph type="dt" sz="half" idx="10"/>
          </p:nvPr>
        </p:nvSpPr>
        <p:spPr/>
        <p:txBody>
          <a:bodyPr/>
          <a:lstStyle/>
          <a:p>
            <a:fld id="{3657AA7F-BE72-4467-897E-7A302F46504F}" type="datetimeFigureOut">
              <a:rPr lang="en-US" smtClean="0"/>
              <a:t>12/4/2024</a:t>
            </a:fld>
            <a:endParaRPr lang="en-US"/>
          </a:p>
        </p:txBody>
      </p:sp>
      <p:sp>
        <p:nvSpPr>
          <p:cNvPr id="8" name="Footer Placeholder 7">
            <a:extLst>
              <a:ext uri="{FF2B5EF4-FFF2-40B4-BE49-F238E27FC236}">
                <a16:creationId xmlns:a16="http://schemas.microsoft.com/office/drawing/2014/main" id="{FAE343A9-1067-4DCF-BACC-1F7F380502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F84E471-04DB-4DB5-8CC5-16B3FC88509D}"/>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146296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D87C0-272E-4E50-A316-78079B2B923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06C1C9-1F69-432A-858C-D828B56E1659}"/>
              </a:ext>
            </a:extLst>
          </p:cNvPr>
          <p:cNvSpPr>
            <a:spLocks noGrp="1"/>
          </p:cNvSpPr>
          <p:nvPr>
            <p:ph type="dt" sz="half" idx="10"/>
          </p:nvPr>
        </p:nvSpPr>
        <p:spPr/>
        <p:txBody>
          <a:bodyPr/>
          <a:lstStyle/>
          <a:p>
            <a:fld id="{3657AA7F-BE72-4467-897E-7A302F46504F}" type="datetimeFigureOut">
              <a:rPr lang="en-US" smtClean="0"/>
              <a:t>12/4/2024</a:t>
            </a:fld>
            <a:endParaRPr lang="en-US"/>
          </a:p>
        </p:txBody>
      </p:sp>
      <p:sp>
        <p:nvSpPr>
          <p:cNvPr id="4" name="Footer Placeholder 3">
            <a:extLst>
              <a:ext uri="{FF2B5EF4-FFF2-40B4-BE49-F238E27FC236}">
                <a16:creationId xmlns:a16="http://schemas.microsoft.com/office/drawing/2014/main" id="{BD6D9A1B-D149-4B97-B161-3D7C9ADBCF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B3722F-8C88-4E54-8CD6-12D31A05F813}"/>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421856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1B4EE-6DFC-45F3-9174-D913EB57CB9D}"/>
              </a:ext>
            </a:extLst>
          </p:cNvPr>
          <p:cNvSpPr>
            <a:spLocks noGrp="1"/>
          </p:cNvSpPr>
          <p:nvPr>
            <p:ph type="dt" sz="half" idx="10"/>
          </p:nvPr>
        </p:nvSpPr>
        <p:spPr/>
        <p:txBody>
          <a:bodyPr/>
          <a:lstStyle/>
          <a:p>
            <a:fld id="{3657AA7F-BE72-4467-897E-7A302F46504F}" type="datetimeFigureOut">
              <a:rPr lang="en-US" smtClean="0"/>
              <a:t>12/4/2024</a:t>
            </a:fld>
            <a:endParaRPr lang="en-US"/>
          </a:p>
        </p:txBody>
      </p:sp>
      <p:sp>
        <p:nvSpPr>
          <p:cNvPr id="3" name="Footer Placeholder 2">
            <a:extLst>
              <a:ext uri="{FF2B5EF4-FFF2-40B4-BE49-F238E27FC236}">
                <a16:creationId xmlns:a16="http://schemas.microsoft.com/office/drawing/2014/main" id="{0BF7F7DC-6DDE-4337-AD27-BBE7D54224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CC58EA9-3AC4-421E-B133-1FA7757DF8BA}"/>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7521449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035BB-74CC-43E9-B71F-A5C05D17EB78}"/>
              </a:ext>
            </a:extLst>
          </p:cNvPr>
          <p:cNvSpPr>
            <a:spLocks noGrp="1"/>
          </p:cNvSpPr>
          <p:nvPr>
            <p:ph type="title"/>
          </p:nvPr>
        </p:nvSpPr>
        <p:spPr>
          <a:xfrm>
            <a:off x="777240" y="457200"/>
            <a:ext cx="399478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CAADC9E-7845-4DB1-87E3-6FBFB2B03B8A}"/>
              </a:ext>
            </a:extLst>
          </p:cNvPr>
          <p:cNvSpPr>
            <a:spLocks noGrp="1"/>
          </p:cNvSpPr>
          <p:nvPr>
            <p:ph idx="1"/>
          </p:nvPr>
        </p:nvSpPr>
        <p:spPr>
          <a:xfrm>
            <a:off x="5183188" y="457201"/>
            <a:ext cx="6172200" cy="540385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5C925A8-2A07-43B9-B549-061F3684986B}"/>
              </a:ext>
            </a:extLst>
          </p:cNvPr>
          <p:cNvSpPr>
            <a:spLocks noGrp="1"/>
          </p:cNvSpPr>
          <p:nvPr>
            <p:ph type="body" sz="half" idx="2"/>
          </p:nvPr>
        </p:nvSpPr>
        <p:spPr>
          <a:xfrm>
            <a:off x="777240" y="2226364"/>
            <a:ext cx="3994785" cy="3642623"/>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1A9037-0564-43A1-8156-1D9932E1F85F}"/>
              </a:ext>
            </a:extLst>
          </p:cNvPr>
          <p:cNvSpPr>
            <a:spLocks noGrp="1"/>
          </p:cNvSpPr>
          <p:nvPr>
            <p:ph type="dt" sz="half" idx="10"/>
          </p:nvPr>
        </p:nvSpPr>
        <p:spPr/>
        <p:txBody>
          <a:bodyPr/>
          <a:lstStyle/>
          <a:p>
            <a:fld id="{3657AA7F-BE72-4467-897E-7A302F46504F}" type="datetimeFigureOut">
              <a:rPr lang="en-US" smtClean="0"/>
              <a:t>12/4/2024</a:t>
            </a:fld>
            <a:endParaRPr lang="en-US"/>
          </a:p>
        </p:txBody>
      </p:sp>
      <p:sp>
        <p:nvSpPr>
          <p:cNvPr id="6" name="Footer Placeholder 5">
            <a:extLst>
              <a:ext uri="{FF2B5EF4-FFF2-40B4-BE49-F238E27FC236}">
                <a16:creationId xmlns:a16="http://schemas.microsoft.com/office/drawing/2014/main" id="{CBFF0D40-D0E1-49C9-BE47-91BBC50AB2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D129BD-890D-412E-9805-D29F4A0D362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550921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8ADB4-BA7B-42C2-9C6C-58B2763F8617}"/>
              </a:ext>
            </a:extLst>
          </p:cNvPr>
          <p:cNvSpPr>
            <a:spLocks noGrp="1"/>
          </p:cNvSpPr>
          <p:nvPr>
            <p:ph type="title"/>
          </p:nvPr>
        </p:nvSpPr>
        <p:spPr>
          <a:xfrm>
            <a:off x="718020" y="457200"/>
            <a:ext cx="4054006"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9519B58-B546-4E6B-BE00-3D1D64DA8699}"/>
              </a:ext>
            </a:extLst>
          </p:cNvPr>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3FAA0AB8-41A9-4548-9B83-3EFF79A00793}"/>
              </a:ext>
            </a:extLst>
          </p:cNvPr>
          <p:cNvSpPr>
            <a:spLocks noGrp="1"/>
          </p:cNvSpPr>
          <p:nvPr>
            <p:ph type="body" sz="half" idx="2"/>
          </p:nvPr>
        </p:nvSpPr>
        <p:spPr>
          <a:xfrm>
            <a:off x="718020" y="2250218"/>
            <a:ext cx="4054006" cy="3618769"/>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BB33ED-A015-4992-A004-33D41CFFADA1}"/>
              </a:ext>
            </a:extLst>
          </p:cNvPr>
          <p:cNvSpPr>
            <a:spLocks noGrp="1"/>
          </p:cNvSpPr>
          <p:nvPr>
            <p:ph type="dt" sz="half" idx="10"/>
          </p:nvPr>
        </p:nvSpPr>
        <p:spPr/>
        <p:txBody>
          <a:bodyPr/>
          <a:lstStyle/>
          <a:p>
            <a:fld id="{3657AA7F-BE72-4467-897E-7A302F46504F}" type="datetimeFigureOut">
              <a:rPr lang="en-US" smtClean="0"/>
              <a:t>12/4/2024</a:t>
            </a:fld>
            <a:endParaRPr lang="en-US"/>
          </a:p>
        </p:txBody>
      </p:sp>
      <p:sp>
        <p:nvSpPr>
          <p:cNvPr id="6" name="Footer Placeholder 5">
            <a:extLst>
              <a:ext uri="{FF2B5EF4-FFF2-40B4-BE49-F238E27FC236}">
                <a16:creationId xmlns:a16="http://schemas.microsoft.com/office/drawing/2014/main" id="{D3C29CDA-E85F-47D1-83B7-02A50DEBFD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49625F-5352-4136-8AC4-F8899D00A1A9}"/>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711999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E922F-6166-4009-A42D-027DC7180715}"/>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F7791CF-167D-446D-9F99-6976C986E2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3CA422-E040-4DE1-9DA5-C8D37C116A7B}"/>
              </a:ext>
            </a:extLst>
          </p:cNvPr>
          <p:cNvSpPr>
            <a:spLocks noGrp="1"/>
          </p:cNvSpPr>
          <p:nvPr>
            <p:ph type="dt" sz="half" idx="10"/>
          </p:nvPr>
        </p:nvSpPr>
        <p:spPr/>
        <p:txBody>
          <a:bodyPr/>
          <a:lstStyle/>
          <a:p>
            <a:fld id="{3657AA7F-BE72-4467-897E-7A302F46504F}" type="datetimeFigureOut">
              <a:rPr lang="en-US" smtClean="0"/>
              <a:t>12/4/2024</a:t>
            </a:fld>
            <a:endParaRPr lang="en-US"/>
          </a:p>
        </p:txBody>
      </p:sp>
      <p:sp>
        <p:nvSpPr>
          <p:cNvPr id="5" name="Footer Placeholder 4">
            <a:extLst>
              <a:ext uri="{FF2B5EF4-FFF2-40B4-BE49-F238E27FC236}">
                <a16:creationId xmlns:a16="http://schemas.microsoft.com/office/drawing/2014/main" id="{6C813B0B-60E7-494E-91CB-055BC26906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48C554-7C1B-4D8F-9B6B-04492656904B}"/>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42457195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C66EF0-6ED8-49A7-BDAD-E20A143FAE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FCE9CD-90A9-44BA-B293-0662E077DDE9}"/>
              </a:ext>
            </a:extLst>
          </p:cNvPr>
          <p:cNvSpPr>
            <a:spLocks noGrp="1"/>
          </p:cNvSpPr>
          <p:nvPr>
            <p:ph type="body" orient="vert" idx="1"/>
          </p:nvPr>
        </p:nvSpPr>
        <p:spPr>
          <a:xfrm>
            <a:off x="777240" y="365125"/>
            <a:ext cx="779526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857DAE0-05C4-460B-B96D-BD183ED030C4}"/>
              </a:ext>
            </a:extLst>
          </p:cNvPr>
          <p:cNvSpPr>
            <a:spLocks noGrp="1"/>
          </p:cNvSpPr>
          <p:nvPr>
            <p:ph type="dt" sz="half" idx="10"/>
          </p:nvPr>
        </p:nvSpPr>
        <p:spPr/>
        <p:txBody>
          <a:bodyPr/>
          <a:lstStyle/>
          <a:p>
            <a:fld id="{3657AA7F-BE72-4467-897E-7A302F46504F}" type="datetimeFigureOut">
              <a:rPr lang="en-US" smtClean="0"/>
              <a:t>12/4/2024</a:t>
            </a:fld>
            <a:endParaRPr lang="en-US"/>
          </a:p>
        </p:txBody>
      </p:sp>
      <p:sp>
        <p:nvSpPr>
          <p:cNvPr id="5" name="Footer Placeholder 4">
            <a:extLst>
              <a:ext uri="{FF2B5EF4-FFF2-40B4-BE49-F238E27FC236}">
                <a16:creationId xmlns:a16="http://schemas.microsoft.com/office/drawing/2014/main" id="{33B3CA93-55C9-4AA3-89A0-55490F745B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BFD820-FF26-4325-816F-310C30F80ACC}"/>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5273223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369332"/>
          </a:xfrm>
        </p:spPr>
        <p:txBody>
          <a:bodyPr/>
          <a:lstStyle>
            <a:lvl1pPr>
              <a:defRPr sz="2400" b="0" i="0">
                <a:solidFill>
                  <a:schemeClr val="tx1"/>
                </a:solidFill>
                <a:latin typeface="+mj-lt"/>
                <a:cs typeface="Segoe UI Semibold" panose="020B0502040204020203" pitchFamily="34" charset="0"/>
              </a:defRPr>
            </a:lvl1pPr>
          </a:lstStyle>
          <a:p>
            <a:r>
              <a:rPr lang="en-US" dirty="0"/>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F16CAC6C-E57B-D312-6754-C68FA11C55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20675165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CD62DB5A-5AA0-4E7E-94AB-AD20F02CA8DF}"/>
              </a:ext>
            </a:extLst>
          </p:cNvPr>
          <p:cNvSpPr/>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11" name="Rectangle 10">
            <a:extLst>
              <a:ext uri="{FF2B5EF4-FFF2-40B4-BE49-F238E27FC236}">
                <a16:creationId xmlns:a16="http://schemas.microsoft.com/office/drawing/2014/main" id="{0F086ECE-EF43-4B07-9DD0-59679471A067}"/>
              </a:ext>
            </a:extLst>
          </p:cNvPr>
          <p:cNvSpPr/>
          <p:nvPr/>
        </p:nvSpPr>
        <p:spPr>
          <a:xfrm>
            <a:off x="3048" y="0"/>
            <a:ext cx="12188952" cy="6858000"/>
          </a:xfrm>
          <a:prstGeom prst="rect">
            <a:avLst/>
          </a:prstGeom>
          <a:solidFill>
            <a:schemeClr val="bg2">
              <a:lumMod val="90000"/>
              <a:lumOff val="1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2" name="Title Placeholder 1">
            <a:extLst>
              <a:ext uri="{FF2B5EF4-FFF2-40B4-BE49-F238E27FC236}">
                <a16:creationId xmlns:a16="http://schemas.microsoft.com/office/drawing/2014/main" id="{12D3A74F-6169-4D30-A245-B46D738BEA81}"/>
              </a:ext>
            </a:extLst>
          </p:cNvPr>
          <p:cNvSpPr>
            <a:spLocks noGrp="1"/>
          </p:cNvSpPr>
          <p:nvPr>
            <p:ph type="title"/>
          </p:nvPr>
        </p:nvSpPr>
        <p:spPr>
          <a:xfrm>
            <a:off x="777242" y="365125"/>
            <a:ext cx="10637518"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3877E64-7A05-44DA-81FA-6EF4806BBF0E}"/>
              </a:ext>
            </a:extLst>
          </p:cNvPr>
          <p:cNvSpPr>
            <a:spLocks noGrp="1"/>
          </p:cNvSpPr>
          <p:nvPr>
            <p:ph type="body" idx="1"/>
          </p:nvPr>
        </p:nvSpPr>
        <p:spPr>
          <a:xfrm>
            <a:off x="777242" y="1825625"/>
            <a:ext cx="10637518"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42C5EC6-E331-4312-AC12-56D55F7D2B15}"/>
              </a:ext>
            </a:extLst>
          </p:cNvPr>
          <p:cNvSpPr>
            <a:spLocks noGrp="1"/>
          </p:cNvSpPr>
          <p:nvPr>
            <p:ph type="dt" sz="half" idx="2"/>
          </p:nvPr>
        </p:nvSpPr>
        <p:spPr>
          <a:xfrm>
            <a:off x="777242" y="6488268"/>
            <a:ext cx="2743200" cy="233209"/>
          </a:xfrm>
          <a:prstGeom prst="rect">
            <a:avLst/>
          </a:prstGeom>
        </p:spPr>
        <p:txBody>
          <a:bodyPr vert="horz" lIns="91440" tIns="45720" rIns="91440" bIns="45720" rtlCol="0" anchor="ctr"/>
          <a:lstStyle>
            <a:lvl1pPr algn="l">
              <a:defRPr sz="1000">
                <a:solidFill>
                  <a:schemeClr val="tx1"/>
                </a:solidFill>
              </a:defRPr>
            </a:lvl1pPr>
          </a:lstStyle>
          <a:p>
            <a:fld id="{3657AA7F-BE72-4467-897E-7A302F46504F}" type="datetimeFigureOut">
              <a:rPr lang="en-US" smtClean="0"/>
              <a:pPr/>
              <a:t>12/4/2024</a:t>
            </a:fld>
            <a:endParaRPr lang="en-US" dirty="0"/>
          </a:p>
        </p:txBody>
      </p:sp>
      <p:sp>
        <p:nvSpPr>
          <p:cNvPr id="5" name="Footer Placeholder 4">
            <a:extLst>
              <a:ext uri="{FF2B5EF4-FFF2-40B4-BE49-F238E27FC236}">
                <a16:creationId xmlns:a16="http://schemas.microsoft.com/office/drawing/2014/main" id="{3337FC5D-92B2-4B4D-8111-6EDEF280692A}"/>
              </a:ext>
            </a:extLst>
          </p:cNvPr>
          <p:cNvSpPr>
            <a:spLocks noGrp="1"/>
          </p:cNvSpPr>
          <p:nvPr>
            <p:ph type="ftr" sz="quarter" idx="3"/>
          </p:nvPr>
        </p:nvSpPr>
        <p:spPr>
          <a:xfrm>
            <a:off x="4038600" y="6488268"/>
            <a:ext cx="4114800" cy="233209"/>
          </a:xfrm>
          <a:prstGeom prst="rect">
            <a:avLst/>
          </a:prstGeom>
        </p:spPr>
        <p:txBody>
          <a:bodyPr vert="horz" lIns="91440" tIns="45720" rIns="91440" bIns="45720" rtlCol="0" anchor="ctr"/>
          <a:lstStyle>
            <a:lvl1pPr algn="ctr">
              <a:defRPr sz="1000">
                <a:solidFill>
                  <a:schemeClr val="tx1"/>
                </a:solidFill>
              </a:defRPr>
            </a:lvl1pPr>
          </a:lstStyle>
          <a:p>
            <a:endParaRPr lang="en-US">
              <a:solidFill>
                <a:schemeClr val="tx1"/>
              </a:solidFill>
            </a:endParaRPr>
          </a:p>
        </p:txBody>
      </p:sp>
      <p:sp>
        <p:nvSpPr>
          <p:cNvPr id="6" name="Slide Number Placeholder 5">
            <a:extLst>
              <a:ext uri="{FF2B5EF4-FFF2-40B4-BE49-F238E27FC236}">
                <a16:creationId xmlns:a16="http://schemas.microsoft.com/office/drawing/2014/main" id="{723A104D-C777-4A6E-8A43-F94028E5E311}"/>
              </a:ext>
            </a:extLst>
          </p:cNvPr>
          <p:cNvSpPr>
            <a:spLocks noGrp="1"/>
          </p:cNvSpPr>
          <p:nvPr>
            <p:ph type="sldNum" sz="quarter" idx="4"/>
          </p:nvPr>
        </p:nvSpPr>
        <p:spPr>
          <a:xfrm>
            <a:off x="8671560" y="6488268"/>
            <a:ext cx="2743200" cy="233209"/>
          </a:xfrm>
          <a:prstGeom prst="rect">
            <a:avLst/>
          </a:prstGeom>
        </p:spPr>
        <p:txBody>
          <a:bodyPr vert="horz" lIns="91440" tIns="45720" rIns="91440" bIns="45720" rtlCol="0" anchor="ctr"/>
          <a:lstStyle>
            <a:lvl1pPr algn="r">
              <a:defRPr sz="1000">
                <a:solidFill>
                  <a:schemeClr val="tx1"/>
                </a:solidFill>
              </a:defRPr>
            </a:lvl1pPr>
          </a:lstStyle>
          <a:p>
            <a:fld id="{35747434-7036-48DB-A148-6B3D8EE75CDA}" type="slidenum">
              <a:rPr lang="en-US" smtClean="0"/>
              <a:pPr/>
              <a:t>‹#›</a:t>
            </a:fld>
            <a:endParaRPr lang="en-US" dirty="0"/>
          </a:p>
        </p:txBody>
      </p:sp>
    </p:spTree>
    <p:extLst>
      <p:ext uri="{BB962C8B-B14F-4D97-AF65-F5344CB8AC3E}">
        <p14:creationId xmlns:p14="http://schemas.microsoft.com/office/powerpoint/2010/main" val="431174112"/>
      </p:ext>
    </p:extLst>
  </p:cSld>
  <p:clrMap bg1="dk1" tx1="lt1" bg2="dk2" tx2="lt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 id="2147483672" r:id="rId12"/>
  </p:sldLayoutIdLst>
  <p:txStyles>
    <p:titleStyle>
      <a:lvl1pPr algn="l" defTabSz="914400" rtl="0" eaLnBrk="1" latinLnBrk="0" hangingPunct="1">
        <a:lnSpc>
          <a:spcPct val="90000"/>
        </a:lnSpc>
        <a:spcBef>
          <a:spcPct val="0"/>
        </a:spcBef>
        <a:buNone/>
        <a:defRPr sz="5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lumMod val="60000"/>
            <a:lumOff val="40000"/>
          </a:schemeClr>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lumMod val="60000"/>
            <a:lumOff val="40000"/>
          </a:schemeClr>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lumMod val="60000"/>
            <a:lumOff val="40000"/>
          </a:schemeClr>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lumMod val="60000"/>
            <a:lumOff val="40000"/>
          </a:schemeClr>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lumMod val="60000"/>
            <a:lumOff val="40000"/>
          </a:schemeClr>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58.png"/><Relationship Id="rId4" Type="http://schemas.openxmlformats.org/officeDocument/2006/relationships/customXml" Target="../ink/ink1.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04CF648-5CB3-49E4-BE34-8A0598901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11" name="Rectangle 10">
            <a:extLst>
              <a:ext uri="{FF2B5EF4-FFF2-40B4-BE49-F238E27FC236}">
                <a16:creationId xmlns:a16="http://schemas.microsoft.com/office/drawing/2014/main" id="{669E559C-09DA-4586-86C9-F3C05D9A08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lumMod val="90000"/>
              <a:lumOff val="1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2" name="Title 1">
            <a:extLst>
              <a:ext uri="{FF2B5EF4-FFF2-40B4-BE49-F238E27FC236}">
                <a16:creationId xmlns:a16="http://schemas.microsoft.com/office/drawing/2014/main" id="{998FB5F8-20AA-1C64-C3FE-8586C3CB8FE9}"/>
              </a:ext>
            </a:extLst>
          </p:cNvPr>
          <p:cNvSpPr>
            <a:spLocks noGrp="1"/>
          </p:cNvSpPr>
          <p:nvPr>
            <p:ph type="ctrTitle"/>
          </p:nvPr>
        </p:nvSpPr>
        <p:spPr>
          <a:xfrm>
            <a:off x="195534" y="1467538"/>
            <a:ext cx="4703037" cy="2098909"/>
          </a:xfrm>
        </p:spPr>
        <p:txBody>
          <a:bodyPr>
            <a:normAutofit/>
          </a:bodyPr>
          <a:lstStyle/>
          <a:p>
            <a:pPr algn="l"/>
            <a:r>
              <a:rPr lang="en-US" dirty="0"/>
              <a:t>Data Lakehouse</a:t>
            </a:r>
            <a:endParaRPr lang="en-IN" dirty="0"/>
          </a:p>
        </p:txBody>
      </p:sp>
      <p:sp>
        <p:nvSpPr>
          <p:cNvPr id="3" name="Subtitle 2">
            <a:extLst>
              <a:ext uri="{FF2B5EF4-FFF2-40B4-BE49-F238E27FC236}">
                <a16:creationId xmlns:a16="http://schemas.microsoft.com/office/drawing/2014/main" id="{589E3992-CE7D-1FA6-3E1B-CF003B6BAA90}"/>
              </a:ext>
            </a:extLst>
          </p:cNvPr>
          <p:cNvSpPr>
            <a:spLocks noGrp="1"/>
          </p:cNvSpPr>
          <p:nvPr>
            <p:ph type="subTitle" idx="1"/>
          </p:nvPr>
        </p:nvSpPr>
        <p:spPr>
          <a:xfrm>
            <a:off x="1463384" y="3595037"/>
            <a:ext cx="4116035" cy="1655762"/>
          </a:xfrm>
        </p:spPr>
        <p:txBody>
          <a:bodyPr>
            <a:normAutofit/>
          </a:bodyPr>
          <a:lstStyle/>
          <a:p>
            <a:pPr algn="l"/>
            <a:r>
              <a:rPr lang="en-US" dirty="0"/>
              <a:t>(What is it?)</a:t>
            </a:r>
            <a:endParaRPr lang="en-IN"/>
          </a:p>
        </p:txBody>
      </p:sp>
      <p:sp>
        <p:nvSpPr>
          <p:cNvPr id="13" name="Rectangle 12">
            <a:extLst>
              <a:ext uri="{FF2B5EF4-FFF2-40B4-BE49-F238E27FC236}">
                <a16:creationId xmlns:a16="http://schemas.microsoft.com/office/drawing/2014/main" id="{89CB4E80-C571-41A6-BC8A-968D8C75FB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32199" y="0"/>
            <a:ext cx="3429000" cy="3429000"/>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E072F3AA-7F60-24FD-C05B-3BD85D43D1CC}"/>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79419" y="247221"/>
            <a:ext cx="2934559" cy="2934559"/>
          </a:xfrm>
          <a:prstGeom prst="rect">
            <a:avLst/>
          </a:prstGeom>
        </p:spPr>
      </p:pic>
      <p:sp>
        <p:nvSpPr>
          <p:cNvPr id="15" name="Rectangle 14">
            <a:extLst>
              <a:ext uri="{FF2B5EF4-FFF2-40B4-BE49-F238E27FC236}">
                <a16:creationId xmlns:a16="http://schemas.microsoft.com/office/drawing/2014/main" id="{87AA7ECE-DB5E-48B2-9EF4-7EEAF123BA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3000" y="0"/>
            <a:ext cx="3429000" cy="3429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raphic 16">
            <a:extLst>
              <a:ext uri="{FF2B5EF4-FFF2-40B4-BE49-F238E27FC236}">
                <a16:creationId xmlns:a16="http://schemas.microsoft.com/office/drawing/2014/main" id="{4C072E0C-5768-4B45-A438-DFFA8AF4C6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767754" y="0"/>
            <a:ext cx="3429000" cy="3429000"/>
          </a:xfrm>
          <a:prstGeom prst="rect">
            <a:avLst/>
          </a:prstGeom>
        </p:spPr>
      </p:pic>
      <p:sp>
        <p:nvSpPr>
          <p:cNvPr id="19" name="Rectangle 18">
            <a:extLst>
              <a:ext uri="{FF2B5EF4-FFF2-40B4-BE49-F238E27FC236}">
                <a16:creationId xmlns:a16="http://schemas.microsoft.com/office/drawing/2014/main" id="{454F422E-435A-4694-BE6E-B4968E7981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32199" y="3427200"/>
            <a:ext cx="3430800" cy="3430800"/>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ADE9F60-E2BA-44E6-8C5B-A51B19292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1200" y="3427200"/>
            <a:ext cx="3430800" cy="3430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a:extLst>
              <a:ext uri="{FF2B5EF4-FFF2-40B4-BE49-F238E27FC236}">
                <a16:creationId xmlns:a16="http://schemas.microsoft.com/office/drawing/2014/main" id="{02430862-1B4A-470B-8AD3-780215B6739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6">
            <a:duotone>
              <a:schemeClr val="accent3">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767754" y="3429000"/>
            <a:ext cx="3429000" cy="3429000"/>
          </a:xfrm>
          <a:prstGeom prst="rect">
            <a:avLst/>
          </a:prstGeom>
        </p:spPr>
      </p:pic>
      <p:pic>
        <p:nvPicPr>
          <p:cNvPr id="25" name="Graphic 24">
            <a:extLst>
              <a:ext uri="{FF2B5EF4-FFF2-40B4-BE49-F238E27FC236}">
                <a16:creationId xmlns:a16="http://schemas.microsoft.com/office/drawing/2014/main" id="{B168F1C9-4999-4AA2-A916-26FD968681D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348260" y="3429000"/>
            <a:ext cx="3429000" cy="3429000"/>
          </a:xfrm>
          <a:prstGeom prst="rect">
            <a:avLst/>
          </a:prstGeom>
        </p:spPr>
      </p:pic>
    </p:spTree>
    <p:extLst>
      <p:ext uri="{BB962C8B-B14F-4D97-AF65-F5344CB8AC3E}">
        <p14:creationId xmlns:p14="http://schemas.microsoft.com/office/powerpoint/2010/main" val="3908817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B0B90-0A94-E0BE-B24D-1966662B7611}"/>
              </a:ext>
            </a:extLst>
          </p:cNvPr>
          <p:cNvSpPr>
            <a:spLocks noGrp="1"/>
          </p:cNvSpPr>
          <p:nvPr>
            <p:ph type="title"/>
          </p:nvPr>
        </p:nvSpPr>
        <p:spPr>
          <a:xfrm>
            <a:off x="385062" y="54275"/>
            <a:ext cx="11013474" cy="369332"/>
          </a:xfrm>
        </p:spPr>
        <p:txBody>
          <a:bodyPr>
            <a:normAutofit fontScale="90000"/>
          </a:bodyPr>
          <a:lstStyle/>
          <a:p>
            <a:pPr algn="ctr"/>
            <a:r>
              <a:rPr lang="en-US" dirty="0"/>
              <a:t>Data Lakehouse</a:t>
            </a:r>
            <a:endParaRPr lang="en-IN" dirty="0"/>
          </a:p>
        </p:txBody>
      </p:sp>
      <p:sp>
        <p:nvSpPr>
          <p:cNvPr id="8" name="TextBox 7">
            <a:extLst>
              <a:ext uri="{FF2B5EF4-FFF2-40B4-BE49-F238E27FC236}">
                <a16:creationId xmlns:a16="http://schemas.microsoft.com/office/drawing/2014/main" id="{838786C2-7E88-6E96-F91D-27669FBB0D94}"/>
              </a:ext>
            </a:extLst>
          </p:cNvPr>
          <p:cNvSpPr txBox="1"/>
          <p:nvPr/>
        </p:nvSpPr>
        <p:spPr>
          <a:xfrm>
            <a:off x="258786" y="453911"/>
            <a:ext cx="11551897" cy="1815882"/>
          </a:xfrm>
          <a:prstGeom prst="rect">
            <a:avLst/>
          </a:prstGeom>
          <a:noFill/>
          <a:ln>
            <a:solidFill>
              <a:schemeClr val="accent1"/>
            </a:solidFill>
          </a:ln>
        </p:spPr>
        <p:style>
          <a:lnRef idx="0">
            <a:scrgbClr r="0" g="0" b="0"/>
          </a:lnRef>
          <a:fillRef idx="0">
            <a:scrgbClr r="0" g="0" b="0"/>
          </a:fillRef>
          <a:effectRef idx="0">
            <a:scrgbClr r="0" g="0" b="0"/>
          </a:effectRef>
          <a:fontRef idx="minor">
            <a:schemeClr val="dk1"/>
          </a:fontRef>
        </p:style>
        <p:txBody>
          <a:bodyPr wrap="square">
            <a:spAutoFit/>
          </a:bodyPr>
          <a:lstStyle/>
          <a:p>
            <a:pPr marL="285750" indent="-285750">
              <a:buFont typeface="Wingdings" panose="05000000000000000000" pitchFamily="2" charset="2"/>
              <a:buChar char="Ø"/>
            </a:pPr>
            <a:r>
              <a:rPr lang="en-US" sz="1600" b="1" dirty="0"/>
              <a:t>A data lakehouse </a:t>
            </a:r>
            <a:r>
              <a:rPr lang="en-US" sz="1600" dirty="0"/>
              <a:t>provides scalable storage and processing capabilities for modern organizations that want to avoid isolated systems for processing different workloads, like machine learning (ML) and business intelligence (BI). </a:t>
            </a:r>
          </a:p>
          <a:p>
            <a:pPr marL="285750" indent="-285750">
              <a:buFont typeface="Wingdings" panose="05000000000000000000" pitchFamily="2" charset="2"/>
              <a:buChar char="Ø"/>
            </a:pPr>
            <a:r>
              <a:rPr lang="en-US" sz="1600" dirty="0"/>
              <a:t>A </a:t>
            </a:r>
            <a:r>
              <a:rPr lang="en-US" sz="1600" b="1" dirty="0"/>
              <a:t>data </a:t>
            </a:r>
            <a:r>
              <a:rPr lang="en-US" sz="1600" b="1" dirty="0" err="1"/>
              <a:t>lakehouse</a:t>
            </a:r>
            <a:r>
              <a:rPr lang="en-US" sz="1600" dirty="0"/>
              <a:t> is a modern data management architecture that combines the best features of data lakes and data warehouses. It provides the scalability and flexibility of data lakes with the data management and transactional capabilities of data warehouse</a:t>
            </a:r>
          </a:p>
          <a:p>
            <a:pPr marL="285750" indent="-285750">
              <a:buFont typeface="Wingdings" panose="05000000000000000000" pitchFamily="2" charset="2"/>
              <a:buChar char="Ø"/>
            </a:pPr>
            <a:r>
              <a:rPr lang="en-US" sz="1600" b="1" dirty="0"/>
              <a:t>A data lakehouse can help establish a single source of truth, eliminate redundant costs, and ensure data freshness.</a:t>
            </a:r>
          </a:p>
          <a:p>
            <a:pPr marL="285750" indent="-285750">
              <a:buFont typeface="Wingdings" panose="05000000000000000000" pitchFamily="2" charset="2"/>
              <a:buChar char="Ø"/>
            </a:pPr>
            <a:endParaRPr lang="en-IN" sz="1600" b="1" dirty="0"/>
          </a:p>
        </p:txBody>
      </p:sp>
      <p:pic>
        <p:nvPicPr>
          <p:cNvPr id="9" name="Picture 4" descr="What Is a Lakehouse? | Databricks Blog">
            <a:extLst>
              <a:ext uri="{FF2B5EF4-FFF2-40B4-BE49-F238E27FC236}">
                <a16:creationId xmlns:a16="http://schemas.microsoft.com/office/drawing/2014/main" id="{4F899A5F-E99A-D8D5-5822-DEABA8EEC9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7876" y="2300097"/>
            <a:ext cx="7973050" cy="418585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3C27A09-0A7F-8BCA-1A3D-F6BB74A26A50}"/>
              </a:ext>
            </a:extLst>
          </p:cNvPr>
          <p:cNvSpPr txBox="1"/>
          <p:nvPr/>
        </p:nvSpPr>
        <p:spPr>
          <a:xfrm>
            <a:off x="155686" y="2807422"/>
            <a:ext cx="2630509" cy="3080074"/>
          </a:xfrm>
          <a:prstGeom prst="rect">
            <a:avLst/>
          </a:prstGeom>
          <a:noFill/>
          <a:ln>
            <a:solidFill>
              <a:schemeClr val="accent1"/>
            </a:solidFill>
          </a:ln>
        </p:spPr>
        <p:txBody>
          <a:bodyPr wrap="square">
            <a:spAutoFit/>
          </a:bodyPr>
          <a:lstStyle/>
          <a:p>
            <a:r>
              <a:rPr lang="en-US" b="1" dirty="0"/>
              <a:t>Data </a:t>
            </a:r>
            <a:r>
              <a:rPr lang="en-US" b="1" dirty="0" err="1"/>
              <a:t>lakehouse</a:t>
            </a:r>
            <a:r>
              <a:rPr lang="en-US" dirty="0"/>
              <a:t> leverages </a:t>
            </a:r>
            <a:r>
              <a:rPr lang="en-US" b="1" dirty="0"/>
              <a:t>ADLS for storage </a:t>
            </a:r>
            <a:r>
              <a:rPr lang="en-US" dirty="0"/>
              <a:t>while adding robust </a:t>
            </a:r>
            <a:r>
              <a:rPr lang="en-US" b="1" dirty="0"/>
              <a:t>data management features through Delta Lake</a:t>
            </a:r>
            <a:r>
              <a:rPr lang="en-US" dirty="0"/>
              <a:t>, creating a powerful and efficient data platform for various analytics and machine learning workloads.</a:t>
            </a:r>
            <a:endParaRPr lang="en-IN" dirty="0"/>
          </a:p>
        </p:txBody>
      </p:sp>
      <p:sp>
        <p:nvSpPr>
          <p:cNvPr id="10" name="TextBox 9">
            <a:extLst>
              <a:ext uri="{FF2B5EF4-FFF2-40B4-BE49-F238E27FC236}">
                <a16:creationId xmlns:a16="http://schemas.microsoft.com/office/drawing/2014/main" id="{9E4ECAF0-8D9F-991E-DEA5-8D7F24C4F6E9}"/>
              </a:ext>
            </a:extLst>
          </p:cNvPr>
          <p:cNvSpPr txBox="1"/>
          <p:nvPr/>
        </p:nvSpPr>
        <p:spPr>
          <a:xfrm>
            <a:off x="11099984" y="4162189"/>
            <a:ext cx="936330" cy="461665"/>
          </a:xfrm>
          <a:prstGeom prst="rect">
            <a:avLst/>
          </a:prstGeom>
          <a:noFill/>
        </p:spPr>
        <p:txBody>
          <a:bodyPr wrap="square">
            <a:spAutoFit/>
          </a:bodyPr>
          <a:lstStyle/>
          <a:p>
            <a:r>
              <a:rPr lang="en-IN" sz="1200" dirty="0"/>
              <a:t>Delta Lake Integration</a:t>
            </a:r>
          </a:p>
        </p:txBody>
      </p:sp>
      <p:cxnSp>
        <p:nvCxnSpPr>
          <p:cNvPr id="12" name="Straight Arrow Connector 11">
            <a:extLst>
              <a:ext uri="{FF2B5EF4-FFF2-40B4-BE49-F238E27FC236}">
                <a16:creationId xmlns:a16="http://schemas.microsoft.com/office/drawing/2014/main" id="{5714562C-D19D-EBFC-512D-22D7A50FDF7D}"/>
              </a:ext>
            </a:extLst>
          </p:cNvPr>
          <p:cNvCxnSpPr/>
          <p:nvPr/>
        </p:nvCxnSpPr>
        <p:spPr>
          <a:xfrm flipH="1">
            <a:off x="10616540" y="4512623"/>
            <a:ext cx="483444" cy="111231"/>
          </a:xfrm>
          <a:prstGeom prst="straightConnector1">
            <a:avLst/>
          </a:prstGeom>
          <a:ln w="57150">
            <a:solidFill>
              <a:srgbClr val="FF0000"/>
            </a:solidFill>
            <a:headEnd type="none" w="lg"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FF6394AC-899C-9AB8-9CBC-B0F30E24204E}"/>
                  </a:ext>
                </a:extLst>
              </p14:cNvPr>
              <p14:cNvContentPartPr/>
              <p14:nvPr/>
            </p14:nvContentPartPr>
            <p14:xfrm>
              <a:off x="9238830" y="4797594"/>
              <a:ext cx="877680" cy="360"/>
            </p14:xfrm>
          </p:contentPart>
        </mc:Choice>
        <mc:Fallback xmlns="">
          <p:pic>
            <p:nvPicPr>
              <p:cNvPr id="13" name="Ink 12">
                <a:extLst>
                  <a:ext uri="{FF2B5EF4-FFF2-40B4-BE49-F238E27FC236}">
                    <a16:creationId xmlns:a16="http://schemas.microsoft.com/office/drawing/2014/main" id="{FF6394AC-899C-9AB8-9CBC-B0F30E24204E}"/>
                  </a:ext>
                </a:extLst>
              </p:cNvPr>
              <p:cNvPicPr/>
              <p:nvPr/>
            </p:nvPicPr>
            <p:blipFill>
              <a:blip r:embed="rId5"/>
              <a:stretch>
                <a:fillRect/>
              </a:stretch>
            </p:blipFill>
            <p:spPr>
              <a:xfrm>
                <a:off x="9185190" y="4689954"/>
                <a:ext cx="985320" cy="216000"/>
              </a:xfrm>
              <a:prstGeom prst="rect">
                <a:avLst/>
              </a:prstGeom>
            </p:spPr>
          </p:pic>
        </mc:Fallback>
      </mc:AlternateContent>
    </p:spTree>
    <p:extLst>
      <p:ext uri="{BB962C8B-B14F-4D97-AF65-F5344CB8AC3E}">
        <p14:creationId xmlns:p14="http://schemas.microsoft.com/office/powerpoint/2010/main" val="391338530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59ED332-523B-5528-D427-380BBD179304}"/>
              </a:ext>
            </a:extLst>
          </p:cNvPr>
          <p:cNvPicPr>
            <a:picLocks noChangeAspect="1"/>
          </p:cNvPicPr>
          <p:nvPr/>
        </p:nvPicPr>
        <p:blipFill>
          <a:blip r:embed="rId2"/>
          <a:stretch>
            <a:fillRect/>
          </a:stretch>
        </p:blipFill>
        <p:spPr>
          <a:xfrm>
            <a:off x="124154" y="873671"/>
            <a:ext cx="6870036" cy="2960390"/>
          </a:xfrm>
          <a:prstGeom prst="rect">
            <a:avLst/>
          </a:prstGeom>
          <a:ln>
            <a:solidFill>
              <a:schemeClr val="tx1"/>
            </a:solidFill>
          </a:ln>
        </p:spPr>
      </p:pic>
      <p:sp>
        <p:nvSpPr>
          <p:cNvPr id="9" name="TextBox 8">
            <a:extLst>
              <a:ext uri="{FF2B5EF4-FFF2-40B4-BE49-F238E27FC236}">
                <a16:creationId xmlns:a16="http://schemas.microsoft.com/office/drawing/2014/main" id="{19828953-87D8-4D78-5F4D-2943D8E4768C}"/>
              </a:ext>
            </a:extLst>
          </p:cNvPr>
          <p:cNvSpPr txBox="1"/>
          <p:nvPr/>
        </p:nvSpPr>
        <p:spPr>
          <a:xfrm>
            <a:off x="7105197" y="675695"/>
            <a:ext cx="4814275" cy="1169551"/>
          </a:xfrm>
          <a:prstGeom prst="rect">
            <a:avLst/>
          </a:prstGeom>
          <a:noFill/>
          <a:ln>
            <a:solidFill>
              <a:schemeClr val="tx1"/>
            </a:solidFill>
          </a:ln>
        </p:spPr>
        <p:txBody>
          <a:bodyPr wrap="square">
            <a:spAutoFit/>
          </a:bodyPr>
          <a:lstStyle/>
          <a:p>
            <a:r>
              <a:rPr lang="en-US" sz="1400" dirty="0"/>
              <a:t>A </a:t>
            </a:r>
            <a:r>
              <a:rPr lang="en-US" sz="1400" dirty="0">
                <a:solidFill>
                  <a:schemeClr val="accent3"/>
                </a:solidFill>
              </a:rPr>
              <a:t>data </a:t>
            </a:r>
            <a:r>
              <a:rPr lang="en-US" sz="1400" dirty="0" err="1">
                <a:solidFill>
                  <a:schemeClr val="accent3"/>
                </a:solidFill>
              </a:rPr>
              <a:t>lakehouse</a:t>
            </a:r>
            <a:r>
              <a:rPr lang="en-US" sz="1400" dirty="0">
                <a:solidFill>
                  <a:schemeClr val="accent3"/>
                </a:solidFill>
              </a:rPr>
              <a:t> </a:t>
            </a:r>
            <a:r>
              <a:rPr lang="en-US" sz="1400" dirty="0"/>
              <a:t>is a modern data management architecture that combines the best features of data lakes and data warehouses. It provides the scalability and flexibility of data lakes with the data management and transactional capabilities of data warehouses</a:t>
            </a:r>
            <a:endParaRPr lang="en-IN" sz="1400" dirty="0"/>
          </a:p>
        </p:txBody>
      </p:sp>
      <p:sp>
        <p:nvSpPr>
          <p:cNvPr id="11" name="TextBox 10">
            <a:extLst>
              <a:ext uri="{FF2B5EF4-FFF2-40B4-BE49-F238E27FC236}">
                <a16:creationId xmlns:a16="http://schemas.microsoft.com/office/drawing/2014/main" id="{5F0ABF68-FBC0-8F63-74F8-6FC0E1F891B8}"/>
              </a:ext>
            </a:extLst>
          </p:cNvPr>
          <p:cNvSpPr txBox="1"/>
          <p:nvPr/>
        </p:nvSpPr>
        <p:spPr>
          <a:xfrm>
            <a:off x="7105197" y="2241079"/>
            <a:ext cx="4814276" cy="2677656"/>
          </a:xfrm>
          <a:prstGeom prst="rect">
            <a:avLst/>
          </a:prstGeom>
          <a:noFill/>
          <a:ln>
            <a:solidFill>
              <a:schemeClr val="tx1"/>
            </a:solidFill>
          </a:ln>
        </p:spPr>
        <p:txBody>
          <a:bodyPr wrap="square">
            <a:spAutoFit/>
          </a:bodyPr>
          <a:lstStyle/>
          <a:p>
            <a:r>
              <a:rPr lang="en-US" sz="1400" b="1" dirty="0">
                <a:solidFill>
                  <a:schemeClr val="accent3"/>
                </a:solidFill>
              </a:rPr>
              <a:t>Key Features of a Data Lakehouse:</a:t>
            </a:r>
          </a:p>
          <a:p>
            <a:endParaRPr lang="en-US" sz="1400" b="1" dirty="0">
              <a:solidFill>
                <a:schemeClr val="accent3"/>
              </a:solidFill>
            </a:endParaRPr>
          </a:p>
          <a:p>
            <a:r>
              <a:rPr lang="en-US" sz="1400" b="1" dirty="0"/>
              <a:t>Scalability: </a:t>
            </a:r>
            <a:r>
              <a:rPr lang="en-US" sz="1400" dirty="0"/>
              <a:t>Like data lakes, it can store vast amounts of structured, semi-structured, and unstructured data.</a:t>
            </a:r>
          </a:p>
          <a:p>
            <a:endParaRPr lang="en-US" sz="1400" dirty="0"/>
          </a:p>
          <a:p>
            <a:r>
              <a:rPr lang="en-US" sz="1400" b="1" dirty="0"/>
              <a:t>Data Management: </a:t>
            </a:r>
            <a:r>
              <a:rPr lang="en-US" sz="1400" dirty="0"/>
              <a:t>It includes features like ACID transactions, schema enforcement, and data versioning, similar to data warehouses.</a:t>
            </a:r>
          </a:p>
          <a:p>
            <a:endParaRPr lang="en-US" sz="1400" dirty="0"/>
          </a:p>
          <a:p>
            <a:r>
              <a:rPr lang="en-US" sz="1400" b="1" dirty="0"/>
              <a:t>Unified Platform: </a:t>
            </a:r>
            <a:r>
              <a:rPr lang="en-US" sz="1400" dirty="0"/>
              <a:t>It allows for both batch and real-time data processing, making it suitable for a wide range of analytics and machine learning tasks</a:t>
            </a:r>
            <a:endParaRPr lang="en-IN" sz="1400" dirty="0"/>
          </a:p>
        </p:txBody>
      </p:sp>
      <p:cxnSp>
        <p:nvCxnSpPr>
          <p:cNvPr id="13" name="Straight Arrow Connector 12">
            <a:extLst>
              <a:ext uri="{FF2B5EF4-FFF2-40B4-BE49-F238E27FC236}">
                <a16:creationId xmlns:a16="http://schemas.microsoft.com/office/drawing/2014/main" id="{5F206081-E86B-73AA-FC0C-946986D3818E}"/>
              </a:ext>
            </a:extLst>
          </p:cNvPr>
          <p:cNvCxnSpPr>
            <a:cxnSpLocks/>
          </p:cNvCxnSpPr>
          <p:nvPr/>
        </p:nvCxnSpPr>
        <p:spPr>
          <a:xfrm flipH="1">
            <a:off x="5755341" y="873671"/>
            <a:ext cx="1349856" cy="386799"/>
          </a:xfrm>
          <a:prstGeom prst="straightConnector1">
            <a:avLst/>
          </a:prstGeom>
          <a:ln w="38100">
            <a:solidFill>
              <a:srgbClr val="FF5C39"/>
            </a:solidFill>
            <a:headEnd type="none" w="lg"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7671791"/>
      </p:ext>
    </p:extLst>
  </p:cSld>
  <p:clrMapOvr>
    <a:masterClrMapping/>
  </p:clrMapOvr>
</p:sld>
</file>

<file path=ppt/theme/theme1.xml><?xml version="1.0" encoding="utf-8"?>
<a:theme xmlns:a="http://schemas.openxmlformats.org/drawingml/2006/main" name="CelebrationVTI">
  <a:themeElements>
    <a:clrScheme name="Custom 25">
      <a:dk1>
        <a:sysClr val="windowText" lastClr="000000"/>
      </a:dk1>
      <a:lt1>
        <a:sysClr val="window" lastClr="FFFFFF"/>
      </a:lt1>
      <a:dk2>
        <a:srgbClr val="420023"/>
      </a:dk2>
      <a:lt2>
        <a:srgbClr val="FDFBF9"/>
      </a:lt2>
      <a:accent1>
        <a:srgbClr val="91274F"/>
      </a:accent1>
      <a:accent2>
        <a:srgbClr val="97446E"/>
      </a:accent2>
      <a:accent3>
        <a:srgbClr val="24BEEE"/>
      </a:accent3>
      <a:accent4>
        <a:srgbClr val="A52B3A"/>
      </a:accent4>
      <a:accent5>
        <a:srgbClr val="F39E29"/>
      </a:accent5>
      <a:accent6>
        <a:srgbClr val="E87450"/>
      </a:accent6>
      <a:hlink>
        <a:srgbClr val="F55D5D"/>
      </a:hlink>
      <a:folHlink>
        <a:srgbClr val="EA3A60"/>
      </a:folHlink>
    </a:clrScheme>
    <a:fontScheme name="Custom 10">
      <a:majorFont>
        <a:latin typeface="Gill Sans Nov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elebrationVTI" id="{BAD6E4D6-FB5F-472A-BAD2-154760D77BE0}" vid="{59D360FE-6438-46F1-A5A6-11415132A23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635</Words>
  <Application>Microsoft Office PowerPoint</Application>
  <PresentationFormat>Widescreen</PresentationFormat>
  <Paragraphs>40</Paragraphs>
  <Slides>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vt:i4>
      </vt:variant>
    </vt:vector>
  </HeadingPairs>
  <TitlesOfParts>
    <vt:vector size="10" baseType="lpstr">
      <vt:lpstr>Aptos</vt:lpstr>
      <vt:lpstr>Arial</vt:lpstr>
      <vt:lpstr>Calibri</vt:lpstr>
      <vt:lpstr>Gill Sans Nova</vt:lpstr>
      <vt:lpstr>Segoe UI</vt:lpstr>
      <vt:lpstr>Wingdings</vt:lpstr>
      <vt:lpstr>CelebrationVTI</vt:lpstr>
      <vt:lpstr>Data Lakehouse</vt:lpstr>
      <vt:lpstr>Data Lakehouse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Prabhjot Singh Bakshi</dc:creator>
  <cp:lastModifiedBy>Prabhjot Singh Bakshi</cp:lastModifiedBy>
  <cp:revision>1</cp:revision>
  <dcterms:created xsi:type="dcterms:W3CDTF">2024-12-04T07:39:34Z</dcterms:created>
  <dcterms:modified xsi:type="dcterms:W3CDTF">2024-12-04T07:44:23Z</dcterms:modified>
</cp:coreProperties>
</file>