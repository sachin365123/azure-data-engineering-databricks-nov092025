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147479784" r:id="rId3"/>
    <p:sldId id="2147479785" r:id="rId4"/>
    <p:sldId id="2147479786" r:id="rId5"/>
    <p:sldId id="2147479788" r:id="rId6"/>
    <p:sldId id="2147479790" r:id="rId7"/>
    <p:sldId id="214747979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-720" y="-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5D0C2F-44C2-40F0-AB23-A22D3658F83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F14397-25BC-4154-AFAF-D41A88E19E05}">
      <dgm:prSet/>
      <dgm:spPr/>
      <dgm:t>
        <a:bodyPr/>
        <a:lstStyle/>
        <a:p>
          <a:r>
            <a:rPr lang="en-US" b="1"/>
            <a:t>Key Features of Unity Catalog</a:t>
          </a:r>
          <a:endParaRPr lang="en-US"/>
        </a:p>
      </dgm:t>
    </dgm:pt>
    <dgm:pt modelId="{BFD8D092-69E0-4329-9474-241487D6311D}" type="parTrans" cxnId="{EE6572C3-9AFA-49F9-8180-B2EFDA30EC88}">
      <dgm:prSet/>
      <dgm:spPr/>
      <dgm:t>
        <a:bodyPr/>
        <a:lstStyle/>
        <a:p>
          <a:endParaRPr lang="en-US"/>
        </a:p>
      </dgm:t>
    </dgm:pt>
    <dgm:pt modelId="{3810F8A4-FC70-4C82-9C13-71F7978A0A7D}" type="sibTrans" cxnId="{EE6572C3-9AFA-49F9-8180-B2EFDA30EC88}">
      <dgm:prSet/>
      <dgm:spPr/>
      <dgm:t>
        <a:bodyPr/>
        <a:lstStyle/>
        <a:p>
          <a:endParaRPr lang="en-US"/>
        </a:p>
      </dgm:t>
    </dgm:pt>
    <dgm:pt modelId="{9ABC5FD8-4271-4A25-9A83-267D7551EFA6}">
      <dgm:prSet/>
      <dgm:spPr/>
      <dgm:t>
        <a:bodyPr/>
        <a:lstStyle/>
        <a:p>
          <a:r>
            <a:rPr lang="en-US" dirty="0"/>
            <a:t>Unified Namespace: Unity Catalog offers a single namespace for datasets, files, and machine learning models across all workspaces, making it easier to manage and discover assets.</a:t>
          </a:r>
        </a:p>
      </dgm:t>
    </dgm:pt>
    <dgm:pt modelId="{E21FBCCF-A902-481B-BE22-4D3B3152D6D2}" type="parTrans" cxnId="{4E57F842-634C-448B-A8C3-CA0B4212F638}">
      <dgm:prSet/>
      <dgm:spPr/>
      <dgm:t>
        <a:bodyPr/>
        <a:lstStyle/>
        <a:p>
          <a:endParaRPr lang="en-US"/>
        </a:p>
      </dgm:t>
    </dgm:pt>
    <dgm:pt modelId="{C59C8AED-587E-4C49-BDFF-EE38CE10412C}" type="sibTrans" cxnId="{4E57F842-634C-448B-A8C3-CA0B4212F638}">
      <dgm:prSet/>
      <dgm:spPr/>
      <dgm:t>
        <a:bodyPr/>
        <a:lstStyle/>
        <a:p>
          <a:endParaRPr lang="en-US"/>
        </a:p>
      </dgm:t>
    </dgm:pt>
    <dgm:pt modelId="{5327C1A1-07E3-48F7-9AF7-3A73730F99D4}">
      <dgm:prSet/>
      <dgm:spPr/>
      <dgm:t>
        <a:bodyPr/>
        <a:lstStyle/>
        <a:p>
          <a:r>
            <a:rPr lang="en-US"/>
            <a:t>Fine-grained Access Control: It allows administrators to set precise access controls on data using standard SQL GRANT and REVOKE statements, aligning with the principle of least privilege.</a:t>
          </a:r>
        </a:p>
      </dgm:t>
    </dgm:pt>
    <dgm:pt modelId="{C58D7BD6-8525-431C-A499-CCFC5B19BC16}" type="parTrans" cxnId="{E96675E3-B7C0-470C-A361-AA1ECDC36E6A}">
      <dgm:prSet/>
      <dgm:spPr/>
      <dgm:t>
        <a:bodyPr/>
        <a:lstStyle/>
        <a:p>
          <a:endParaRPr lang="en-US"/>
        </a:p>
      </dgm:t>
    </dgm:pt>
    <dgm:pt modelId="{97A628A9-5F6B-4140-BE2E-5C5CD63EDEB0}" type="sibTrans" cxnId="{E96675E3-B7C0-470C-A361-AA1ECDC36E6A}">
      <dgm:prSet/>
      <dgm:spPr/>
      <dgm:t>
        <a:bodyPr/>
        <a:lstStyle/>
        <a:p>
          <a:endParaRPr lang="en-US"/>
        </a:p>
      </dgm:t>
    </dgm:pt>
    <dgm:pt modelId="{CC5CB51D-EEB2-488F-9BE7-869B1B03F8DC}">
      <dgm:prSet/>
      <dgm:spPr/>
      <dgm:t>
        <a:bodyPr/>
        <a:lstStyle/>
        <a:p>
          <a:r>
            <a:rPr lang="en-US"/>
            <a:t>Data Lineage: Unity Catalog captures and displays data lineage, which is critical for tracking the flow of data and understanding its transformations over time.</a:t>
          </a:r>
        </a:p>
      </dgm:t>
    </dgm:pt>
    <dgm:pt modelId="{77792B1B-355F-4627-8927-B784D6649FF6}" type="parTrans" cxnId="{A8E1934F-C192-4564-8133-43D8A58DFB60}">
      <dgm:prSet/>
      <dgm:spPr/>
      <dgm:t>
        <a:bodyPr/>
        <a:lstStyle/>
        <a:p>
          <a:endParaRPr lang="en-US"/>
        </a:p>
      </dgm:t>
    </dgm:pt>
    <dgm:pt modelId="{9DD9EFCE-E126-42A4-8DAF-83E8B3780726}" type="sibTrans" cxnId="{A8E1934F-C192-4564-8133-43D8A58DFB60}">
      <dgm:prSet/>
      <dgm:spPr/>
      <dgm:t>
        <a:bodyPr/>
        <a:lstStyle/>
        <a:p>
          <a:endParaRPr lang="en-US"/>
        </a:p>
      </dgm:t>
    </dgm:pt>
    <dgm:pt modelId="{B9FC6944-0F9D-4D57-BBC2-CFCA491BE86D}">
      <dgm:prSet/>
      <dgm:spPr/>
      <dgm:t>
        <a:bodyPr/>
        <a:lstStyle/>
        <a:p>
          <a:r>
            <a:rPr lang="en-US" dirty="0"/>
            <a:t>Centralized Metadata Management: Manages all metadata centrally, ensuring that definitions, descriptions, and other metadata are consistent across projects and workspaces.</a:t>
          </a:r>
        </a:p>
      </dgm:t>
    </dgm:pt>
    <dgm:pt modelId="{C126B82D-0D23-459F-89F9-7C704FE4E9F4}" type="parTrans" cxnId="{78A4BBB0-9937-4698-9A74-1DBBE3BFEC20}">
      <dgm:prSet/>
      <dgm:spPr/>
      <dgm:t>
        <a:bodyPr/>
        <a:lstStyle/>
        <a:p>
          <a:endParaRPr lang="en-US"/>
        </a:p>
      </dgm:t>
    </dgm:pt>
    <dgm:pt modelId="{37F0F3DC-80AE-4D92-90D3-24905E94519D}" type="sibTrans" cxnId="{78A4BBB0-9937-4698-9A74-1DBBE3BFEC20}">
      <dgm:prSet/>
      <dgm:spPr/>
      <dgm:t>
        <a:bodyPr/>
        <a:lstStyle/>
        <a:p>
          <a:endParaRPr lang="en-US"/>
        </a:p>
      </dgm:t>
    </dgm:pt>
    <dgm:pt modelId="{DAEBA85B-E7BD-44D5-908F-D46E6F720303}">
      <dgm:prSet/>
      <dgm:spPr/>
      <dgm:t>
        <a:bodyPr/>
        <a:lstStyle/>
        <a:p>
          <a:r>
            <a:rPr lang="en-US"/>
            <a:t>Integration with Databricks SQL: Unity Catalog is fully integrated with Databricks SQL, allowing for seamless querying and management of data assets without moving data out of the platform.</a:t>
          </a:r>
        </a:p>
      </dgm:t>
    </dgm:pt>
    <dgm:pt modelId="{CBF24BE4-4985-47A1-BA1A-7F1CCB5AFB6E}" type="parTrans" cxnId="{D54BAE31-0FD8-420D-8CAC-7EE71FD03119}">
      <dgm:prSet/>
      <dgm:spPr/>
      <dgm:t>
        <a:bodyPr/>
        <a:lstStyle/>
        <a:p>
          <a:endParaRPr lang="en-US"/>
        </a:p>
      </dgm:t>
    </dgm:pt>
    <dgm:pt modelId="{F8D32466-29D9-4F1F-930A-5D3506D10928}" type="sibTrans" cxnId="{D54BAE31-0FD8-420D-8CAC-7EE71FD03119}">
      <dgm:prSet/>
      <dgm:spPr/>
      <dgm:t>
        <a:bodyPr/>
        <a:lstStyle/>
        <a:p>
          <a:endParaRPr lang="en-US"/>
        </a:p>
      </dgm:t>
    </dgm:pt>
    <dgm:pt modelId="{54229771-AE40-4E01-8378-7E5B7D0F7D41}" type="pres">
      <dgm:prSet presAssocID="{375D0C2F-44C2-40F0-AB23-A22D3658F83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9B4A61A1-6B38-4A3D-AEBA-7BB462AE45E4}" type="pres">
      <dgm:prSet presAssocID="{D3F14397-25BC-4154-AFAF-D41A88E19E05}" presName="hierRoot1" presStyleCnt="0"/>
      <dgm:spPr/>
    </dgm:pt>
    <dgm:pt modelId="{DD416570-D6CF-4CC5-BC49-C95A5C7F81D9}" type="pres">
      <dgm:prSet presAssocID="{D3F14397-25BC-4154-AFAF-D41A88E19E05}" presName="composite" presStyleCnt="0"/>
      <dgm:spPr/>
    </dgm:pt>
    <dgm:pt modelId="{F8B38F30-4475-45C7-B57B-333C5A087EA4}" type="pres">
      <dgm:prSet presAssocID="{D3F14397-25BC-4154-AFAF-D41A88E19E05}" presName="background" presStyleLbl="node0" presStyleIdx="0" presStyleCnt="1"/>
      <dgm:spPr/>
    </dgm:pt>
    <dgm:pt modelId="{01191222-A484-45DD-8A2D-A4008D77B7C2}" type="pres">
      <dgm:prSet presAssocID="{D3F14397-25BC-4154-AFAF-D41A88E19E05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6AB39E4-51EB-4887-8377-C5140DFCA964}" type="pres">
      <dgm:prSet presAssocID="{D3F14397-25BC-4154-AFAF-D41A88E19E05}" presName="hierChild2" presStyleCnt="0"/>
      <dgm:spPr/>
    </dgm:pt>
    <dgm:pt modelId="{2163F3E9-09DA-40CF-991B-B2587B61815D}" type="pres">
      <dgm:prSet presAssocID="{E21FBCCF-A902-481B-BE22-4D3B3152D6D2}" presName="Name10" presStyleLbl="parChTrans1D2" presStyleIdx="0" presStyleCnt="5"/>
      <dgm:spPr/>
      <dgm:t>
        <a:bodyPr/>
        <a:lstStyle/>
        <a:p>
          <a:endParaRPr lang="en-US"/>
        </a:p>
      </dgm:t>
    </dgm:pt>
    <dgm:pt modelId="{ED75FD80-1D6C-4E6A-8FBC-DB8F79315891}" type="pres">
      <dgm:prSet presAssocID="{9ABC5FD8-4271-4A25-9A83-267D7551EFA6}" presName="hierRoot2" presStyleCnt="0"/>
      <dgm:spPr/>
    </dgm:pt>
    <dgm:pt modelId="{5708F7A5-5CED-4D0B-85E2-C0E2E99EFFD8}" type="pres">
      <dgm:prSet presAssocID="{9ABC5FD8-4271-4A25-9A83-267D7551EFA6}" presName="composite2" presStyleCnt="0"/>
      <dgm:spPr/>
    </dgm:pt>
    <dgm:pt modelId="{156D602B-1321-42D9-A5DD-ADC5DB1373FD}" type="pres">
      <dgm:prSet presAssocID="{9ABC5FD8-4271-4A25-9A83-267D7551EFA6}" presName="background2" presStyleLbl="node2" presStyleIdx="0" presStyleCnt="5"/>
      <dgm:spPr/>
    </dgm:pt>
    <dgm:pt modelId="{CC85A165-1322-470B-87A3-B59448299E7E}" type="pres">
      <dgm:prSet presAssocID="{9ABC5FD8-4271-4A25-9A83-267D7551EFA6}" presName="text2" presStyleLbl="fgAcc2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5FAFC03-0077-4427-A754-104B96A057DA}" type="pres">
      <dgm:prSet presAssocID="{9ABC5FD8-4271-4A25-9A83-267D7551EFA6}" presName="hierChild3" presStyleCnt="0"/>
      <dgm:spPr/>
    </dgm:pt>
    <dgm:pt modelId="{21EE34BD-821F-48C8-9F89-5B717DBB25A6}" type="pres">
      <dgm:prSet presAssocID="{C58D7BD6-8525-431C-A499-CCFC5B19BC16}" presName="Name10" presStyleLbl="parChTrans1D2" presStyleIdx="1" presStyleCnt="5"/>
      <dgm:spPr/>
      <dgm:t>
        <a:bodyPr/>
        <a:lstStyle/>
        <a:p>
          <a:endParaRPr lang="en-US"/>
        </a:p>
      </dgm:t>
    </dgm:pt>
    <dgm:pt modelId="{42DCA6E9-9EC5-42A8-B151-59AC7214CA19}" type="pres">
      <dgm:prSet presAssocID="{5327C1A1-07E3-48F7-9AF7-3A73730F99D4}" presName="hierRoot2" presStyleCnt="0"/>
      <dgm:spPr/>
    </dgm:pt>
    <dgm:pt modelId="{775CAF47-8091-46C3-8C42-CAE72A2D25FE}" type="pres">
      <dgm:prSet presAssocID="{5327C1A1-07E3-48F7-9AF7-3A73730F99D4}" presName="composite2" presStyleCnt="0"/>
      <dgm:spPr/>
    </dgm:pt>
    <dgm:pt modelId="{EBA07AF1-FC70-4158-8D78-DC24B761B193}" type="pres">
      <dgm:prSet presAssocID="{5327C1A1-07E3-48F7-9AF7-3A73730F99D4}" presName="background2" presStyleLbl="node2" presStyleIdx="1" presStyleCnt="5"/>
      <dgm:spPr/>
    </dgm:pt>
    <dgm:pt modelId="{D27559B4-8BAF-4154-B153-14B5DC5EC96A}" type="pres">
      <dgm:prSet presAssocID="{5327C1A1-07E3-48F7-9AF7-3A73730F99D4}" presName="text2" presStyleLbl="fgAcc2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6CD13AE-824A-45D0-B377-39B87817B2B0}" type="pres">
      <dgm:prSet presAssocID="{5327C1A1-07E3-48F7-9AF7-3A73730F99D4}" presName="hierChild3" presStyleCnt="0"/>
      <dgm:spPr/>
    </dgm:pt>
    <dgm:pt modelId="{44054E90-B4A6-4455-B162-4B9E74928FD6}" type="pres">
      <dgm:prSet presAssocID="{77792B1B-355F-4627-8927-B784D6649FF6}" presName="Name10" presStyleLbl="parChTrans1D2" presStyleIdx="2" presStyleCnt="5"/>
      <dgm:spPr/>
      <dgm:t>
        <a:bodyPr/>
        <a:lstStyle/>
        <a:p>
          <a:endParaRPr lang="en-US"/>
        </a:p>
      </dgm:t>
    </dgm:pt>
    <dgm:pt modelId="{00561142-C2BA-43C5-952B-9BD5ADCF726A}" type="pres">
      <dgm:prSet presAssocID="{CC5CB51D-EEB2-488F-9BE7-869B1B03F8DC}" presName="hierRoot2" presStyleCnt="0"/>
      <dgm:spPr/>
    </dgm:pt>
    <dgm:pt modelId="{E302441F-8ED4-46C6-8F0F-F9F4DA811ED0}" type="pres">
      <dgm:prSet presAssocID="{CC5CB51D-EEB2-488F-9BE7-869B1B03F8DC}" presName="composite2" presStyleCnt="0"/>
      <dgm:spPr/>
    </dgm:pt>
    <dgm:pt modelId="{9DF946CF-E566-46FA-88C3-A51EDF2D95C8}" type="pres">
      <dgm:prSet presAssocID="{CC5CB51D-EEB2-488F-9BE7-869B1B03F8DC}" presName="background2" presStyleLbl="node2" presStyleIdx="2" presStyleCnt="5"/>
      <dgm:spPr/>
    </dgm:pt>
    <dgm:pt modelId="{A6D06CAB-7CCA-4259-B80B-CB1873B93039}" type="pres">
      <dgm:prSet presAssocID="{CC5CB51D-EEB2-488F-9BE7-869B1B03F8DC}" presName="text2" presStyleLbl="fgAcc2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EC7FF6F-7390-4244-BC8A-F47DB5E2F978}" type="pres">
      <dgm:prSet presAssocID="{CC5CB51D-EEB2-488F-9BE7-869B1B03F8DC}" presName="hierChild3" presStyleCnt="0"/>
      <dgm:spPr/>
    </dgm:pt>
    <dgm:pt modelId="{A9BCFEFD-7BFD-433E-B217-6CF85159BEA3}" type="pres">
      <dgm:prSet presAssocID="{C126B82D-0D23-459F-89F9-7C704FE4E9F4}" presName="Name10" presStyleLbl="parChTrans1D2" presStyleIdx="3" presStyleCnt="5"/>
      <dgm:spPr/>
      <dgm:t>
        <a:bodyPr/>
        <a:lstStyle/>
        <a:p>
          <a:endParaRPr lang="en-US"/>
        </a:p>
      </dgm:t>
    </dgm:pt>
    <dgm:pt modelId="{AEB04840-0D4D-4C97-98DE-B7A75DB97BEE}" type="pres">
      <dgm:prSet presAssocID="{B9FC6944-0F9D-4D57-BBC2-CFCA491BE86D}" presName="hierRoot2" presStyleCnt="0"/>
      <dgm:spPr/>
    </dgm:pt>
    <dgm:pt modelId="{B7AC6FB0-41FA-4770-8010-B2D9585EF4A4}" type="pres">
      <dgm:prSet presAssocID="{B9FC6944-0F9D-4D57-BBC2-CFCA491BE86D}" presName="composite2" presStyleCnt="0"/>
      <dgm:spPr/>
    </dgm:pt>
    <dgm:pt modelId="{F2897AA0-BA56-4B43-9632-E121EB309B06}" type="pres">
      <dgm:prSet presAssocID="{B9FC6944-0F9D-4D57-BBC2-CFCA491BE86D}" presName="background2" presStyleLbl="node2" presStyleIdx="3" presStyleCnt="5"/>
      <dgm:spPr/>
    </dgm:pt>
    <dgm:pt modelId="{AEF083CF-91D9-457B-8D76-F39A4A3A35AD}" type="pres">
      <dgm:prSet presAssocID="{B9FC6944-0F9D-4D57-BBC2-CFCA491BE86D}" presName="text2" presStyleLbl="fgAcc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197EBC8-2BF4-41A4-B4F8-C6E8D2CAB134}" type="pres">
      <dgm:prSet presAssocID="{B9FC6944-0F9D-4D57-BBC2-CFCA491BE86D}" presName="hierChild3" presStyleCnt="0"/>
      <dgm:spPr/>
    </dgm:pt>
    <dgm:pt modelId="{39429E87-458B-4417-8F13-C02676B2F539}" type="pres">
      <dgm:prSet presAssocID="{CBF24BE4-4985-47A1-BA1A-7F1CCB5AFB6E}" presName="Name10" presStyleLbl="parChTrans1D2" presStyleIdx="4" presStyleCnt="5"/>
      <dgm:spPr/>
      <dgm:t>
        <a:bodyPr/>
        <a:lstStyle/>
        <a:p>
          <a:endParaRPr lang="en-US"/>
        </a:p>
      </dgm:t>
    </dgm:pt>
    <dgm:pt modelId="{EAFBC076-E0C1-4853-82E4-843FEB06FBC1}" type="pres">
      <dgm:prSet presAssocID="{DAEBA85B-E7BD-44D5-908F-D46E6F720303}" presName="hierRoot2" presStyleCnt="0"/>
      <dgm:spPr/>
    </dgm:pt>
    <dgm:pt modelId="{AEF462D4-DF2B-4EA1-8BB1-C95E72CB8425}" type="pres">
      <dgm:prSet presAssocID="{DAEBA85B-E7BD-44D5-908F-D46E6F720303}" presName="composite2" presStyleCnt="0"/>
      <dgm:spPr/>
    </dgm:pt>
    <dgm:pt modelId="{9ED39278-369B-4E1D-AB9C-46921869BC39}" type="pres">
      <dgm:prSet presAssocID="{DAEBA85B-E7BD-44D5-908F-D46E6F720303}" presName="background2" presStyleLbl="node2" presStyleIdx="4" presStyleCnt="5"/>
      <dgm:spPr/>
    </dgm:pt>
    <dgm:pt modelId="{71F60DDB-556F-4870-8754-66D0B6B766EF}" type="pres">
      <dgm:prSet presAssocID="{DAEBA85B-E7BD-44D5-908F-D46E6F720303}" presName="text2" presStyleLbl="fgAcc2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2AAD4DB-03F3-4217-9E72-48321526134A}" type="pres">
      <dgm:prSet presAssocID="{DAEBA85B-E7BD-44D5-908F-D46E6F720303}" presName="hierChild3" presStyleCnt="0"/>
      <dgm:spPr/>
    </dgm:pt>
  </dgm:ptLst>
  <dgm:cxnLst>
    <dgm:cxn modelId="{99618A32-F2E8-44CA-B331-BFB956BF7430}" type="presOf" srcId="{CC5CB51D-EEB2-488F-9BE7-869B1B03F8DC}" destId="{A6D06CAB-7CCA-4259-B80B-CB1873B93039}" srcOrd="0" destOrd="0" presId="urn:microsoft.com/office/officeart/2005/8/layout/hierarchy1"/>
    <dgm:cxn modelId="{FDAE2145-7CCF-4633-BEE7-1FE469EFD8AB}" type="presOf" srcId="{375D0C2F-44C2-40F0-AB23-A22D3658F839}" destId="{54229771-AE40-4E01-8378-7E5B7D0F7D41}" srcOrd="0" destOrd="0" presId="urn:microsoft.com/office/officeart/2005/8/layout/hierarchy1"/>
    <dgm:cxn modelId="{5795D4D1-E8DE-434A-83C0-F4AD0994849E}" type="presOf" srcId="{5327C1A1-07E3-48F7-9AF7-3A73730F99D4}" destId="{D27559B4-8BAF-4154-B153-14B5DC5EC96A}" srcOrd="0" destOrd="0" presId="urn:microsoft.com/office/officeart/2005/8/layout/hierarchy1"/>
    <dgm:cxn modelId="{00DF5CB9-7F2D-43E1-A308-CB8B923D58A8}" type="presOf" srcId="{DAEBA85B-E7BD-44D5-908F-D46E6F720303}" destId="{71F60DDB-556F-4870-8754-66D0B6B766EF}" srcOrd="0" destOrd="0" presId="urn:microsoft.com/office/officeart/2005/8/layout/hierarchy1"/>
    <dgm:cxn modelId="{E96675E3-B7C0-470C-A361-AA1ECDC36E6A}" srcId="{D3F14397-25BC-4154-AFAF-D41A88E19E05}" destId="{5327C1A1-07E3-48F7-9AF7-3A73730F99D4}" srcOrd="1" destOrd="0" parTransId="{C58D7BD6-8525-431C-A499-CCFC5B19BC16}" sibTransId="{97A628A9-5F6B-4140-BE2E-5C5CD63EDEB0}"/>
    <dgm:cxn modelId="{A8E1934F-C192-4564-8133-43D8A58DFB60}" srcId="{D3F14397-25BC-4154-AFAF-D41A88E19E05}" destId="{CC5CB51D-EEB2-488F-9BE7-869B1B03F8DC}" srcOrd="2" destOrd="0" parTransId="{77792B1B-355F-4627-8927-B784D6649FF6}" sibTransId="{9DD9EFCE-E126-42A4-8DAF-83E8B3780726}"/>
    <dgm:cxn modelId="{4E57F842-634C-448B-A8C3-CA0B4212F638}" srcId="{D3F14397-25BC-4154-AFAF-D41A88E19E05}" destId="{9ABC5FD8-4271-4A25-9A83-267D7551EFA6}" srcOrd="0" destOrd="0" parTransId="{E21FBCCF-A902-481B-BE22-4D3B3152D6D2}" sibTransId="{C59C8AED-587E-4C49-BDFF-EE38CE10412C}"/>
    <dgm:cxn modelId="{26CA9654-000E-4715-817A-B899325B0159}" type="presOf" srcId="{B9FC6944-0F9D-4D57-BBC2-CFCA491BE86D}" destId="{AEF083CF-91D9-457B-8D76-F39A4A3A35AD}" srcOrd="0" destOrd="0" presId="urn:microsoft.com/office/officeart/2005/8/layout/hierarchy1"/>
    <dgm:cxn modelId="{941395BD-7142-433A-BF11-009E5ED214F4}" type="presOf" srcId="{77792B1B-355F-4627-8927-B784D6649FF6}" destId="{44054E90-B4A6-4455-B162-4B9E74928FD6}" srcOrd="0" destOrd="0" presId="urn:microsoft.com/office/officeart/2005/8/layout/hierarchy1"/>
    <dgm:cxn modelId="{08482A4A-C55A-46E1-8F8F-09E74028D32B}" type="presOf" srcId="{C58D7BD6-8525-431C-A499-CCFC5B19BC16}" destId="{21EE34BD-821F-48C8-9F89-5B717DBB25A6}" srcOrd="0" destOrd="0" presId="urn:microsoft.com/office/officeart/2005/8/layout/hierarchy1"/>
    <dgm:cxn modelId="{78A4BBB0-9937-4698-9A74-1DBBE3BFEC20}" srcId="{D3F14397-25BC-4154-AFAF-D41A88E19E05}" destId="{B9FC6944-0F9D-4D57-BBC2-CFCA491BE86D}" srcOrd="3" destOrd="0" parTransId="{C126B82D-0D23-459F-89F9-7C704FE4E9F4}" sibTransId="{37F0F3DC-80AE-4D92-90D3-24905E94519D}"/>
    <dgm:cxn modelId="{A0C84676-BA75-4E43-A478-913590AF9704}" type="presOf" srcId="{D3F14397-25BC-4154-AFAF-D41A88E19E05}" destId="{01191222-A484-45DD-8A2D-A4008D77B7C2}" srcOrd="0" destOrd="0" presId="urn:microsoft.com/office/officeart/2005/8/layout/hierarchy1"/>
    <dgm:cxn modelId="{AE691CB2-5448-4C51-8DC8-0DF6738BE3D0}" type="presOf" srcId="{9ABC5FD8-4271-4A25-9A83-267D7551EFA6}" destId="{CC85A165-1322-470B-87A3-B59448299E7E}" srcOrd="0" destOrd="0" presId="urn:microsoft.com/office/officeart/2005/8/layout/hierarchy1"/>
    <dgm:cxn modelId="{D54BAE31-0FD8-420D-8CAC-7EE71FD03119}" srcId="{D3F14397-25BC-4154-AFAF-D41A88E19E05}" destId="{DAEBA85B-E7BD-44D5-908F-D46E6F720303}" srcOrd="4" destOrd="0" parTransId="{CBF24BE4-4985-47A1-BA1A-7F1CCB5AFB6E}" sibTransId="{F8D32466-29D9-4F1F-930A-5D3506D10928}"/>
    <dgm:cxn modelId="{0BC99114-BFB7-4B52-8777-CF7C9DE6F1C4}" type="presOf" srcId="{C126B82D-0D23-459F-89F9-7C704FE4E9F4}" destId="{A9BCFEFD-7BFD-433E-B217-6CF85159BEA3}" srcOrd="0" destOrd="0" presId="urn:microsoft.com/office/officeart/2005/8/layout/hierarchy1"/>
    <dgm:cxn modelId="{8E26CBF5-06C4-4E4F-8525-2723F2C794E3}" type="presOf" srcId="{E21FBCCF-A902-481B-BE22-4D3B3152D6D2}" destId="{2163F3E9-09DA-40CF-991B-B2587B61815D}" srcOrd="0" destOrd="0" presId="urn:microsoft.com/office/officeart/2005/8/layout/hierarchy1"/>
    <dgm:cxn modelId="{42CB8B89-8BAE-4AB4-891C-FABBC79720C5}" type="presOf" srcId="{CBF24BE4-4985-47A1-BA1A-7F1CCB5AFB6E}" destId="{39429E87-458B-4417-8F13-C02676B2F539}" srcOrd="0" destOrd="0" presId="urn:microsoft.com/office/officeart/2005/8/layout/hierarchy1"/>
    <dgm:cxn modelId="{EE6572C3-9AFA-49F9-8180-B2EFDA30EC88}" srcId="{375D0C2F-44C2-40F0-AB23-A22D3658F839}" destId="{D3F14397-25BC-4154-AFAF-D41A88E19E05}" srcOrd="0" destOrd="0" parTransId="{BFD8D092-69E0-4329-9474-241487D6311D}" sibTransId="{3810F8A4-FC70-4C82-9C13-71F7978A0A7D}"/>
    <dgm:cxn modelId="{2A121317-6830-4A32-A2C5-199FC35A70C9}" type="presParOf" srcId="{54229771-AE40-4E01-8378-7E5B7D0F7D41}" destId="{9B4A61A1-6B38-4A3D-AEBA-7BB462AE45E4}" srcOrd="0" destOrd="0" presId="urn:microsoft.com/office/officeart/2005/8/layout/hierarchy1"/>
    <dgm:cxn modelId="{538E3B01-47AB-4537-9488-908AFB193462}" type="presParOf" srcId="{9B4A61A1-6B38-4A3D-AEBA-7BB462AE45E4}" destId="{DD416570-D6CF-4CC5-BC49-C95A5C7F81D9}" srcOrd="0" destOrd="0" presId="urn:microsoft.com/office/officeart/2005/8/layout/hierarchy1"/>
    <dgm:cxn modelId="{26BF4F6C-6BF7-43F6-909E-A2E8C41D2D0E}" type="presParOf" srcId="{DD416570-D6CF-4CC5-BC49-C95A5C7F81D9}" destId="{F8B38F30-4475-45C7-B57B-333C5A087EA4}" srcOrd="0" destOrd="0" presId="urn:microsoft.com/office/officeart/2005/8/layout/hierarchy1"/>
    <dgm:cxn modelId="{CAB60992-F13C-4BCC-BBF4-7C42E62BB0CB}" type="presParOf" srcId="{DD416570-D6CF-4CC5-BC49-C95A5C7F81D9}" destId="{01191222-A484-45DD-8A2D-A4008D77B7C2}" srcOrd="1" destOrd="0" presId="urn:microsoft.com/office/officeart/2005/8/layout/hierarchy1"/>
    <dgm:cxn modelId="{4DE45627-58FE-49E0-868D-E7B7D2368B04}" type="presParOf" srcId="{9B4A61A1-6B38-4A3D-AEBA-7BB462AE45E4}" destId="{96AB39E4-51EB-4887-8377-C5140DFCA964}" srcOrd="1" destOrd="0" presId="urn:microsoft.com/office/officeart/2005/8/layout/hierarchy1"/>
    <dgm:cxn modelId="{1D3E1F6F-C256-4433-AE25-06F27671BC76}" type="presParOf" srcId="{96AB39E4-51EB-4887-8377-C5140DFCA964}" destId="{2163F3E9-09DA-40CF-991B-B2587B61815D}" srcOrd="0" destOrd="0" presId="urn:microsoft.com/office/officeart/2005/8/layout/hierarchy1"/>
    <dgm:cxn modelId="{20B033BB-4B9B-4178-B656-9AD2F79DB566}" type="presParOf" srcId="{96AB39E4-51EB-4887-8377-C5140DFCA964}" destId="{ED75FD80-1D6C-4E6A-8FBC-DB8F79315891}" srcOrd="1" destOrd="0" presId="urn:microsoft.com/office/officeart/2005/8/layout/hierarchy1"/>
    <dgm:cxn modelId="{651338B2-D8EC-4FE5-B501-803341F52781}" type="presParOf" srcId="{ED75FD80-1D6C-4E6A-8FBC-DB8F79315891}" destId="{5708F7A5-5CED-4D0B-85E2-C0E2E99EFFD8}" srcOrd="0" destOrd="0" presId="urn:microsoft.com/office/officeart/2005/8/layout/hierarchy1"/>
    <dgm:cxn modelId="{7037F798-F181-4F37-93FF-0BD874102B80}" type="presParOf" srcId="{5708F7A5-5CED-4D0B-85E2-C0E2E99EFFD8}" destId="{156D602B-1321-42D9-A5DD-ADC5DB1373FD}" srcOrd="0" destOrd="0" presId="urn:microsoft.com/office/officeart/2005/8/layout/hierarchy1"/>
    <dgm:cxn modelId="{6A14D060-FF2A-4D62-AC3A-2F30CED96FBE}" type="presParOf" srcId="{5708F7A5-5CED-4D0B-85E2-C0E2E99EFFD8}" destId="{CC85A165-1322-470B-87A3-B59448299E7E}" srcOrd="1" destOrd="0" presId="urn:microsoft.com/office/officeart/2005/8/layout/hierarchy1"/>
    <dgm:cxn modelId="{058811B9-9BA8-405E-B7DB-ECBE2E2443AF}" type="presParOf" srcId="{ED75FD80-1D6C-4E6A-8FBC-DB8F79315891}" destId="{D5FAFC03-0077-4427-A754-104B96A057DA}" srcOrd="1" destOrd="0" presId="urn:microsoft.com/office/officeart/2005/8/layout/hierarchy1"/>
    <dgm:cxn modelId="{A7F854F9-7656-45E6-A2A4-D57E70914DD1}" type="presParOf" srcId="{96AB39E4-51EB-4887-8377-C5140DFCA964}" destId="{21EE34BD-821F-48C8-9F89-5B717DBB25A6}" srcOrd="2" destOrd="0" presId="urn:microsoft.com/office/officeart/2005/8/layout/hierarchy1"/>
    <dgm:cxn modelId="{0068995B-6703-45AE-A21F-4474E5C78CD0}" type="presParOf" srcId="{96AB39E4-51EB-4887-8377-C5140DFCA964}" destId="{42DCA6E9-9EC5-42A8-B151-59AC7214CA19}" srcOrd="3" destOrd="0" presId="urn:microsoft.com/office/officeart/2005/8/layout/hierarchy1"/>
    <dgm:cxn modelId="{FFDA241B-5366-41F9-AA21-0B41B45BC36B}" type="presParOf" srcId="{42DCA6E9-9EC5-42A8-B151-59AC7214CA19}" destId="{775CAF47-8091-46C3-8C42-CAE72A2D25FE}" srcOrd="0" destOrd="0" presId="urn:microsoft.com/office/officeart/2005/8/layout/hierarchy1"/>
    <dgm:cxn modelId="{E7111DDD-F813-40A7-BA19-8B61B86F1BF0}" type="presParOf" srcId="{775CAF47-8091-46C3-8C42-CAE72A2D25FE}" destId="{EBA07AF1-FC70-4158-8D78-DC24B761B193}" srcOrd="0" destOrd="0" presId="urn:microsoft.com/office/officeart/2005/8/layout/hierarchy1"/>
    <dgm:cxn modelId="{05079D61-BC82-4689-81AA-6F88C254C2BD}" type="presParOf" srcId="{775CAF47-8091-46C3-8C42-CAE72A2D25FE}" destId="{D27559B4-8BAF-4154-B153-14B5DC5EC96A}" srcOrd="1" destOrd="0" presId="urn:microsoft.com/office/officeart/2005/8/layout/hierarchy1"/>
    <dgm:cxn modelId="{463E406A-EE9C-4485-8757-71A7AE314C22}" type="presParOf" srcId="{42DCA6E9-9EC5-42A8-B151-59AC7214CA19}" destId="{06CD13AE-824A-45D0-B377-39B87817B2B0}" srcOrd="1" destOrd="0" presId="urn:microsoft.com/office/officeart/2005/8/layout/hierarchy1"/>
    <dgm:cxn modelId="{E4F3B266-A547-40A9-81C5-CFE0CEEE7C6D}" type="presParOf" srcId="{96AB39E4-51EB-4887-8377-C5140DFCA964}" destId="{44054E90-B4A6-4455-B162-4B9E74928FD6}" srcOrd="4" destOrd="0" presId="urn:microsoft.com/office/officeart/2005/8/layout/hierarchy1"/>
    <dgm:cxn modelId="{69978AA2-1D6A-4FFC-906E-DED774625685}" type="presParOf" srcId="{96AB39E4-51EB-4887-8377-C5140DFCA964}" destId="{00561142-C2BA-43C5-952B-9BD5ADCF726A}" srcOrd="5" destOrd="0" presId="urn:microsoft.com/office/officeart/2005/8/layout/hierarchy1"/>
    <dgm:cxn modelId="{3C10C20D-C736-4780-8B70-1E0685750EE2}" type="presParOf" srcId="{00561142-C2BA-43C5-952B-9BD5ADCF726A}" destId="{E302441F-8ED4-46C6-8F0F-F9F4DA811ED0}" srcOrd="0" destOrd="0" presId="urn:microsoft.com/office/officeart/2005/8/layout/hierarchy1"/>
    <dgm:cxn modelId="{5F528DFA-F417-4053-89F1-8CE0AA0D4606}" type="presParOf" srcId="{E302441F-8ED4-46C6-8F0F-F9F4DA811ED0}" destId="{9DF946CF-E566-46FA-88C3-A51EDF2D95C8}" srcOrd="0" destOrd="0" presId="urn:microsoft.com/office/officeart/2005/8/layout/hierarchy1"/>
    <dgm:cxn modelId="{6005523F-8720-42BD-B1E8-E447EB789103}" type="presParOf" srcId="{E302441F-8ED4-46C6-8F0F-F9F4DA811ED0}" destId="{A6D06CAB-7CCA-4259-B80B-CB1873B93039}" srcOrd="1" destOrd="0" presId="urn:microsoft.com/office/officeart/2005/8/layout/hierarchy1"/>
    <dgm:cxn modelId="{3AE928E3-167B-4B69-9255-CAC5602028E3}" type="presParOf" srcId="{00561142-C2BA-43C5-952B-9BD5ADCF726A}" destId="{1EC7FF6F-7390-4244-BC8A-F47DB5E2F978}" srcOrd="1" destOrd="0" presId="urn:microsoft.com/office/officeart/2005/8/layout/hierarchy1"/>
    <dgm:cxn modelId="{A67D7AB0-EA6D-45B6-9CE5-649639DB87DB}" type="presParOf" srcId="{96AB39E4-51EB-4887-8377-C5140DFCA964}" destId="{A9BCFEFD-7BFD-433E-B217-6CF85159BEA3}" srcOrd="6" destOrd="0" presId="urn:microsoft.com/office/officeart/2005/8/layout/hierarchy1"/>
    <dgm:cxn modelId="{CE43BF2D-7AE5-4D07-A8F7-9CB5C9CA562B}" type="presParOf" srcId="{96AB39E4-51EB-4887-8377-C5140DFCA964}" destId="{AEB04840-0D4D-4C97-98DE-B7A75DB97BEE}" srcOrd="7" destOrd="0" presId="urn:microsoft.com/office/officeart/2005/8/layout/hierarchy1"/>
    <dgm:cxn modelId="{463601CE-30F8-437D-B413-82038ED41241}" type="presParOf" srcId="{AEB04840-0D4D-4C97-98DE-B7A75DB97BEE}" destId="{B7AC6FB0-41FA-4770-8010-B2D9585EF4A4}" srcOrd="0" destOrd="0" presId="urn:microsoft.com/office/officeart/2005/8/layout/hierarchy1"/>
    <dgm:cxn modelId="{8A6FDB04-66FB-46AA-AE50-065A2CCE25C7}" type="presParOf" srcId="{B7AC6FB0-41FA-4770-8010-B2D9585EF4A4}" destId="{F2897AA0-BA56-4B43-9632-E121EB309B06}" srcOrd="0" destOrd="0" presId="urn:microsoft.com/office/officeart/2005/8/layout/hierarchy1"/>
    <dgm:cxn modelId="{4BE94A75-7596-4308-8645-D3E172DA6E70}" type="presParOf" srcId="{B7AC6FB0-41FA-4770-8010-B2D9585EF4A4}" destId="{AEF083CF-91D9-457B-8D76-F39A4A3A35AD}" srcOrd="1" destOrd="0" presId="urn:microsoft.com/office/officeart/2005/8/layout/hierarchy1"/>
    <dgm:cxn modelId="{47442B26-E029-4E1D-B5C5-7E40E7B4354C}" type="presParOf" srcId="{AEB04840-0D4D-4C97-98DE-B7A75DB97BEE}" destId="{5197EBC8-2BF4-41A4-B4F8-C6E8D2CAB134}" srcOrd="1" destOrd="0" presId="urn:microsoft.com/office/officeart/2005/8/layout/hierarchy1"/>
    <dgm:cxn modelId="{24AF34BD-1D8C-4B5D-9DF9-5BBFF08296A1}" type="presParOf" srcId="{96AB39E4-51EB-4887-8377-C5140DFCA964}" destId="{39429E87-458B-4417-8F13-C02676B2F539}" srcOrd="8" destOrd="0" presId="urn:microsoft.com/office/officeart/2005/8/layout/hierarchy1"/>
    <dgm:cxn modelId="{87C95CDE-B3A7-4D35-B87A-6D16661E4F8F}" type="presParOf" srcId="{96AB39E4-51EB-4887-8377-C5140DFCA964}" destId="{EAFBC076-E0C1-4853-82E4-843FEB06FBC1}" srcOrd="9" destOrd="0" presId="urn:microsoft.com/office/officeart/2005/8/layout/hierarchy1"/>
    <dgm:cxn modelId="{F0E0E106-5363-4CDE-B254-AC1A821287F8}" type="presParOf" srcId="{EAFBC076-E0C1-4853-82E4-843FEB06FBC1}" destId="{AEF462D4-DF2B-4EA1-8BB1-C95E72CB8425}" srcOrd="0" destOrd="0" presId="urn:microsoft.com/office/officeart/2005/8/layout/hierarchy1"/>
    <dgm:cxn modelId="{CD69A04D-900C-4D53-86BE-20EB87790957}" type="presParOf" srcId="{AEF462D4-DF2B-4EA1-8BB1-C95E72CB8425}" destId="{9ED39278-369B-4E1D-AB9C-46921869BC39}" srcOrd="0" destOrd="0" presId="urn:microsoft.com/office/officeart/2005/8/layout/hierarchy1"/>
    <dgm:cxn modelId="{D6F2E954-4F21-4C6F-BA82-7B1E06E1A037}" type="presParOf" srcId="{AEF462D4-DF2B-4EA1-8BB1-C95E72CB8425}" destId="{71F60DDB-556F-4870-8754-66D0B6B766EF}" srcOrd="1" destOrd="0" presId="urn:microsoft.com/office/officeart/2005/8/layout/hierarchy1"/>
    <dgm:cxn modelId="{BAC8F77F-98B4-4763-908E-D8C99DFBE816}" type="presParOf" srcId="{EAFBC076-E0C1-4853-82E4-843FEB06FBC1}" destId="{E2AAD4DB-03F3-4217-9E72-48321526134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29E87-458B-4417-8F13-C02676B2F539}">
      <dsp:nvSpPr>
        <dsp:cNvPr id="0" name=""/>
        <dsp:cNvSpPr/>
      </dsp:nvSpPr>
      <dsp:spPr>
        <a:xfrm>
          <a:off x="5848682" y="3035591"/>
          <a:ext cx="4852128" cy="5772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3408"/>
              </a:lnTo>
              <a:lnTo>
                <a:pt x="4852128" y="393408"/>
              </a:lnTo>
              <a:lnTo>
                <a:pt x="4852128" y="5772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BCFEFD-7BFD-433E-B217-6CF85159BEA3}">
      <dsp:nvSpPr>
        <dsp:cNvPr id="0" name=""/>
        <dsp:cNvSpPr/>
      </dsp:nvSpPr>
      <dsp:spPr>
        <a:xfrm>
          <a:off x="5848682" y="3035591"/>
          <a:ext cx="2426064" cy="57729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3408"/>
              </a:lnTo>
              <a:lnTo>
                <a:pt x="2426064" y="393408"/>
              </a:lnTo>
              <a:lnTo>
                <a:pt x="2426064" y="5772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054E90-B4A6-4455-B162-4B9E74928FD6}">
      <dsp:nvSpPr>
        <dsp:cNvPr id="0" name=""/>
        <dsp:cNvSpPr/>
      </dsp:nvSpPr>
      <dsp:spPr>
        <a:xfrm>
          <a:off x="5802962" y="3035591"/>
          <a:ext cx="91440" cy="57729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772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E34BD-821F-48C8-9F89-5B717DBB25A6}">
      <dsp:nvSpPr>
        <dsp:cNvPr id="0" name=""/>
        <dsp:cNvSpPr/>
      </dsp:nvSpPr>
      <dsp:spPr>
        <a:xfrm>
          <a:off x="3422618" y="3035591"/>
          <a:ext cx="2426064" cy="577292"/>
        </a:xfrm>
        <a:custGeom>
          <a:avLst/>
          <a:gdLst/>
          <a:ahLst/>
          <a:cxnLst/>
          <a:rect l="0" t="0" r="0" b="0"/>
          <a:pathLst>
            <a:path>
              <a:moveTo>
                <a:pt x="2426064" y="0"/>
              </a:moveTo>
              <a:lnTo>
                <a:pt x="2426064" y="393408"/>
              </a:lnTo>
              <a:lnTo>
                <a:pt x="0" y="393408"/>
              </a:lnTo>
              <a:lnTo>
                <a:pt x="0" y="5772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63F3E9-09DA-40CF-991B-B2587B61815D}">
      <dsp:nvSpPr>
        <dsp:cNvPr id="0" name=""/>
        <dsp:cNvSpPr/>
      </dsp:nvSpPr>
      <dsp:spPr>
        <a:xfrm>
          <a:off x="996554" y="3035591"/>
          <a:ext cx="4852128" cy="577292"/>
        </a:xfrm>
        <a:custGeom>
          <a:avLst/>
          <a:gdLst/>
          <a:ahLst/>
          <a:cxnLst/>
          <a:rect l="0" t="0" r="0" b="0"/>
          <a:pathLst>
            <a:path>
              <a:moveTo>
                <a:pt x="4852128" y="0"/>
              </a:moveTo>
              <a:lnTo>
                <a:pt x="4852128" y="393408"/>
              </a:lnTo>
              <a:lnTo>
                <a:pt x="0" y="393408"/>
              </a:lnTo>
              <a:lnTo>
                <a:pt x="0" y="57729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B38F30-4475-45C7-B57B-333C5A087EA4}">
      <dsp:nvSpPr>
        <dsp:cNvPr id="0" name=""/>
        <dsp:cNvSpPr/>
      </dsp:nvSpPr>
      <dsp:spPr>
        <a:xfrm>
          <a:off x="4856201" y="1775141"/>
          <a:ext cx="1984961" cy="1260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91222-A484-45DD-8A2D-A4008D77B7C2}">
      <dsp:nvSpPr>
        <dsp:cNvPr id="0" name=""/>
        <dsp:cNvSpPr/>
      </dsp:nvSpPr>
      <dsp:spPr>
        <a:xfrm>
          <a:off x="5076752" y="1984664"/>
          <a:ext cx="1984961" cy="12604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Key Features of Unity Catalog</a:t>
          </a:r>
          <a:endParaRPr lang="en-US" sz="1100" kern="1200"/>
        </a:p>
      </dsp:txBody>
      <dsp:txXfrm>
        <a:off x="5113669" y="2021581"/>
        <a:ext cx="1911127" cy="1186616"/>
      </dsp:txXfrm>
    </dsp:sp>
    <dsp:sp modelId="{156D602B-1321-42D9-A5DD-ADC5DB1373FD}">
      <dsp:nvSpPr>
        <dsp:cNvPr id="0" name=""/>
        <dsp:cNvSpPr/>
      </dsp:nvSpPr>
      <dsp:spPr>
        <a:xfrm>
          <a:off x="4073" y="3612884"/>
          <a:ext cx="1984961" cy="1260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5A165-1322-470B-87A3-B59448299E7E}">
      <dsp:nvSpPr>
        <dsp:cNvPr id="0" name=""/>
        <dsp:cNvSpPr/>
      </dsp:nvSpPr>
      <dsp:spPr>
        <a:xfrm>
          <a:off x="224624" y="3822408"/>
          <a:ext cx="1984961" cy="12604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Unified Namespace: Unity Catalog offers a single namespace for datasets, files, and machine learning models across all workspaces, making it easier to manage and discover assets.</a:t>
          </a:r>
        </a:p>
      </dsp:txBody>
      <dsp:txXfrm>
        <a:off x="261541" y="3859325"/>
        <a:ext cx="1911127" cy="1186616"/>
      </dsp:txXfrm>
    </dsp:sp>
    <dsp:sp modelId="{EBA07AF1-FC70-4158-8D78-DC24B761B193}">
      <dsp:nvSpPr>
        <dsp:cNvPr id="0" name=""/>
        <dsp:cNvSpPr/>
      </dsp:nvSpPr>
      <dsp:spPr>
        <a:xfrm>
          <a:off x="2430137" y="3612884"/>
          <a:ext cx="1984961" cy="1260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559B4-8BAF-4154-B153-14B5DC5EC96A}">
      <dsp:nvSpPr>
        <dsp:cNvPr id="0" name=""/>
        <dsp:cNvSpPr/>
      </dsp:nvSpPr>
      <dsp:spPr>
        <a:xfrm>
          <a:off x="2650688" y="3822408"/>
          <a:ext cx="1984961" cy="12604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Fine-grained Access Control: It allows administrators to set precise access controls on data using standard SQL GRANT and REVOKE statements, aligning with the principle of least privilege.</a:t>
          </a:r>
        </a:p>
      </dsp:txBody>
      <dsp:txXfrm>
        <a:off x="2687605" y="3859325"/>
        <a:ext cx="1911127" cy="1186616"/>
      </dsp:txXfrm>
    </dsp:sp>
    <dsp:sp modelId="{9DF946CF-E566-46FA-88C3-A51EDF2D95C8}">
      <dsp:nvSpPr>
        <dsp:cNvPr id="0" name=""/>
        <dsp:cNvSpPr/>
      </dsp:nvSpPr>
      <dsp:spPr>
        <a:xfrm>
          <a:off x="4856201" y="3612884"/>
          <a:ext cx="1984961" cy="1260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06CAB-7CCA-4259-B80B-CB1873B93039}">
      <dsp:nvSpPr>
        <dsp:cNvPr id="0" name=""/>
        <dsp:cNvSpPr/>
      </dsp:nvSpPr>
      <dsp:spPr>
        <a:xfrm>
          <a:off x="5076752" y="3822408"/>
          <a:ext cx="1984961" cy="12604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Data Lineage: Unity Catalog captures and displays data lineage, which is critical for tracking the flow of data and understanding its transformations over time.</a:t>
          </a:r>
        </a:p>
      </dsp:txBody>
      <dsp:txXfrm>
        <a:off x="5113669" y="3859325"/>
        <a:ext cx="1911127" cy="1186616"/>
      </dsp:txXfrm>
    </dsp:sp>
    <dsp:sp modelId="{F2897AA0-BA56-4B43-9632-E121EB309B06}">
      <dsp:nvSpPr>
        <dsp:cNvPr id="0" name=""/>
        <dsp:cNvSpPr/>
      </dsp:nvSpPr>
      <dsp:spPr>
        <a:xfrm>
          <a:off x="7282265" y="3612884"/>
          <a:ext cx="1984961" cy="1260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F083CF-91D9-457B-8D76-F39A4A3A35AD}">
      <dsp:nvSpPr>
        <dsp:cNvPr id="0" name=""/>
        <dsp:cNvSpPr/>
      </dsp:nvSpPr>
      <dsp:spPr>
        <a:xfrm>
          <a:off x="7502816" y="3822408"/>
          <a:ext cx="1984961" cy="12604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Centralized Metadata Management: Manages all metadata centrally, ensuring that definitions, descriptions, and other metadata are consistent across projects and workspaces.</a:t>
          </a:r>
        </a:p>
      </dsp:txBody>
      <dsp:txXfrm>
        <a:off x="7539733" y="3859325"/>
        <a:ext cx="1911127" cy="1186616"/>
      </dsp:txXfrm>
    </dsp:sp>
    <dsp:sp modelId="{9ED39278-369B-4E1D-AB9C-46921869BC39}">
      <dsp:nvSpPr>
        <dsp:cNvPr id="0" name=""/>
        <dsp:cNvSpPr/>
      </dsp:nvSpPr>
      <dsp:spPr>
        <a:xfrm>
          <a:off x="9708329" y="3612884"/>
          <a:ext cx="1984961" cy="126045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F60DDB-556F-4870-8754-66D0B6B766EF}">
      <dsp:nvSpPr>
        <dsp:cNvPr id="0" name=""/>
        <dsp:cNvSpPr/>
      </dsp:nvSpPr>
      <dsp:spPr>
        <a:xfrm>
          <a:off x="9928880" y="3822408"/>
          <a:ext cx="1984961" cy="12604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Integration with Databricks SQL: Unity Catalog is fully integrated with Databricks SQL, allowing for seamless querying and management of data assets without moving data out of the platform.</a:t>
          </a:r>
        </a:p>
      </dsp:txBody>
      <dsp:txXfrm>
        <a:off x="9965797" y="3859325"/>
        <a:ext cx="1911127" cy="118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BC9C9-F116-4739-845E-A4741E9E6349}">
      <dsp:nvSpPr>
        <dsp:cNvPr id="0" name=""/>
        <dsp:cNvSpPr/>
      </dsp:nvSpPr>
      <dsp:spPr>
        <a:xfrm>
          <a:off x="5502396" y="2884712"/>
          <a:ext cx="4564845" cy="54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115"/>
              </a:lnTo>
              <a:lnTo>
                <a:pt x="4564845" y="370115"/>
              </a:lnTo>
              <a:lnTo>
                <a:pt x="4564845" y="5431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10A9ED-DB03-4809-AB95-A6941DAE1E30}">
      <dsp:nvSpPr>
        <dsp:cNvPr id="0" name=""/>
        <dsp:cNvSpPr/>
      </dsp:nvSpPr>
      <dsp:spPr>
        <a:xfrm>
          <a:off x="5502396" y="2884712"/>
          <a:ext cx="2282422" cy="5431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115"/>
              </a:lnTo>
              <a:lnTo>
                <a:pt x="2282422" y="370115"/>
              </a:lnTo>
              <a:lnTo>
                <a:pt x="2282422" y="5431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FD6970-762C-4851-A328-9AB5898FACCC}">
      <dsp:nvSpPr>
        <dsp:cNvPr id="0" name=""/>
        <dsp:cNvSpPr/>
      </dsp:nvSpPr>
      <dsp:spPr>
        <a:xfrm>
          <a:off x="5456676" y="2884712"/>
          <a:ext cx="91440" cy="54311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31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74328B-73B9-4DB5-85FE-AD0B892F8B40}">
      <dsp:nvSpPr>
        <dsp:cNvPr id="0" name=""/>
        <dsp:cNvSpPr/>
      </dsp:nvSpPr>
      <dsp:spPr>
        <a:xfrm>
          <a:off x="3219973" y="2884712"/>
          <a:ext cx="2282422" cy="543112"/>
        </a:xfrm>
        <a:custGeom>
          <a:avLst/>
          <a:gdLst/>
          <a:ahLst/>
          <a:cxnLst/>
          <a:rect l="0" t="0" r="0" b="0"/>
          <a:pathLst>
            <a:path>
              <a:moveTo>
                <a:pt x="2282422" y="0"/>
              </a:moveTo>
              <a:lnTo>
                <a:pt x="2282422" y="370115"/>
              </a:lnTo>
              <a:lnTo>
                <a:pt x="0" y="370115"/>
              </a:lnTo>
              <a:lnTo>
                <a:pt x="0" y="5431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3F5525-F8C3-4D62-8770-0DFD80AE9273}">
      <dsp:nvSpPr>
        <dsp:cNvPr id="0" name=""/>
        <dsp:cNvSpPr/>
      </dsp:nvSpPr>
      <dsp:spPr>
        <a:xfrm>
          <a:off x="937550" y="2884712"/>
          <a:ext cx="4564845" cy="543112"/>
        </a:xfrm>
        <a:custGeom>
          <a:avLst/>
          <a:gdLst/>
          <a:ahLst/>
          <a:cxnLst/>
          <a:rect l="0" t="0" r="0" b="0"/>
          <a:pathLst>
            <a:path>
              <a:moveTo>
                <a:pt x="4564845" y="0"/>
              </a:moveTo>
              <a:lnTo>
                <a:pt x="4564845" y="370115"/>
              </a:lnTo>
              <a:lnTo>
                <a:pt x="0" y="370115"/>
              </a:lnTo>
              <a:lnTo>
                <a:pt x="0" y="54311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357C96-DF1A-41ED-80C3-A41C6ED09327}">
      <dsp:nvSpPr>
        <dsp:cNvPr id="0" name=""/>
        <dsp:cNvSpPr/>
      </dsp:nvSpPr>
      <dsp:spPr>
        <a:xfrm>
          <a:off x="4568678" y="1698890"/>
          <a:ext cx="1867436" cy="118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BC390B8-4276-4390-AEF1-81F6FD4F8D1E}">
      <dsp:nvSpPr>
        <dsp:cNvPr id="0" name=""/>
        <dsp:cNvSpPr/>
      </dsp:nvSpPr>
      <dsp:spPr>
        <a:xfrm>
          <a:off x="4776171" y="1896008"/>
          <a:ext cx="1867436" cy="1185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/>
            <a:t>Key Features of Microsoft Purview for Azure Databricks</a:t>
          </a:r>
          <a:endParaRPr lang="en-US" sz="1000" kern="1200" dirty="0"/>
        </a:p>
      </dsp:txBody>
      <dsp:txXfrm>
        <a:off x="4810903" y="1930740"/>
        <a:ext cx="1797972" cy="1116358"/>
      </dsp:txXfrm>
    </dsp:sp>
    <dsp:sp modelId="{F18FA82B-83DD-4988-BBED-B337AC40A4D5}">
      <dsp:nvSpPr>
        <dsp:cNvPr id="0" name=""/>
        <dsp:cNvSpPr/>
      </dsp:nvSpPr>
      <dsp:spPr>
        <a:xfrm>
          <a:off x="3832" y="3427825"/>
          <a:ext cx="1867436" cy="118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6904E5C-49FD-49A1-84FA-F66AFB367D02}">
      <dsp:nvSpPr>
        <dsp:cNvPr id="0" name=""/>
        <dsp:cNvSpPr/>
      </dsp:nvSpPr>
      <dsp:spPr>
        <a:xfrm>
          <a:off x="211325" y="3624944"/>
          <a:ext cx="1867436" cy="1185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Data Discovery and Classification: Automatically scan and classify data across your Azure Databricks environment using built-in classifiers and also create custom classifiers.</a:t>
          </a:r>
        </a:p>
      </dsp:txBody>
      <dsp:txXfrm>
        <a:off x="246057" y="3659676"/>
        <a:ext cx="1797972" cy="1116358"/>
      </dsp:txXfrm>
    </dsp:sp>
    <dsp:sp modelId="{FA405B85-107E-49C9-A1D3-E6AEEB2AF2ED}">
      <dsp:nvSpPr>
        <dsp:cNvPr id="0" name=""/>
        <dsp:cNvSpPr/>
      </dsp:nvSpPr>
      <dsp:spPr>
        <a:xfrm>
          <a:off x="2286255" y="3427825"/>
          <a:ext cx="1867436" cy="118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801D763-D6D5-4AD9-B457-BF081DA623AF}">
      <dsp:nvSpPr>
        <dsp:cNvPr id="0" name=""/>
        <dsp:cNvSpPr/>
      </dsp:nvSpPr>
      <dsp:spPr>
        <a:xfrm>
          <a:off x="2493748" y="3624944"/>
          <a:ext cx="1867436" cy="1185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Data Lineage: Provides detailed visibility into the data lineage, showing how data is transformed and moved across different systems and processes, including within Azure Databricks.</a:t>
          </a:r>
        </a:p>
      </dsp:txBody>
      <dsp:txXfrm>
        <a:off x="2528480" y="3659676"/>
        <a:ext cx="1797972" cy="1116358"/>
      </dsp:txXfrm>
    </dsp:sp>
    <dsp:sp modelId="{2025EDFC-2C11-4210-A827-A2F5855272E3}">
      <dsp:nvSpPr>
        <dsp:cNvPr id="0" name=""/>
        <dsp:cNvSpPr/>
      </dsp:nvSpPr>
      <dsp:spPr>
        <a:xfrm>
          <a:off x="4568678" y="3427825"/>
          <a:ext cx="1867436" cy="118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063EB22-035D-4F22-8A53-E4DD63BABE2A}">
      <dsp:nvSpPr>
        <dsp:cNvPr id="0" name=""/>
        <dsp:cNvSpPr/>
      </dsp:nvSpPr>
      <dsp:spPr>
        <a:xfrm>
          <a:off x="4776171" y="3624944"/>
          <a:ext cx="1867436" cy="1185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Data Map: Aggregates metadata from various data sources into a searchable catalog, allowing users to understand the data landscape and its relationships.</a:t>
          </a:r>
        </a:p>
      </dsp:txBody>
      <dsp:txXfrm>
        <a:off x="4810903" y="3659676"/>
        <a:ext cx="1797972" cy="1116358"/>
      </dsp:txXfrm>
    </dsp:sp>
    <dsp:sp modelId="{9DF407C6-0505-4441-9EBB-F061D79C17EF}">
      <dsp:nvSpPr>
        <dsp:cNvPr id="0" name=""/>
        <dsp:cNvSpPr/>
      </dsp:nvSpPr>
      <dsp:spPr>
        <a:xfrm>
          <a:off x="6851100" y="3427825"/>
          <a:ext cx="1867436" cy="118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4A4D4FE-6AAC-4BA2-B4FC-BD5599235325}">
      <dsp:nvSpPr>
        <dsp:cNvPr id="0" name=""/>
        <dsp:cNvSpPr/>
      </dsp:nvSpPr>
      <dsp:spPr>
        <a:xfrm>
          <a:off x="7058593" y="3624944"/>
          <a:ext cx="1867436" cy="1185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Access and Policy Management: Allows for the creation of governance policies that enforce how data is accessed and used within Azure Databricks and other integrated systems.</a:t>
          </a:r>
        </a:p>
      </dsp:txBody>
      <dsp:txXfrm>
        <a:off x="7093325" y="3659676"/>
        <a:ext cx="1797972" cy="1116358"/>
      </dsp:txXfrm>
    </dsp:sp>
    <dsp:sp modelId="{2194406A-6E42-40B9-9E27-6836F669BD06}">
      <dsp:nvSpPr>
        <dsp:cNvPr id="0" name=""/>
        <dsp:cNvSpPr/>
      </dsp:nvSpPr>
      <dsp:spPr>
        <a:xfrm>
          <a:off x="9133523" y="3427825"/>
          <a:ext cx="1867436" cy="118582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BEAFF93-C0B4-4654-A3DE-1770CD8DE231}">
      <dsp:nvSpPr>
        <dsp:cNvPr id="0" name=""/>
        <dsp:cNvSpPr/>
      </dsp:nvSpPr>
      <dsp:spPr>
        <a:xfrm>
          <a:off x="9341016" y="3624944"/>
          <a:ext cx="1867436" cy="118582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Insights and Reporting: Offers detailed reports on data discovery, sensitivity classification, and access analytics, helping to ensure compliance and optimize data governance strategies.</a:t>
          </a:r>
        </a:p>
      </dsp:txBody>
      <dsp:txXfrm>
        <a:off x="9375748" y="3659676"/>
        <a:ext cx="1797972" cy="11163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F5719-2791-4D07-A091-34190D1698B9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4F3E1-247A-4F1B-B94D-BB693330B8D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1138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algn="l"/>
            <a:endParaRPr lang="en-US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algn="l"/>
            <a:endParaRPr lang="en-US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algn="l"/>
            <a:endParaRPr lang="en-US" b="1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algn="l"/>
            <a:endParaRPr lang="en-US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  <a:p>
            <a:pPr algn="l"/>
            <a:endParaRPr lang="en-US" b="0" i="0" dirty="0">
              <a:solidFill>
                <a:srgbClr val="161616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pPr/>
              <a:t>9/12/2025 9:27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80237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65BFAE-F3EA-E209-2358-19398CB4E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CE6BEAB-0AD1-FD2B-4917-A201FD79B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622CED0-6BA1-36DC-E373-29BD981AC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DBC793D-0EAE-E271-D179-42811CDB7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82BF2B-B97A-945C-14DC-6F04E35A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9995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C22509-CFDA-FFEF-81BD-3DD8B25B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483428A-EBD7-DF84-AD99-3687E87D5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FE3638E-E322-E1B6-804A-146617EEF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A2C9CF8-F275-7BCD-71AF-CF28718DC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72966AE-C55B-B1D6-1CF9-7AB9F710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198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0A4365-0314-502B-8890-E0FEE4A4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8134AE5-74E2-86A6-A57F-06E570B7F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1A96723-569E-3E9E-01B8-73538273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8C5DBB7-572A-AC6C-2F6A-A19C1CB9B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4B7F3E-1680-08E1-137D-97C794B1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1023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31DCD7-0778-7970-DFCA-36E7C4986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8390409-2DE8-319C-A06E-09CA0CB615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6658E19-D6C5-CF17-1F0D-47826C383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5D8F650-68FE-702F-834C-929D2651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28A1A4E-2028-4DC5-616C-31221E4B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1AC196C-7E57-9244-518C-1C054FB43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5588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F849AAC-B87C-B9C9-AEB8-ADFAD9BE3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C762924-337F-7BF0-C477-8BCC22900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DE0905-5113-9D21-5392-2861BF3BE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32CF218-BDD7-4279-B8B5-9C04B7EAE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B7B8315-3F16-AE22-4303-D87EFA86F7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FF3D07C-6C54-E918-5E97-C4EC4BDC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0895185-2D2A-29A8-9D62-E489976A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91A9BA8-F90A-FA0B-2F4B-294949E3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6198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4FE175-BFE3-3B04-F221-628C4733F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8322824D-565C-2DCD-5A98-38B5E434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45D7551-7141-2A6B-8C7D-B55F09DB4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F83DBAB-9890-737B-EC58-F122A1F6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0430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D1AEAFE-9ADD-8AB5-EB35-61672323C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465D2F2-9B9E-F185-A3DB-C1C054938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512C9B7-8F93-FF32-FC52-58EBA98F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79843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8BC471-187C-CC6A-7611-4B8585AB8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E47A5C-97C1-26B6-5E8A-A5A90B18A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11F04447-24AD-4093-78DF-9C65BE63A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B2EDF3-9D26-3886-5E31-B0EFBFB2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368264E-4C82-9680-9176-B370E55EB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911E551-52D8-8BA7-A8F8-7551ABD3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00222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58DE8C-2512-D74D-29C3-471ACB79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74B1EE40-7C2C-1E7B-C57D-C724FCCD4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E8C17A8-C405-5537-5CFE-4765F57FC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FE1EDC6-CEBC-2DEB-A83D-3A76CF84E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69D5FE8-8275-33A5-897F-646788EF7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19BEA4A-B320-A733-662A-B44F192FF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2058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5D6A8E-B671-5B9F-FAFF-B1E62DB81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23D65DF-9122-1FC4-15EF-044714AE2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71F4D47-3D55-191A-C5D6-F81DC55B2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3A45ADC-E23A-B03A-04EA-68FE67151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135889-4A8C-5642-96C0-ECC7CBA14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19753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9F4E9FE8-5458-70F6-5C85-851030243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69194F0-084C-4864-CF2F-78A3AB521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8D29A58-5246-55EB-B806-894264F13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8895CA4-E75D-5C53-14A4-39B01CD0D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029BBEE-BE60-D754-6746-05703FAAF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28647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69332"/>
          </a:xfrm>
        </p:spPr>
        <p:txBody>
          <a:bodyPr/>
          <a:lstStyle>
            <a:lvl1pPr>
              <a:defRPr sz="24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xmlns="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 dirty="0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xmlns="" val="8908100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 xmlns="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348A76A-DF17-C9BE-E2F5-E699BDD3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0B8363-CC75-17C0-0D96-427E41E56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BC82255-867B-DBB5-C066-AAB6B6559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D41D0-B7C1-4D09-B6DE-FBA6945E461A}" type="datetimeFigureOut">
              <a:rPr lang="en-IN" smtClean="0"/>
              <a:pPr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2163CB9-BFA5-A094-5969-F7E15633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BF262B0-82FA-14FA-DA75-1B4E4D16F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533A3-10C9-428D-88E2-4B7FD3DFDD6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7594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2">
            <a:extLst>
              <a:ext uri="{FF2B5EF4-FFF2-40B4-BE49-F238E27FC236}">
                <a16:creationId xmlns:a16="http://schemas.microsoft.com/office/drawing/2014/main" xmlns="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8" name="Picture 4" descr="Step by step guide to setup Unity Catalog in Azure | by Youssef Mrini |  Medium">
            <a:extLst>
              <a:ext uri="{FF2B5EF4-FFF2-40B4-BE49-F238E27FC236}">
                <a16:creationId xmlns:a16="http://schemas.microsoft.com/office/drawing/2014/main" xmlns="" id="{D7DB150F-DCA5-84A0-8359-5516DEDB8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1520" b="1349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47937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 with two sides.  One side shows how metadata is managed without Unity Catalog with and instance of user management, metastore and compute per workspace.  The other image shows   a scenario with Unity Catalog.  User management and the metastore are stored in a single location for all workspaces.">
            <a:extLst>
              <a:ext uri="{FF2B5EF4-FFF2-40B4-BE49-F238E27FC236}">
                <a16:creationId xmlns:a16="http://schemas.microsoft.com/office/drawing/2014/main" xmlns="" id="{A7EC51BE-F45F-0902-2AC4-85F03EABE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92" y="1307546"/>
            <a:ext cx="6991140" cy="28396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32BC4DB8-0495-1AF9-4A06-0668741FBB3E}"/>
              </a:ext>
            </a:extLst>
          </p:cNvPr>
          <p:cNvSpPr txBox="1"/>
          <p:nvPr/>
        </p:nvSpPr>
        <p:spPr>
          <a:xfrm>
            <a:off x="231592" y="95936"/>
            <a:ext cx="10864497" cy="10772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Unity Catalog is a feature within Azure Databricks that offers a unified governance solution for all data and AI assets.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6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Unity Catalog  provides a </a:t>
            </a:r>
            <a:r>
              <a:rPr lang="en-US" sz="16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centralized </a:t>
            </a:r>
            <a:r>
              <a:rPr lang="en-US" sz="1600" b="1" i="0" dirty="0" err="1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metastore</a:t>
            </a:r>
            <a:r>
              <a:rPr lang="en-US" sz="1600" b="1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 </a:t>
            </a:r>
            <a:r>
              <a:rPr lang="en-US" sz="1600" b="0" i="0" dirty="0">
                <a:solidFill>
                  <a:srgbClr val="161616"/>
                </a:solidFill>
                <a:effectLst/>
                <a:latin typeface="Segoe UI" panose="020B0502040204020203" pitchFamily="34" charset="0"/>
              </a:rPr>
              <a:t>that manages data objects across all workspaces in an organization.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4203040E-A882-701B-19A8-62153EF3E9F4}"/>
              </a:ext>
            </a:extLst>
          </p:cNvPr>
          <p:cNvSpPr txBox="1"/>
          <p:nvPr/>
        </p:nvSpPr>
        <p:spPr>
          <a:xfrm>
            <a:off x="4202129" y="4207517"/>
            <a:ext cx="7469312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Centralized Layer</a:t>
            </a:r>
            <a:r>
              <a:rPr lang="en-US" sz="1200" dirty="0"/>
              <a:t>: Unity Catalog is introduced as a centralized layer that includes user management and the </a:t>
            </a:r>
            <a:r>
              <a:rPr lang="en-US" sz="1200" dirty="0" err="1"/>
              <a:t>metastore</a:t>
            </a:r>
            <a:r>
              <a:rPr lang="en-US" sz="1200" dirty="0"/>
              <a:t>.</a:t>
            </a:r>
          </a:p>
          <a:p>
            <a:r>
              <a:rPr lang="en-US" sz="1200" b="1" dirty="0"/>
              <a:t>Shared Resources: </a:t>
            </a:r>
            <a:r>
              <a:rPr lang="en-US" sz="1200" dirty="0"/>
              <a:t>Multiple Databricks Workspaces share the centralized user management and </a:t>
            </a:r>
            <a:r>
              <a:rPr lang="en-US" sz="1200" dirty="0" err="1"/>
              <a:t>metastore</a:t>
            </a:r>
            <a:r>
              <a:rPr lang="en-US" sz="1200" dirty="0"/>
              <a:t> provided by Unity Catalog.</a:t>
            </a:r>
          </a:p>
          <a:p>
            <a:r>
              <a:rPr lang="en-US" sz="1200" b="1" dirty="0"/>
              <a:t>Compute: </a:t>
            </a:r>
            <a:r>
              <a:rPr lang="en-US" sz="1200" dirty="0"/>
              <a:t>Each workspace still maintains its own compute component, but user management and metadata are now centralized and shared across workspaces.</a:t>
            </a:r>
            <a:endParaRPr lang="en-IN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1895E217-9E1A-85B4-6081-98EFBC8A64DB}"/>
              </a:ext>
            </a:extLst>
          </p:cNvPr>
          <p:cNvSpPr txBox="1"/>
          <p:nvPr/>
        </p:nvSpPr>
        <p:spPr>
          <a:xfrm>
            <a:off x="4202130" y="5505621"/>
            <a:ext cx="7469311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200" b="1" dirty="0"/>
              <a:t>Benefits of Unity Catalog: </a:t>
            </a:r>
          </a:p>
          <a:p>
            <a:r>
              <a:rPr lang="en-US" sz="1200" b="1" dirty="0"/>
              <a:t>Simplified Administration: </a:t>
            </a:r>
            <a:r>
              <a:rPr lang="en-US" sz="1200" dirty="0"/>
              <a:t>Centralized user management and metadata simplify the administration process.</a:t>
            </a:r>
          </a:p>
          <a:p>
            <a:r>
              <a:rPr lang="en-US" sz="1200" b="1" dirty="0"/>
              <a:t>Improved Consistency: </a:t>
            </a:r>
            <a:r>
              <a:rPr lang="en-US" sz="1200" dirty="0"/>
              <a:t>Ensures consistent user and metadata management across multiple workspaces, reducing redundancy and potential errors.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xmlns="" val="188963583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xmlns="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5FEF7F-8141-A9A1-1A90-6434B9D10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Unity Catalog Object Model</a:t>
            </a:r>
          </a:p>
        </p:txBody>
      </p:sp>
      <p:pic>
        <p:nvPicPr>
          <p:cNvPr id="2050" name="Picture 2" descr="Unity Catalog object model diagram">
            <a:extLst>
              <a:ext uri="{FF2B5EF4-FFF2-40B4-BE49-F238E27FC236}">
                <a16:creationId xmlns:a16="http://schemas.microsoft.com/office/drawing/2014/main" xmlns="" id="{BAFCE14E-0357-BDEC-9A3F-72B8202F7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643467" y="1909415"/>
            <a:ext cx="10905066" cy="3925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16597938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xmlns="" id="{42A4FC2C-047E-45A5-965D-8E1E3BF09B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074" name="Picture 2" descr="Grant privilege using Catalog Explorer">
            <a:extLst>
              <a:ext uri="{FF2B5EF4-FFF2-40B4-BE49-F238E27FC236}">
                <a16:creationId xmlns:a16="http://schemas.microsoft.com/office/drawing/2014/main" xmlns="" id="{27BDD2FE-BBAD-B8F3-44FC-80E4390AF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554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53988534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26A8DC0-2920-12AE-5709-8C7258AB8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62947165"/>
              </p:ext>
            </p:extLst>
          </p:nvPr>
        </p:nvGraphicFramePr>
        <p:xfrm>
          <a:off x="1518471" y="142723"/>
          <a:ext cx="8828485" cy="5571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7128">
                  <a:extLst>
                    <a:ext uri="{9D8B030D-6E8A-4147-A177-3AD203B41FA5}">
                      <a16:colId xmlns:a16="http://schemas.microsoft.com/office/drawing/2014/main" xmlns="" val="2046075118"/>
                    </a:ext>
                  </a:extLst>
                </a:gridCol>
                <a:gridCol w="4391357">
                  <a:extLst>
                    <a:ext uri="{9D8B030D-6E8A-4147-A177-3AD203B41FA5}">
                      <a16:colId xmlns:a16="http://schemas.microsoft.com/office/drawing/2014/main" xmlns="" val="589817182"/>
                    </a:ext>
                  </a:extLst>
                </a:gridCol>
              </a:tblGrid>
              <a:tr h="725808"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>
                          <a:solidFill>
                            <a:srgbClr val="FF0000"/>
                          </a:solidFill>
                        </a:rPr>
                        <a:t>Microsoft Purview</a:t>
                      </a:r>
                    </a:p>
                    <a:p>
                      <a:endParaRPr lang="en-IN" sz="1900" dirty="0"/>
                    </a:p>
                  </a:txBody>
                  <a:tcPr marL="98082" marR="98082" marT="49041" marB="49041">
                    <a:solidFill>
                      <a:srgbClr val="E8E6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>
                          <a:solidFill>
                            <a:srgbClr val="FF0000"/>
                          </a:solidFill>
                        </a:rPr>
                        <a:t>Databricks Unity Catalog</a:t>
                      </a:r>
                    </a:p>
                    <a:p>
                      <a:endParaRPr lang="en-IN" sz="1900"/>
                    </a:p>
                  </a:txBody>
                  <a:tcPr marL="98082" marR="98082" marT="49041" marB="49041">
                    <a:solidFill>
                      <a:srgbClr val="E8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895652803"/>
                  </a:ext>
                </a:extLst>
              </a:tr>
              <a:tr h="4845259"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900" b="1"/>
                        <a:t>Ecosystem</a:t>
                      </a:r>
                      <a:r>
                        <a:rPr lang="en-US" sz="1900"/>
                        <a:t>: Primarily designed for the Azure ecosystem, including Azure Synapse Analytics, SQL Server, Power BI, and more.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190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900" b="1">
                          <a:effectLst/>
                        </a:rPr>
                        <a:t>Features</a:t>
                      </a:r>
                      <a:r>
                        <a:rPr lang="en-US" sz="1900">
                          <a:effectLst/>
                        </a:rPr>
                        <a:t>: Offers data discovery, lineage tracking, data classification, unified data maps, and access controls.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1900">
                        <a:effectLst/>
                      </a:endParaRP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900" b="1">
                          <a:effectLst/>
                        </a:rPr>
                        <a:t>Use Cases</a:t>
                      </a:r>
                      <a:r>
                        <a:rPr lang="en-US" sz="1900">
                          <a:effectLst/>
                        </a:rPr>
                        <a:t>: Ideal for organizations looking to manage and govern data across various environments, including on-premises, multi-cloud, and SaaS applications</a:t>
                      </a:r>
                    </a:p>
                    <a:p>
                      <a:endParaRPr lang="en-IN" sz="1900"/>
                    </a:p>
                  </a:txBody>
                  <a:tcPr marL="98082" marR="98082" marT="49041" marB="49041">
                    <a:solidFill>
                      <a:srgbClr val="E8E6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900" b="1" dirty="0"/>
                        <a:t>Ecosystem</a:t>
                      </a:r>
                      <a:r>
                        <a:rPr lang="en-US" sz="1900" dirty="0"/>
                        <a:t>: Tailored for the Databricks ecosystem, providing a cloud-agnostic approach to data lake governance.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1900" dirty="0"/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900" b="1" dirty="0">
                          <a:effectLst/>
                        </a:rPr>
                        <a:t>Features</a:t>
                      </a:r>
                      <a:r>
                        <a:rPr lang="en-US" sz="1900" dirty="0">
                          <a:effectLst/>
                        </a:rPr>
                        <a:t>: Includes data search and discovery, automated lineage, granular access controls, AI-powered monitoring, and open data sharing.</a:t>
                      </a: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endParaRPr lang="en-US" sz="1900" dirty="0">
                        <a:effectLst/>
                      </a:endParaRPr>
                    </a:p>
                    <a:p>
                      <a:pPr>
                        <a:buFont typeface="Arial" panose="020B0604020202020204" pitchFamily="34" charset="0"/>
                        <a:buChar char="•"/>
                      </a:pPr>
                      <a:r>
                        <a:rPr lang="en-US" sz="1900" b="1" dirty="0">
                          <a:effectLst/>
                        </a:rPr>
                        <a:t>Use Cases</a:t>
                      </a:r>
                      <a:r>
                        <a:rPr lang="en-US" sz="1900" dirty="0">
                          <a:effectLst/>
                        </a:rPr>
                        <a:t>: Best suited for managing data and AI workloads within the Databricks Lakehouse platform</a:t>
                      </a:r>
                    </a:p>
                    <a:p>
                      <a:pPr algn="l"/>
                      <a:endParaRPr lang="en-US" sz="1900" b="1" i="0" dirty="0">
                        <a:solidFill>
                          <a:srgbClr val="161616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endParaRPr lang="en-IN" sz="1900" dirty="0"/>
                    </a:p>
                  </a:txBody>
                  <a:tcPr marL="98082" marR="98082" marT="49041" marB="49041">
                    <a:solidFill>
                      <a:srgbClr val="E8E6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777134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913362C-A14F-C8C5-FB8C-51E9F89D0C39}"/>
              </a:ext>
            </a:extLst>
          </p:cNvPr>
          <p:cNvSpPr txBox="1"/>
          <p:nvPr/>
        </p:nvSpPr>
        <p:spPr>
          <a:xfrm>
            <a:off x="1868714" y="5808106"/>
            <a:ext cx="8128000" cy="9071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Purview is a comprehensive solution for broader data governance across multiple platforms ( </a:t>
            </a:r>
            <a:r>
              <a:rPr lang="en-US" dirty="0" err="1"/>
              <a:t>saas</a:t>
            </a:r>
            <a:r>
              <a:rPr lang="en-US" dirty="0"/>
              <a:t> / </a:t>
            </a:r>
            <a:r>
              <a:rPr lang="en-US" dirty="0" err="1"/>
              <a:t>paas</a:t>
            </a:r>
            <a:r>
              <a:rPr lang="en-US" dirty="0"/>
              <a:t> /Multi cloud), while Unity Catalog focuses on governance within the Databricks environment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10280236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xmlns="" id="{F1EDF5C9-7D9A-FF2B-4DD3-C28FF246AC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941575092"/>
              </p:ext>
            </p:extLst>
          </p:nvPr>
        </p:nvGraphicFramePr>
        <p:xfrm>
          <a:off x="274084" y="0"/>
          <a:ext cx="11917916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5309315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B50AB553-2A96-4A92-96F2-93548E0969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341762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476</Words>
  <Application>Microsoft Office PowerPoint</Application>
  <PresentationFormat>Custom</PresentationFormat>
  <Paragraphs>35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Unity Catalog Object Model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Prabhjot Singh Bakshi</dc:creator>
  <cp:lastModifiedBy>hp</cp:lastModifiedBy>
  <cp:revision>2</cp:revision>
  <dcterms:created xsi:type="dcterms:W3CDTF">2024-12-04T08:48:03Z</dcterms:created>
  <dcterms:modified xsi:type="dcterms:W3CDTF">2025-09-12T15:58:51Z</dcterms:modified>
</cp:coreProperties>
</file>