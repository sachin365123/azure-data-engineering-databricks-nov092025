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Default Extension="svg" ContentType="image/svg+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147479811" r:id="rId3"/>
    <p:sldId id="2147479828" r:id="rId4"/>
    <p:sldId id="2147479829" r:id="rId5"/>
    <p:sldId id="2147479831" r:id="rId6"/>
    <p:sldId id="214747983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4995" autoAdjust="0"/>
    <p:restoredTop sz="94660"/>
  </p:normalViewPr>
  <p:slideViewPr>
    <p:cSldViewPr snapToGrid="0">
      <p:cViewPr varScale="1">
        <p:scale>
          <a:sx n="70" d="100"/>
          <a:sy n="70" d="100"/>
        </p:scale>
        <p:origin x="-734" y="-67"/>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590FD1-8143-4171-9D60-FF634CF39857}" type="datetimeFigureOut">
              <a:rPr lang="en-IN" smtClean="0"/>
              <a:pPr/>
              <a:t>26-08-2025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433C41-4B6B-4BD5-8A43-DB968C4BAEF7}" type="slidenum">
              <a:rPr lang="en-IN" smtClean="0"/>
              <a:pPr/>
              <a:t>‹#›</a:t>
            </a:fld>
            <a:endParaRPr lang="en-IN"/>
          </a:p>
        </p:txBody>
      </p:sp>
    </p:spTree>
    <p:extLst>
      <p:ext uri="{BB962C8B-B14F-4D97-AF65-F5344CB8AC3E}">
        <p14:creationId xmlns:p14="http://schemas.microsoft.com/office/powerpoint/2010/main" xmlns="" val="3939388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0" dirty="0">
              <a:solidFill>
                <a:srgbClr val="161616"/>
              </a:solidFill>
              <a:effectLst/>
              <a:latin typeface="Segoe UI" panose="020B0502040204020203" pitchFamily="34" charset="0"/>
            </a:endParaRPr>
          </a:p>
          <a:p>
            <a:r>
              <a:rPr lang="en-US" b="0" i="0" dirty="0">
                <a:solidFill>
                  <a:srgbClr val="161616"/>
                </a:solidFill>
                <a:effectLst/>
                <a:latin typeface="Segoe UI" panose="020B0502040204020203" pitchFamily="34" charset="0"/>
              </a:rPr>
              <a:t>After the services within your managed resource group are ready, you can manage the Databricks cluster through the Azure Databricks UI and through features such as auto-scaling and auto-termination.</a:t>
            </a:r>
          </a:p>
          <a:p>
            <a:endParaRPr lang="en-IN"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pPr/>
              <a:t>8/26/2025 9:13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3</a:t>
            </a:fld>
            <a:endParaRPr lang="en-US" dirty="0"/>
          </a:p>
        </p:txBody>
      </p:sp>
    </p:spTree>
    <p:extLst>
      <p:ext uri="{BB962C8B-B14F-4D97-AF65-F5344CB8AC3E}">
        <p14:creationId xmlns:p14="http://schemas.microsoft.com/office/powerpoint/2010/main" xmlns="" val="9286332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0201CEF-C9D4-AFD7-8681-48F8733666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FFCA708F-C091-97C1-52A4-231F0F6B072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7702E300-747E-296C-1B9F-A5CBD9153344}"/>
              </a:ext>
            </a:extLst>
          </p:cNvPr>
          <p:cNvSpPr>
            <a:spLocks noGrp="1"/>
          </p:cNvSpPr>
          <p:nvPr>
            <p:ph type="dt" sz="half" idx="10"/>
          </p:nvPr>
        </p:nvSpPr>
        <p:spPr/>
        <p:txBody>
          <a:bodyPr/>
          <a:lstStyle/>
          <a:p>
            <a:fld id="{1A18EA23-7F4B-458B-B152-043B37C819FB}" type="datetimeFigureOut">
              <a:rPr lang="en-IN" smtClean="0"/>
              <a:pPr/>
              <a:t>26-08-2025</a:t>
            </a:fld>
            <a:endParaRPr lang="en-IN"/>
          </a:p>
        </p:txBody>
      </p:sp>
      <p:sp>
        <p:nvSpPr>
          <p:cNvPr id="5" name="Footer Placeholder 4">
            <a:extLst>
              <a:ext uri="{FF2B5EF4-FFF2-40B4-BE49-F238E27FC236}">
                <a16:creationId xmlns:a16="http://schemas.microsoft.com/office/drawing/2014/main" xmlns="" id="{53C3A53F-AC37-4DD8-7930-70AD0040F15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33B4E25B-BB56-A4A0-0665-8628E10F4394}"/>
              </a:ext>
            </a:extLst>
          </p:cNvPr>
          <p:cNvSpPr>
            <a:spLocks noGrp="1"/>
          </p:cNvSpPr>
          <p:nvPr>
            <p:ph type="sldNum" sz="quarter" idx="12"/>
          </p:nvPr>
        </p:nvSpPr>
        <p:spPr/>
        <p:txBody>
          <a:bodyPr/>
          <a:lstStyle/>
          <a:p>
            <a:fld id="{11123919-7AD0-49B5-A74E-8A7F5D231109}" type="slidenum">
              <a:rPr lang="en-IN" smtClean="0"/>
              <a:pPr/>
              <a:t>‹#›</a:t>
            </a:fld>
            <a:endParaRPr lang="en-IN"/>
          </a:p>
        </p:txBody>
      </p:sp>
    </p:spTree>
    <p:extLst>
      <p:ext uri="{BB962C8B-B14F-4D97-AF65-F5344CB8AC3E}">
        <p14:creationId xmlns:p14="http://schemas.microsoft.com/office/powerpoint/2010/main" xmlns="" val="31356304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8ECDC73-403D-3049-E4F5-6DF66BB1DBF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63A81AE5-C451-8B2E-8F9A-8FB953D545A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0A699AAA-055E-A333-93D8-B1B36A6A5DB5}"/>
              </a:ext>
            </a:extLst>
          </p:cNvPr>
          <p:cNvSpPr>
            <a:spLocks noGrp="1"/>
          </p:cNvSpPr>
          <p:nvPr>
            <p:ph type="dt" sz="half" idx="10"/>
          </p:nvPr>
        </p:nvSpPr>
        <p:spPr/>
        <p:txBody>
          <a:bodyPr/>
          <a:lstStyle/>
          <a:p>
            <a:fld id="{1A18EA23-7F4B-458B-B152-043B37C819FB}" type="datetimeFigureOut">
              <a:rPr lang="en-IN" smtClean="0"/>
              <a:pPr/>
              <a:t>26-08-2025</a:t>
            </a:fld>
            <a:endParaRPr lang="en-IN"/>
          </a:p>
        </p:txBody>
      </p:sp>
      <p:sp>
        <p:nvSpPr>
          <p:cNvPr id="5" name="Footer Placeholder 4">
            <a:extLst>
              <a:ext uri="{FF2B5EF4-FFF2-40B4-BE49-F238E27FC236}">
                <a16:creationId xmlns:a16="http://schemas.microsoft.com/office/drawing/2014/main" xmlns="" id="{EB04BCBE-090C-13BD-2141-C1115FB9AA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B2E77C17-6382-9FF8-F12E-D374AE37AD62}"/>
              </a:ext>
            </a:extLst>
          </p:cNvPr>
          <p:cNvSpPr>
            <a:spLocks noGrp="1"/>
          </p:cNvSpPr>
          <p:nvPr>
            <p:ph type="sldNum" sz="quarter" idx="12"/>
          </p:nvPr>
        </p:nvSpPr>
        <p:spPr/>
        <p:txBody>
          <a:bodyPr/>
          <a:lstStyle/>
          <a:p>
            <a:fld id="{11123919-7AD0-49B5-A74E-8A7F5D231109}" type="slidenum">
              <a:rPr lang="en-IN" smtClean="0"/>
              <a:pPr/>
              <a:t>‹#›</a:t>
            </a:fld>
            <a:endParaRPr lang="en-IN"/>
          </a:p>
        </p:txBody>
      </p:sp>
    </p:spTree>
    <p:extLst>
      <p:ext uri="{BB962C8B-B14F-4D97-AF65-F5344CB8AC3E}">
        <p14:creationId xmlns:p14="http://schemas.microsoft.com/office/powerpoint/2010/main" xmlns="" val="19558426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741E156-4896-39B1-C1D1-AF1BE44797B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2F753964-5F63-52BA-A604-19F03353129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129FB495-E926-D544-4117-4CB1986CCAB8}"/>
              </a:ext>
            </a:extLst>
          </p:cNvPr>
          <p:cNvSpPr>
            <a:spLocks noGrp="1"/>
          </p:cNvSpPr>
          <p:nvPr>
            <p:ph type="dt" sz="half" idx="10"/>
          </p:nvPr>
        </p:nvSpPr>
        <p:spPr/>
        <p:txBody>
          <a:bodyPr/>
          <a:lstStyle/>
          <a:p>
            <a:fld id="{1A18EA23-7F4B-458B-B152-043B37C819FB}" type="datetimeFigureOut">
              <a:rPr lang="en-IN" smtClean="0"/>
              <a:pPr/>
              <a:t>26-08-2025</a:t>
            </a:fld>
            <a:endParaRPr lang="en-IN"/>
          </a:p>
        </p:txBody>
      </p:sp>
      <p:sp>
        <p:nvSpPr>
          <p:cNvPr id="5" name="Footer Placeholder 4">
            <a:extLst>
              <a:ext uri="{FF2B5EF4-FFF2-40B4-BE49-F238E27FC236}">
                <a16:creationId xmlns:a16="http://schemas.microsoft.com/office/drawing/2014/main" xmlns="" id="{C8054F99-CF4F-9B10-3C32-C7909C7EB47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99CBB51C-13FC-30E0-203C-90625F37C524}"/>
              </a:ext>
            </a:extLst>
          </p:cNvPr>
          <p:cNvSpPr>
            <a:spLocks noGrp="1"/>
          </p:cNvSpPr>
          <p:nvPr>
            <p:ph type="sldNum" sz="quarter" idx="12"/>
          </p:nvPr>
        </p:nvSpPr>
        <p:spPr/>
        <p:txBody>
          <a:bodyPr/>
          <a:lstStyle/>
          <a:p>
            <a:fld id="{11123919-7AD0-49B5-A74E-8A7F5D231109}" type="slidenum">
              <a:rPr lang="en-IN" smtClean="0"/>
              <a:pPr/>
              <a:t>‹#›</a:t>
            </a:fld>
            <a:endParaRPr lang="en-IN"/>
          </a:p>
        </p:txBody>
      </p:sp>
    </p:spTree>
    <p:extLst>
      <p:ext uri="{BB962C8B-B14F-4D97-AF65-F5344CB8AC3E}">
        <p14:creationId xmlns:p14="http://schemas.microsoft.com/office/powerpoint/2010/main" xmlns="" val="2025697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D92594B-BCBD-EF03-A9F6-C5647757D4F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51C4030F-6CE4-3591-AFA2-E2DDBACD888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BF2E2B78-3DD8-3978-952C-33456C82CB6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8C164BD0-ADF9-B0DA-53F0-E36BBDD1D0D9}"/>
              </a:ext>
            </a:extLst>
          </p:cNvPr>
          <p:cNvSpPr>
            <a:spLocks noGrp="1"/>
          </p:cNvSpPr>
          <p:nvPr>
            <p:ph type="dt" sz="half" idx="10"/>
          </p:nvPr>
        </p:nvSpPr>
        <p:spPr/>
        <p:txBody>
          <a:bodyPr/>
          <a:lstStyle/>
          <a:p>
            <a:fld id="{1A18EA23-7F4B-458B-B152-043B37C819FB}" type="datetimeFigureOut">
              <a:rPr lang="en-IN" smtClean="0"/>
              <a:pPr/>
              <a:t>26-08-2025</a:t>
            </a:fld>
            <a:endParaRPr lang="en-IN"/>
          </a:p>
        </p:txBody>
      </p:sp>
      <p:sp>
        <p:nvSpPr>
          <p:cNvPr id="6" name="Footer Placeholder 5">
            <a:extLst>
              <a:ext uri="{FF2B5EF4-FFF2-40B4-BE49-F238E27FC236}">
                <a16:creationId xmlns:a16="http://schemas.microsoft.com/office/drawing/2014/main" xmlns="" id="{CC5344F4-1273-62A6-FF15-4E416688FCD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3BF01FEE-99D8-7566-BC37-DCF4764D7DF2}"/>
              </a:ext>
            </a:extLst>
          </p:cNvPr>
          <p:cNvSpPr>
            <a:spLocks noGrp="1"/>
          </p:cNvSpPr>
          <p:nvPr>
            <p:ph type="sldNum" sz="quarter" idx="12"/>
          </p:nvPr>
        </p:nvSpPr>
        <p:spPr/>
        <p:txBody>
          <a:bodyPr/>
          <a:lstStyle/>
          <a:p>
            <a:fld id="{11123919-7AD0-49B5-A74E-8A7F5D231109}" type="slidenum">
              <a:rPr lang="en-IN" smtClean="0"/>
              <a:pPr/>
              <a:t>‹#›</a:t>
            </a:fld>
            <a:endParaRPr lang="en-IN"/>
          </a:p>
        </p:txBody>
      </p:sp>
    </p:spTree>
    <p:extLst>
      <p:ext uri="{BB962C8B-B14F-4D97-AF65-F5344CB8AC3E}">
        <p14:creationId xmlns:p14="http://schemas.microsoft.com/office/powerpoint/2010/main" xmlns="" val="29501223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53B3CD9-A1C1-D1E4-92B2-C0557D9F543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EFC7D8E9-C9C7-AE86-6CC8-7C293C0743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CA47BDFA-F111-2BDD-FD3D-543D07883FC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699E108B-FEE1-9262-F530-C19260DC0C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8AB8082C-8A82-E86E-1FC9-2D09EC62D63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F7151E2C-4586-9FB2-6F2B-E3C7FDF52F62}"/>
              </a:ext>
            </a:extLst>
          </p:cNvPr>
          <p:cNvSpPr>
            <a:spLocks noGrp="1"/>
          </p:cNvSpPr>
          <p:nvPr>
            <p:ph type="dt" sz="half" idx="10"/>
          </p:nvPr>
        </p:nvSpPr>
        <p:spPr/>
        <p:txBody>
          <a:bodyPr/>
          <a:lstStyle/>
          <a:p>
            <a:fld id="{1A18EA23-7F4B-458B-B152-043B37C819FB}" type="datetimeFigureOut">
              <a:rPr lang="en-IN" smtClean="0"/>
              <a:pPr/>
              <a:t>26-08-2025</a:t>
            </a:fld>
            <a:endParaRPr lang="en-IN"/>
          </a:p>
        </p:txBody>
      </p:sp>
      <p:sp>
        <p:nvSpPr>
          <p:cNvPr id="8" name="Footer Placeholder 7">
            <a:extLst>
              <a:ext uri="{FF2B5EF4-FFF2-40B4-BE49-F238E27FC236}">
                <a16:creationId xmlns:a16="http://schemas.microsoft.com/office/drawing/2014/main" xmlns="" id="{721E1115-B3B9-33BA-2CE2-24DADE857BA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AD0561C4-38E9-0C6D-A2C5-08EADD9E51A0}"/>
              </a:ext>
            </a:extLst>
          </p:cNvPr>
          <p:cNvSpPr>
            <a:spLocks noGrp="1"/>
          </p:cNvSpPr>
          <p:nvPr>
            <p:ph type="sldNum" sz="quarter" idx="12"/>
          </p:nvPr>
        </p:nvSpPr>
        <p:spPr/>
        <p:txBody>
          <a:bodyPr/>
          <a:lstStyle/>
          <a:p>
            <a:fld id="{11123919-7AD0-49B5-A74E-8A7F5D231109}" type="slidenum">
              <a:rPr lang="en-IN" smtClean="0"/>
              <a:pPr/>
              <a:t>‹#›</a:t>
            </a:fld>
            <a:endParaRPr lang="en-IN"/>
          </a:p>
        </p:txBody>
      </p:sp>
    </p:spTree>
    <p:extLst>
      <p:ext uri="{BB962C8B-B14F-4D97-AF65-F5344CB8AC3E}">
        <p14:creationId xmlns:p14="http://schemas.microsoft.com/office/powerpoint/2010/main" xmlns="" val="10752497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26B9951-82E5-4BB3-ABA9-68C5C2221FE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B95F8DCA-D8CC-2A21-C6A0-5C740BC06CB3}"/>
              </a:ext>
            </a:extLst>
          </p:cNvPr>
          <p:cNvSpPr>
            <a:spLocks noGrp="1"/>
          </p:cNvSpPr>
          <p:nvPr>
            <p:ph type="dt" sz="half" idx="10"/>
          </p:nvPr>
        </p:nvSpPr>
        <p:spPr/>
        <p:txBody>
          <a:bodyPr/>
          <a:lstStyle/>
          <a:p>
            <a:fld id="{1A18EA23-7F4B-458B-B152-043B37C819FB}" type="datetimeFigureOut">
              <a:rPr lang="en-IN" smtClean="0"/>
              <a:pPr/>
              <a:t>26-08-2025</a:t>
            </a:fld>
            <a:endParaRPr lang="en-IN"/>
          </a:p>
        </p:txBody>
      </p:sp>
      <p:sp>
        <p:nvSpPr>
          <p:cNvPr id="4" name="Footer Placeholder 3">
            <a:extLst>
              <a:ext uri="{FF2B5EF4-FFF2-40B4-BE49-F238E27FC236}">
                <a16:creationId xmlns:a16="http://schemas.microsoft.com/office/drawing/2014/main" xmlns="" id="{7F51FD63-65D2-9E29-FBFB-A3F2B01009A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E7F887E3-0A04-F9D8-201D-6F3178153CAC}"/>
              </a:ext>
            </a:extLst>
          </p:cNvPr>
          <p:cNvSpPr>
            <a:spLocks noGrp="1"/>
          </p:cNvSpPr>
          <p:nvPr>
            <p:ph type="sldNum" sz="quarter" idx="12"/>
          </p:nvPr>
        </p:nvSpPr>
        <p:spPr/>
        <p:txBody>
          <a:bodyPr/>
          <a:lstStyle/>
          <a:p>
            <a:fld id="{11123919-7AD0-49B5-A74E-8A7F5D231109}" type="slidenum">
              <a:rPr lang="en-IN" smtClean="0"/>
              <a:pPr/>
              <a:t>‹#›</a:t>
            </a:fld>
            <a:endParaRPr lang="en-IN"/>
          </a:p>
        </p:txBody>
      </p:sp>
    </p:spTree>
    <p:extLst>
      <p:ext uri="{BB962C8B-B14F-4D97-AF65-F5344CB8AC3E}">
        <p14:creationId xmlns:p14="http://schemas.microsoft.com/office/powerpoint/2010/main" xmlns="" val="2847350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873E239F-D3DD-0123-59DF-631615B5DD7B}"/>
              </a:ext>
            </a:extLst>
          </p:cNvPr>
          <p:cNvSpPr>
            <a:spLocks noGrp="1"/>
          </p:cNvSpPr>
          <p:nvPr>
            <p:ph type="dt" sz="half" idx="10"/>
          </p:nvPr>
        </p:nvSpPr>
        <p:spPr/>
        <p:txBody>
          <a:bodyPr/>
          <a:lstStyle/>
          <a:p>
            <a:fld id="{1A18EA23-7F4B-458B-B152-043B37C819FB}" type="datetimeFigureOut">
              <a:rPr lang="en-IN" smtClean="0"/>
              <a:pPr/>
              <a:t>26-08-2025</a:t>
            </a:fld>
            <a:endParaRPr lang="en-IN"/>
          </a:p>
        </p:txBody>
      </p:sp>
      <p:sp>
        <p:nvSpPr>
          <p:cNvPr id="3" name="Footer Placeholder 2">
            <a:extLst>
              <a:ext uri="{FF2B5EF4-FFF2-40B4-BE49-F238E27FC236}">
                <a16:creationId xmlns:a16="http://schemas.microsoft.com/office/drawing/2014/main" xmlns="" id="{BC366572-6846-7824-3E6B-DC3A764A6E4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1A4D3CC6-3298-7DCD-F7D3-3129C9F2003A}"/>
              </a:ext>
            </a:extLst>
          </p:cNvPr>
          <p:cNvSpPr>
            <a:spLocks noGrp="1"/>
          </p:cNvSpPr>
          <p:nvPr>
            <p:ph type="sldNum" sz="quarter" idx="12"/>
          </p:nvPr>
        </p:nvSpPr>
        <p:spPr/>
        <p:txBody>
          <a:bodyPr/>
          <a:lstStyle/>
          <a:p>
            <a:fld id="{11123919-7AD0-49B5-A74E-8A7F5D231109}" type="slidenum">
              <a:rPr lang="en-IN" smtClean="0"/>
              <a:pPr/>
              <a:t>‹#›</a:t>
            </a:fld>
            <a:endParaRPr lang="en-IN"/>
          </a:p>
        </p:txBody>
      </p:sp>
    </p:spTree>
    <p:extLst>
      <p:ext uri="{BB962C8B-B14F-4D97-AF65-F5344CB8AC3E}">
        <p14:creationId xmlns:p14="http://schemas.microsoft.com/office/powerpoint/2010/main" xmlns="" val="29559170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80D3D9D-D48E-176F-AEBB-04A50DF2E1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E77650FB-F895-3F43-9221-47EF97127F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AED7E680-8630-6590-C2D7-A0FEBEE775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A4F81E9C-84F6-B376-47BB-9457EDB91A32}"/>
              </a:ext>
            </a:extLst>
          </p:cNvPr>
          <p:cNvSpPr>
            <a:spLocks noGrp="1"/>
          </p:cNvSpPr>
          <p:nvPr>
            <p:ph type="dt" sz="half" idx="10"/>
          </p:nvPr>
        </p:nvSpPr>
        <p:spPr/>
        <p:txBody>
          <a:bodyPr/>
          <a:lstStyle/>
          <a:p>
            <a:fld id="{1A18EA23-7F4B-458B-B152-043B37C819FB}" type="datetimeFigureOut">
              <a:rPr lang="en-IN" smtClean="0"/>
              <a:pPr/>
              <a:t>26-08-2025</a:t>
            </a:fld>
            <a:endParaRPr lang="en-IN"/>
          </a:p>
        </p:txBody>
      </p:sp>
      <p:sp>
        <p:nvSpPr>
          <p:cNvPr id="6" name="Footer Placeholder 5">
            <a:extLst>
              <a:ext uri="{FF2B5EF4-FFF2-40B4-BE49-F238E27FC236}">
                <a16:creationId xmlns:a16="http://schemas.microsoft.com/office/drawing/2014/main" xmlns="" id="{BB85E231-8952-6071-FDBC-A5EB193B78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49F57C8D-0FBF-FFA7-2B10-F1F6F7E45C55}"/>
              </a:ext>
            </a:extLst>
          </p:cNvPr>
          <p:cNvSpPr>
            <a:spLocks noGrp="1"/>
          </p:cNvSpPr>
          <p:nvPr>
            <p:ph type="sldNum" sz="quarter" idx="12"/>
          </p:nvPr>
        </p:nvSpPr>
        <p:spPr/>
        <p:txBody>
          <a:bodyPr/>
          <a:lstStyle/>
          <a:p>
            <a:fld id="{11123919-7AD0-49B5-A74E-8A7F5D231109}" type="slidenum">
              <a:rPr lang="en-IN" smtClean="0"/>
              <a:pPr/>
              <a:t>‹#›</a:t>
            </a:fld>
            <a:endParaRPr lang="en-IN"/>
          </a:p>
        </p:txBody>
      </p:sp>
    </p:spTree>
    <p:extLst>
      <p:ext uri="{BB962C8B-B14F-4D97-AF65-F5344CB8AC3E}">
        <p14:creationId xmlns:p14="http://schemas.microsoft.com/office/powerpoint/2010/main" xmlns="" val="11140965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840455D-BC09-BF12-2BAE-311D6D411E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BFA280B3-5AEC-E8AE-228F-24DBE6C440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E4C4952D-5408-672E-8B39-CE4221DC19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81561204-8BDC-9097-7B85-D18B7DD4F4CD}"/>
              </a:ext>
            </a:extLst>
          </p:cNvPr>
          <p:cNvSpPr>
            <a:spLocks noGrp="1"/>
          </p:cNvSpPr>
          <p:nvPr>
            <p:ph type="dt" sz="half" idx="10"/>
          </p:nvPr>
        </p:nvSpPr>
        <p:spPr/>
        <p:txBody>
          <a:bodyPr/>
          <a:lstStyle/>
          <a:p>
            <a:fld id="{1A18EA23-7F4B-458B-B152-043B37C819FB}" type="datetimeFigureOut">
              <a:rPr lang="en-IN" smtClean="0"/>
              <a:pPr/>
              <a:t>26-08-2025</a:t>
            </a:fld>
            <a:endParaRPr lang="en-IN"/>
          </a:p>
        </p:txBody>
      </p:sp>
      <p:sp>
        <p:nvSpPr>
          <p:cNvPr id="6" name="Footer Placeholder 5">
            <a:extLst>
              <a:ext uri="{FF2B5EF4-FFF2-40B4-BE49-F238E27FC236}">
                <a16:creationId xmlns:a16="http://schemas.microsoft.com/office/drawing/2014/main" xmlns="" id="{15D3CD46-7687-0AD9-2694-C785D2D90CB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710C08F8-C8F4-65BA-AECC-F550B45CE49F}"/>
              </a:ext>
            </a:extLst>
          </p:cNvPr>
          <p:cNvSpPr>
            <a:spLocks noGrp="1"/>
          </p:cNvSpPr>
          <p:nvPr>
            <p:ph type="sldNum" sz="quarter" idx="12"/>
          </p:nvPr>
        </p:nvSpPr>
        <p:spPr/>
        <p:txBody>
          <a:bodyPr/>
          <a:lstStyle/>
          <a:p>
            <a:fld id="{11123919-7AD0-49B5-A74E-8A7F5D231109}" type="slidenum">
              <a:rPr lang="en-IN" smtClean="0"/>
              <a:pPr/>
              <a:t>‹#›</a:t>
            </a:fld>
            <a:endParaRPr lang="en-IN"/>
          </a:p>
        </p:txBody>
      </p:sp>
    </p:spTree>
    <p:extLst>
      <p:ext uri="{BB962C8B-B14F-4D97-AF65-F5344CB8AC3E}">
        <p14:creationId xmlns:p14="http://schemas.microsoft.com/office/powerpoint/2010/main" xmlns="" val="14380784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BE9213D-6CC5-91FE-BA2D-A7254570672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B96E9CDA-1C74-9C7C-5841-584CA27FF91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83BF4199-E250-AACB-43DB-40E878EB6646}"/>
              </a:ext>
            </a:extLst>
          </p:cNvPr>
          <p:cNvSpPr>
            <a:spLocks noGrp="1"/>
          </p:cNvSpPr>
          <p:nvPr>
            <p:ph type="dt" sz="half" idx="10"/>
          </p:nvPr>
        </p:nvSpPr>
        <p:spPr/>
        <p:txBody>
          <a:bodyPr/>
          <a:lstStyle/>
          <a:p>
            <a:fld id="{1A18EA23-7F4B-458B-B152-043B37C819FB}" type="datetimeFigureOut">
              <a:rPr lang="en-IN" smtClean="0"/>
              <a:pPr/>
              <a:t>26-08-2025</a:t>
            </a:fld>
            <a:endParaRPr lang="en-IN"/>
          </a:p>
        </p:txBody>
      </p:sp>
      <p:sp>
        <p:nvSpPr>
          <p:cNvPr id="5" name="Footer Placeholder 4">
            <a:extLst>
              <a:ext uri="{FF2B5EF4-FFF2-40B4-BE49-F238E27FC236}">
                <a16:creationId xmlns:a16="http://schemas.microsoft.com/office/drawing/2014/main" xmlns="" id="{A7322841-AE90-0829-0A56-35B78BB4B6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9CF54FB8-7EA5-7A1D-26FB-811FEA5E8AF9}"/>
              </a:ext>
            </a:extLst>
          </p:cNvPr>
          <p:cNvSpPr>
            <a:spLocks noGrp="1"/>
          </p:cNvSpPr>
          <p:nvPr>
            <p:ph type="sldNum" sz="quarter" idx="12"/>
          </p:nvPr>
        </p:nvSpPr>
        <p:spPr/>
        <p:txBody>
          <a:bodyPr/>
          <a:lstStyle/>
          <a:p>
            <a:fld id="{11123919-7AD0-49B5-A74E-8A7F5D231109}" type="slidenum">
              <a:rPr lang="en-IN" smtClean="0"/>
              <a:pPr/>
              <a:t>‹#›</a:t>
            </a:fld>
            <a:endParaRPr lang="en-IN"/>
          </a:p>
        </p:txBody>
      </p:sp>
    </p:spTree>
    <p:extLst>
      <p:ext uri="{BB962C8B-B14F-4D97-AF65-F5344CB8AC3E}">
        <p14:creationId xmlns:p14="http://schemas.microsoft.com/office/powerpoint/2010/main" xmlns="" val="465977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DE17276C-0F35-2873-0ACF-7E5083DF05A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60327E0B-DCD7-3E89-C893-A9C66A72250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D7F97887-D915-04C0-B283-A135814C8861}"/>
              </a:ext>
            </a:extLst>
          </p:cNvPr>
          <p:cNvSpPr>
            <a:spLocks noGrp="1"/>
          </p:cNvSpPr>
          <p:nvPr>
            <p:ph type="dt" sz="half" idx="10"/>
          </p:nvPr>
        </p:nvSpPr>
        <p:spPr/>
        <p:txBody>
          <a:bodyPr/>
          <a:lstStyle/>
          <a:p>
            <a:fld id="{1A18EA23-7F4B-458B-B152-043B37C819FB}" type="datetimeFigureOut">
              <a:rPr lang="en-IN" smtClean="0"/>
              <a:pPr/>
              <a:t>26-08-2025</a:t>
            </a:fld>
            <a:endParaRPr lang="en-IN"/>
          </a:p>
        </p:txBody>
      </p:sp>
      <p:sp>
        <p:nvSpPr>
          <p:cNvPr id="5" name="Footer Placeholder 4">
            <a:extLst>
              <a:ext uri="{FF2B5EF4-FFF2-40B4-BE49-F238E27FC236}">
                <a16:creationId xmlns:a16="http://schemas.microsoft.com/office/drawing/2014/main" xmlns="" id="{55374CD8-8F24-E923-4D37-DF9C8E0CE5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23A0B35E-A939-7A6E-CDC8-A844F8C5E6A5}"/>
              </a:ext>
            </a:extLst>
          </p:cNvPr>
          <p:cNvSpPr>
            <a:spLocks noGrp="1"/>
          </p:cNvSpPr>
          <p:nvPr>
            <p:ph type="sldNum" sz="quarter" idx="12"/>
          </p:nvPr>
        </p:nvSpPr>
        <p:spPr/>
        <p:txBody>
          <a:bodyPr/>
          <a:lstStyle/>
          <a:p>
            <a:fld id="{11123919-7AD0-49B5-A74E-8A7F5D231109}" type="slidenum">
              <a:rPr lang="en-IN" smtClean="0"/>
              <a:pPr/>
              <a:t>‹#›</a:t>
            </a:fld>
            <a:endParaRPr lang="en-IN"/>
          </a:p>
        </p:txBody>
      </p:sp>
    </p:spTree>
    <p:extLst>
      <p:ext uri="{BB962C8B-B14F-4D97-AF65-F5344CB8AC3E}">
        <p14:creationId xmlns:p14="http://schemas.microsoft.com/office/powerpoint/2010/main" xmlns="" val="18530659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ntent_layou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xmlns="" id="{22FCFEFD-88E5-4869-B5C3-1611B0B50E15}"/>
              </a:ext>
            </a:extLst>
          </p:cNvPr>
          <p:cNvSpPr>
            <a:spLocks noGrp="1"/>
          </p:cNvSpPr>
          <p:nvPr>
            <p:ph type="title" hasCustomPrompt="1"/>
          </p:nvPr>
        </p:nvSpPr>
        <p:spPr>
          <a:xfrm>
            <a:off x="588263" y="457200"/>
            <a:ext cx="11018520" cy="553998"/>
          </a:xfrm>
        </p:spPr>
        <p:txBody>
          <a:bodyPr/>
          <a:lstStyle>
            <a:lvl1pPr>
              <a:lnSpc>
                <a:spcPct val="100000"/>
              </a:lnSpc>
              <a:defRPr sz="3600">
                <a:solidFill>
                  <a:srgbClr val="2A446F"/>
                </a:solidFill>
              </a:defRPr>
            </a:lvl1pPr>
          </a:lstStyle>
          <a:p>
            <a:r>
              <a:rPr lang="en-US"/>
              <a:t>Click to edit title style</a:t>
            </a:r>
          </a:p>
        </p:txBody>
      </p:sp>
      <p:sp>
        <p:nvSpPr>
          <p:cNvPr id="4" name="Subtitle">
            <a:extLst>
              <a:ext uri="{FF2B5EF4-FFF2-40B4-BE49-F238E27FC236}">
                <a16:creationId xmlns:a16="http://schemas.microsoft.com/office/drawing/2014/main" xmlns="" id="{58A212C2-8B30-4835-8711-AA981B6CFBE1}"/>
              </a:ext>
            </a:extLst>
          </p:cNvPr>
          <p:cNvSpPr>
            <a:spLocks noGrp="1"/>
          </p:cNvSpPr>
          <p:nvPr>
            <p:ph sz="quarter" idx="10" hasCustomPrompt="1"/>
          </p:nvPr>
        </p:nvSpPr>
        <p:spPr>
          <a:xfrm>
            <a:off x="584200" y="1435100"/>
            <a:ext cx="11018838" cy="1612749"/>
          </a:xfrm>
        </p:spPr>
        <p:txBody>
          <a:bodyPr/>
          <a:lstStyle>
            <a:lvl1pPr>
              <a:defRPr sz="28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xmlns="" val="752874220"/>
      </p:ext>
    </p:extLst>
  </p:cSld>
  <p:clrMapOvr>
    <a:masterClrMapping/>
  </p:clrMapOvr>
  <p:transition>
    <p:fade/>
  </p:transition>
  <p:extLst>
    <p:ext uri="{DCECCB84-F9BA-43D5-87BE-67443E8EF086}">
      <p15:sldGuideLst xmlns:p15="http://schemas.microsoft.com/office/powerpoint/2012/main" xmlns="">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AD8904B4-CD7B-089A-28AC-421640FD6DB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4AEDDA6E-1327-563A-21E2-3CE1A4F7E3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9674A632-15FF-9416-D816-9D62BC8863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A18EA23-7F4B-458B-B152-043B37C819FB}" type="datetimeFigureOut">
              <a:rPr lang="en-IN" smtClean="0"/>
              <a:pPr/>
              <a:t>26-08-2025</a:t>
            </a:fld>
            <a:endParaRPr lang="en-IN"/>
          </a:p>
        </p:txBody>
      </p:sp>
      <p:sp>
        <p:nvSpPr>
          <p:cNvPr id="5" name="Footer Placeholder 4">
            <a:extLst>
              <a:ext uri="{FF2B5EF4-FFF2-40B4-BE49-F238E27FC236}">
                <a16:creationId xmlns:a16="http://schemas.microsoft.com/office/drawing/2014/main" xmlns="" id="{9D86DF97-E542-786F-1F4F-9FF0283211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xmlns="" id="{CEAA12B4-A47C-ECA8-5BF9-2840BACED4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1123919-7AD0-49B5-A74E-8A7F5D231109}" type="slidenum">
              <a:rPr lang="en-IN" smtClean="0"/>
              <a:pPr/>
              <a:t>‹#›</a:t>
            </a:fld>
            <a:endParaRPr lang="en-IN"/>
          </a:p>
        </p:txBody>
      </p:sp>
    </p:spTree>
    <p:extLst>
      <p:ext uri="{BB962C8B-B14F-4D97-AF65-F5344CB8AC3E}">
        <p14:creationId xmlns:p14="http://schemas.microsoft.com/office/powerpoint/2010/main" xmlns="" val="38999912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en.wikipedia.org/wiki/Z-order_curve" TargetMode="Externa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Fill">
            <a:extLst>
              <a:ext uri="{FF2B5EF4-FFF2-40B4-BE49-F238E27FC236}">
                <a16:creationId xmlns:a16="http://schemas.microsoft.com/office/drawing/2014/main" xmlns="" id="{C7D023E4-8DE1-436E-9847-ED6A4B4B04F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Color Cover">
            <a:extLst>
              <a:ext uri="{FF2B5EF4-FFF2-40B4-BE49-F238E27FC236}">
                <a16:creationId xmlns:a16="http://schemas.microsoft.com/office/drawing/2014/main" xmlns="" id="{8B2B1708-8CE4-4A20-94F5-55118AE2CBD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051"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3" name="Group 12">
            <a:extLst>
              <a:ext uri="{FF2B5EF4-FFF2-40B4-BE49-F238E27FC236}">
                <a16:creationId xmlns:a16="http://schemas.microsoft.com/office/drawing/2014/main" xmlns="" id="{1F9866A9-B167-4D75-8F7F-360025AD6B43}"/>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0" y="-7167"/>
            <a:ext cx="12188952" cy="3490956"/>
            <a:chOff x="651279" y="598259"/>
            <a:chExt cx="10889442" cy="5680742"/>
          </a:xfrm>
        </p:grpSpPr>
        <p:sp>
          <p:nvSpPr>
            <p:cNvPr id="14" name="Color">
              <a:extLst>
                <a:ext uri="{FF2B5EF4-FFF2-40B4-BE49-F238E27FC236}">
                  <a16:creationId xmlns:a16="http://schemas.microsoft.com/office/drawing/2014/main" xmlns="" id="{C2DD07C1-6CFB-48E5-AD0E-AC091042BBD8}"/>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Color">
              <a:extLst>
                <a:ext uri="{FF2B5EF4-FFF2-40B4-BE49-F238E27FC236}">
                  <a16:creationId xmlns:a16="http://schemas.microsoft.com/office/drawing/2014/main" xmlns="" id="{F9A8FC0F-BD29-4D9A-ABF1-D75E3A26917F}"/>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4" name="Graphic 3">
            <a:extLst>
              <a:ext uri="{FF2B5EF4-FFF2-40B4-BE49-F238E27FC236}">
                <a16:creationId xmlns:a16="http://schemas.microsoft.com/office/drawing/2014/main" xmlns="" id="{42DCA9E0-CCCA-9D7D-CC3D-8791C35F718A}"/>
              </a:ext>
              <a:ext uri="{C183D7F6-B498-43B3-948B-1728B52AA6E4}">
                <adec:decorative xmlns:adec="http://schemas.microsoft.com/office/drawing/2017/decorative" xmlns="" val="1"/>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6805030" y="1065276"/>
            <a:ext cx="4727448" cy="4727448"/>
          </a:xfrm>
          <a:prstGeom prst="rect">
            <a:avLst/>
          </a:prstGeom>
        </p:spPr>
      </p:pic>
      <p:grpSp>
        <p:nvGrpSpPr>
          <p:cNvPr id="17" name="Group 16">
            <a:extLst>
              <a:ext uri="{FF2B5EF4-FFF2-40B4-BE49-F238E27FC236}">
                <a16:creationId xmlns:a16="http://schemas.microsoft.com/office/drawing/2014/main" xmlns="" id="{E27AF472-EAE3-4572-AB69-B92BD10DBC6D}"/>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1524" y="0"/>
            <a:ext cx="12188952" cy="6858000"/>
            <a:chOff x="0" y="0"/>
            <a:chExt cx="12188952" cy="6858000"/>
          </a:xfrm>
        </p:grpSpPr>
        <p:sp>
          <p:nvSpPr>
            <p:cNvPr id="18" name="Freeform: Shape 17">
              <a:extLst>
                <a:ext uri="{FF2B5EF4-FFF2-40B4-BE49-F238E27FC236}">
                  <a16:creationId xmlns:a16="http://schemas.microsoft.com/office/drawing/2014/main" xmlns="" id="{BF4DB9D2-6215-420C-874C-82EADF8C6C70}"/>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xmlns="" id="{1F003139-C97C-44FA-B139-32E4DFDCE9CD}"/>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xmlns="" id="{5CE4DD6E-8CEA-45EE-B630-DBC22144D885}"/>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xmlns="" id="{A4372F7F-AA3C-470B-AA61-7C35B7722C9A}"/>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xmlns="" id="{34B605BF-D199-43DD-9328-E99F2ADFC6F5}"/>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xmlns="" id="{E5D42A77-7336-4A35-8922-8098A16AA27E}"/>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xmlns="" id="{7401EE7D-B85D-4C10-AB8C-71884EFB1121}"/>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xmlns="" id="{253692A6-0348-1174-7DF7-48791513C04A}"/>
              </a:ext>
            </a:extLst>
          </p:cNvPr>
          <p:cNvSpPr>
            <a:spLocks noGrp="1"/>
          </p:cNvSpPr>
          <p:nvPr>
            <p:ph type="ctrTitle"/>
          </p:nvPr>
        </p:nvSpPr>
        <p:spPr>
          <a:xfrm>
            <a:off x="789708" y="1014574"/>
            <a:ext cx="5633531" cy="2226769"/>
          </a:xfrm>
        </p:spPr>
        <p:txBody>
          <a:bodyPr anchor="ctr">
            <a:normAutofit/>
          </a:bodyPr>
          <a:lstStyle/>
          <a:p>
            <a:pPr algn="l"/>
            <a:r>
              <a:rPr lang="en-US" sz="4800" dirty="0" smtClean="0">
                <a:solidFill>
                  <a:schemeClr val="bg1"/>
                </a:solidFill>
              </a:rPr>
              <a:t>Z-order</a:t>
            </a:r>
            <a:endParaRPr lang="en-IN" sz="4800" dirty="0">
              <a:solidFill>
                <a:schemeClr val="bg1"/>
              </a:solidFill>
            </a:endParaRPr>
          </a:p>
        </p:txBody>
      </p:sp>
      <p:sp>
        <p:nvSpPr>
          <p:cNvPr id="3" name="Subtitle 2">
            <a:extLst>
              <a:ext uri="{FF2B5EF4-FFF2-40B4-BE49-F238E27FC236}">
                <a16:creationId xmlns:a16="http://schemas.microsoft.com/office/drawing/2014/main" xmlns="" id="{F7AB097C-2EAB-916E-98FF-0361E20EA576}"/>
              </a:ext>
            </a:extLst>
          </p:cNvPr>
          <p:cNvSpPr>
            <a:spLocks noGrp="1"/>
          </p:cNvSpPr>
          <p:nvPr>
            <p:ph type="subTitle" idx="1"/>
          </p:nvPr>
        </p:nvSpPr>
        <p:spPr>
          <a:xfrm>
            <a:off x="789708" y="3640633"/>
            <a:ext cx="5631417" cy="2487212"/>
          </a:xfrm>
        </p:spPr>
        <p:txBody>
          <a:bodyPr anchor="ctr">
            <a:normAutofit/>
          </a:bodyPr>
          <a:lstStyle/>
          <a:p>
            <a:pPr algn="l"/>
            <a:r>
              <a:rPr lang="en-US" dirty="0">
                <a:solidFill>
                  <a:schemeClr val="tx2"/>
                </a:solidFill>
              </a:rPr>
              <a:t>(Heart of Azure </a:t>
            </a:r>
            <a:r>
              <a:rPr lang="en-US" dirty="0" err="1">
                <a:solidFill>
                  <a:schemeClr val="tx2"/>
                </a:solidFill>
              </a:rPr>
              <a:t>Databricks</a:t>
            </a:r>
            <a:r>
              <a:rPr lang="en-US" dirty="0">
                <a:solidFill>
                  <a:schemeClr val="tx2"/>
                </a:solidFill>
              </a:rPr>
              <a:t> Data Analysis)</a:t>
            </a:r>
            <a:endParaRPr lang="en-IN" dirty="0">
              <a:solidFill>
                <a:schemeClr val="tx2"/>
              </a:solidFill>
            </a:endParaRPr>
          </a:p>
        </p:txBody>
      </p:sp>
    </p:spTree>
    <p:extLst>
      <p:ext uri="{BB962C8B-B14F-4D97-AF65-F5344CB8AC3E}">
        <p14:creationId xmlns:p14="http://schemas.microsoft.com/office/powerpoint/2010/main" xmlns="" val="861064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FC62E686-6751-0133-55C7-8CA8F4116EFC}"/>
              </a:ext>
            </a:extLst>
          </p:cNvPr>
          <p:cNvSpPr txBox="1"/>
          <p:nvPr/>
        </p:nvSpPr>
        <p:spPr>
          <a:xfrm>
            <a:off x="1442122" y="3645647"/>
            <a:ext cx="2635624" cy="1723549"/>
          </a:xfrm>
          <a:prstGeom prst="rect">
            <a:avLst/>
          </a:prstGeom>
          <a:noFill/>
        </p:spPr>
        <p:txBody>
          <a:bodyPr wrap="square" lIns="0" tIns="0" rIns="0" bIns="0" rtlCol="0">
            <a:spAutoFit/>
          </a:bodyPr>
          <a:lstStyle/>
          <a:p>
            <a:r>
              <a:rPr lang="en-US" sz="1600" dirty="0" smtClean="0"/>
              <a:t>If you expect a column to be commonly used in query predicates and if that column has high cardinality (that is, a large number of distinct values), then use ZORDER BY.</a:t>
            </a:r>
            <a:endParaRPr lang="en-IN" sz="1600" dirty="0"/>
          </a:p>
        </p:txBody>
      </p:sp>
      <p:sp>
        <p:nvSpPr>
          <p:cNvPr id="10" name="TextBox 9">
            <a:extLst>
              <a:ext uri="{FF2B5EF4-FFF2-40B4-BE49-F238E27FC236}">
                <a16:creationId xmlns:a16="http://schemas.microsoft.com/office/drawing/2014/main" xmlns="" id="{D0CDC7EE-D91E-0102-0FE3-00257DD6BF6C}"/>
              </a:ext>
            </a:extLst>
          </p:cNvPr>
          <p:cNvSpPr txBox="1"/>
          <p:nvPr/>
        </p:nvSpPr>
        <p:spPr>
          <a:xfrm>
            <a:off x="1442122" y="2354745"/>
            <a:ext cx="9517826" cy="92333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smtClean="0"/>
              <a:t>OPTIMIZE events</a:t>
            </a:r>
          </a:p>
          <a:p>
            <a:r>
              <a:rPr lang="en-US" dirty="0" smtClean="0"/>
              <a:t>WHERE date &gt;= </a:t>
            </a:r>
            <a:r>
              <a:rPr lang="en-US" dirty="0" err="1" smtClean="0"/>
              <a:t>current_timestamp</a:t>
            </a:r>
            <a:r>
              <a:rPr lang="en-US" dirty="0" smtClean="0"/>
              <a:t>() - INTERVAL 1 day</a:t>
            </a:r>
          </a:p>
          <a:p>
            <a:r>
              <a:rPr lang="en-US" dirty="0" smtClean="0"/>
              <a:t>ZORDER BY (</a:t>
            </a:r>
            <a:r>
              <a:rPr lang="en-US" dirty="0" err="1" smtClean="0"/>
              <a:t>eventType</a:t>
            </a:r>
            <a:r>
              <a:rPr lang="en-US" dirty="0" smtClean="0"/>
              <a:t>)</a:t>
            </a:r>
            <a:endParaRPr lang="en-IN" dirty="0"/>
          </a:p>
        </p:txBody>
      </p:sp>
      <p:sp>
        <p:nvSpPr>
          <p:cNvPr id="14" name="TextBox 13">
            <a:extLst>
              <a:ext uri="{FF2B5EF4-FFF2-40B4-BE49-F238E27FC236}">
                <a16:creationId xmlns:a16="http://schemas.microsoft.com/office/drawing/2014/main" xmlns="" id="{78B0134D-05D3-292D-5C7B-0A44B526BF49}"/>
              </a:ext>
            </a:extLst>
          </p:cNvPr>
          <p:cNvSpPr txBox="1"/>
          <p:nvPr/>
        </p:nvSpPr>
        <p:spPr>
          <a:xfrm>
            <a:off x="1462442" y="852214"/>
            <a:ext cx="9517827" cy="120032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smtClean="0"/>
              <a:t>Z-ordering is a </a:t>
            </a:r>
            <a:r>
              <a:rPr lang="en-US" dirty="0" smtClean="0">
                <a:hlinkClick r:id="rId2"/>
              </a:rPr>
              <a:t>technique</a:t>
            </a:r>
            <a:r>
              <a:rPr lang="en-US" dirty="0" smtClean="0"/>
              <a:t> to </a:t>
            </a:r>
            <a:r>
              <a:rPr lang="en-US" dirty="0" err="1" smtClean="0"/>
              <a:t>colocate</a:t>
            </a:r>
            <a:r>
              <a:rPr lang="en-US" dirty="0" smtClean="0"/>
              <a:t> related information in the same set of files. This co-locality is automatically used by Delta Lake on </a:t>
            </a:r>
            <a:r>
              <a:rPr lang="en-US" dirty="0" err="1" smtClean="0"/>
              <a:t>Databricks</a:t>
            </a:r>
            <a:r>
              <a:rPr lang="en-US" dirty="0" smtClean="0"/>
              <a:t> data-skipping algorithms. This behavior dramatically reduces the amount of data that Delta Lake on </a:t>
            </a:r>
            <a:r>
              <a:rPr lang="en-US" dirty="0" err="1" smtClean="0"/>
              <a:t>Databricks</a:t>
            </a:r>
            <a:r>
              <a:rPr lang="en-US" dirty="0" smtClean="0"/>
              <a:t> needs to read. To Z-order data, you specify the columns to order on in the ZORDER BY clause:</a:t>
            </a:r>
            <a:endParaRPr lang="en-IN" dirty="0"/>
          </a:p>
        </p:txBody>
      </p:sp>
    </p:spTree>
    <p:extLst>
      <p:ext uri="{BB962C8B-B14F-4D97-AF65-F5344CB8AC3E}">
        <p14:creationId xmlns:p14="http://schemas.microsoft.com/office/powerpoint/2010/main" xmlns="" val="2922823105"/>
      </p:ext>
    </p:extLst>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xmlns="" id="{CD9FA88B-751C-6AA4-A0F7-09682EC66FF4}"/>
              </a:ext>
            </a:extLst>
          </p:cNvPr>
          <p:cNvSpPr txBox="1"/>
          <p:nvPr/>
        </p:nvSpPr>
        <p:spPr>
          <a:xfrm>
            <a:off x="166224" y="238941"/>
            <a:ext cx="11548696" cy="2031325"/>
          </a:xfrm>
          <a:prstGeom prst="rect">
            <a:avLst/>
          </a:prstGeom>
          <a:noFill/>
          <a:ln>
            <a:solidFill>
              <a:schemeClr val="tx1"/>
            </a:solidFill>
          </a:ln>
        </p:spPr>
        <p:txBody>
          <a:bodyPr wrap="square">
            <a:spAutoFit/>
          </a:bodyPr>
          <a:lstStyle/>
          <a:p>
            <a:pPr marL="285750" indent="-285750">
              <a:buFont typeface="Wingdings" panose="05000000000000000000" pitchFamily="2" charset="2"/>
              <a:buChar char="Ø"/>
            </a:pPr>
            <a:endParaRPr lang="en-US" sz="1400" dirty="0"/>
          </a:p>
          <a:p>
            <a:r>
              <a:rPr lang="en-US" sz="1400" b="1" dirty="0" smtClean="0"/>
              <a:t>Note:</a:t>
            </a:r>
          </a:p>
          <a:p>
            <a:endParaRPr lang="en-US" sz="1400" b="1" dirty="0" smtClean="0"/>
          </a:p>
          <a:p>
            <a:pPr>
              <a:buFont typeface="Wingdings" pitchFamily="2" charset="2"/>
              <a:buChar char="§"/>
            </a:pPr>
            <a:r>
              <a:rPr lang="en-US" sz="1400" dirty="0" smtClean="0"/>
              <a:t>Z-ordering is </a:t>
            </a:r>
            <a:r>
              <a:rPr lang="en-US" sz="1400" i="1" dirty="0" smtClean="0"/>
              <a:t>not idempotent</a:t>
            </a:r>
            <a:r>
              <a:rPr lang="en-US" sz="1400" dirty="0" smtClean="0"/>
              <a:t> but aims to be an incremental operation. The time it takes for Z-ordering is not guaranteed to reduce over multiple runs. However, if no new data was added to a partition that was just Z-ordered, another Z-ordering of that partition will not have any effect.</a:t>
            </a:r>
          </a:p>
          <a:p>
            <a:pPr>
              <a:buFont typeface="Wingdings" pitchFamily="2" charset="2"/>
              <a:buChar char="§"/>
            </a:pPr>
            <a:endParaRPr lang="en-US" sz="1400" dirty="0" smtClean="0"/>
          </a:p>
          <a:p>
            <a:pPr>
              <a:buFont typeface="Wingdings" pitchFamily="2" charset="2"/>
              <a:buChar char="§"/>
            </a:pPr>
            <a:r>
              <a:rPr lang="en-US" sz="1400" dirty="0" smtClean="0"/>
              <a:t>Z-ordering aims to produce evenly-balanced data files with respect to the number of </a:t>
            </a:r>
            <a:r>
              <a:rPr lang="en-US" sz="1400" dirty="0" err="1" smtClean="0"/>
              <a:t>tuples</a:t>
            </a:r>
            <a:r>
              <a:rPr lang="en-US" sz="1400" dirty="0" smtClean="0"/>
              <a:t>, but not necessarily data size on disk. The two measures are most often correlated, but there can be situations when that is not the case, leading to skew in optimize task times.</a:t>
            </a:r>
          </a:p>
          <a:p>
            <a:pPr marL="285750" indent="-285750">
              <a:buFont typeface="Wingdings" panose="05000000000000000000" pitchFamily="2" charset="2"/>
              <a:buChar char="Ø"/>
            </a:pPr>
            <a:endParaRPr lang="en-US" sz="1400" dirty="0"/>
          </a:p>
        </p:txBody>
      </p:sp>
      <p:sp>
        <p:nvSpPr>
          <p:cNvPr id="5" name="TextBox 4">
            <a:extLst>
              <a:ext uri="{FF2B5EF4-FFF2-40B4-BE49-F238E27FC236}">
                <a16:creationId xmlns:a16="http://schemas.microsoft.com/office/drawing/2014/main" xmlns="" id="{D89F5E53-64A6-E380-3CF7-0419524457E0}"/>
              </a:ext>
            </a:extLst>
          </p:cNvPr>
          <p:cNvSpPr txBox="1"/>
          <p:nvPr/>
        </p:nvSpPr>
        <p:spPr>
          <a:xfrm>
            <a:off x="205861" y="2750179"/>
            <a:ext cx="5057019" cy="2031325"/>
          </a:xfrm>
          <a:prstGeom prst="rect">
            <a:avLst/>
          </a:prstGeom>
          <a:noFill/>
          <a:ln>
            <a:solidFill>
              <a:schemeClr val="accent1"/>
            </a:solidFill>
          </a:ln>
        </p:spPr>
        <p:txBody>
          <a:bodyPr wrap="square">
            <a:spAutoFit/>
          </a:bodyPr>
          <a:lstStyle/>
          <a:p>
            <a:r>
              <a:rPr lang="en-US" sz="1400" dirty="0" smtClean="0">
                <a:solidFill>
                  <a:srgbClr val="161616"/>
                </a:solidFill>
                <a:latin typeface="Segoe UI" panose="020B0502040204020203" pitchFamily="34" charset="0"/>
              </a:rPr>
              <a:t>&gt; OPTIMIZE events;</a:t>
            </a:r>
          </a:p>
          <a:p>
            <a:endParaRPr lang="en-US" sz="1400" dirty="0" smtClean="0">
              <a:solidFill>
                <a:srgbClr val="161616"/>
              </a:solidFill>
              <a:latin typeface="Segoe UI" panose="020B0502040204020203" pitchFamily="34" charset="0"/>
            </a:endParaRPr>
          </a:p>
          <a:p>
            <a:r>
              <a:rPr lang="en-US" sz="1400" dirty="0" smtClean="0">
                <a:solidFill>
                  <a:srgbClr val="161616"/>
                </a:solidFill>
                <a:latin typeface="Segoe UI" panose="020B0502040204020203" pitchFamily="34" charset="0"/>
              </a:rPr>
              <a:t>&gt; OPTIMIZE events FULL;</a:t>
            </a:r>
          </a:p>
          <a:p>
            <a:endParaRPr lang="en-US" sz="1400" dirty="0" smtClean="0">
              <a:solidFill>
                <a:srgbClr val="161616"/>
              </a:solidFill>
              <a:latin typeface="Segoe UI" panose="020B0502040204020203" pitchFamily="34" charset="0"/>
            </a:endParaRPr>
          </a:p>
          <a:p>
            <a:r>
              <a:rPr lang="en-US" sz="1400" dirty="0" smtClean="0">
                <a:solidFill>
                  <a:srgbClr val="161616"/>
                </a:solidFill>
                <a:latin typeface="Segoe UI" panose="020B0502040204020203" pitchFamily="34" charset="0"/>
              </a:rPr>
              <a:t>&gt; OPTIMIZE events WHERE date &gt;= '2017-01-01';</a:t>
            </a:r>
          </a:p>
          <a:p>
            <a:endParaRPr lang="en-US" sz="1400" dirty="0" smtClean="0">
              <a:solidFill>
                <a:srgbClr val="161616"/>
              </a:solidFill>
              <a:latin typeface="Segoe UI" panose="020B0502040204020203" pitchFamily="34" charset="0"/>
            </a:endParaRPr>
          </a:p>
          <a:p>
            <a:r>
              <a:rPr lang="en-US" sz="1400" dirty="0" smtClean="0">
                <a:solidFill>
                  <a:srgbClr val="161616"/>
                </a:solidFill>
                <a:latin typeface="Segoe UI" panose="020B0502040204020203" pitchFamily="34" charset="0"/>
              </a:rPr>
              <a:t>&gt; OPTIMIZE events</a:t>
            </a:r>
          </a:p>
          <a:p>
            <a:r>
              <a:rPr lang="en-US" sz="1400" dirty="0" smtClean="0">
                <a:solidFill>
                  <a:srgbClr val="161616"/>
                </a:solidFill>
                <a:latin typeface="Segoe UI" panose="020B0502040204020203" pitchFamily="34" charset="0"/>
              </a:rPr>
              <a:t>    WHERE date &gt;= </a:t>
            </a:r>
            <a:r>
              <a:rPr lang="en-US" sz="1400" dirty="0" err="1" smtClean="0">
                <a:solidFill>
                  <a:srgbClr val="161616"/>
                </a:solidFill>
                <a:latin typeface="Segoe UI" panose="020B0502040204020203" pitchFamily="34" charset="0"/>
              </a:rPr>
              <a:t>current_timestamp</a:t>
            </a:r>
            <a:r>
              <a:rPr lang="en-US" sz="1400" dirty="0" smtClean="0">
                <a:solidFill>
                  <a:srgbClr val="161616"/>
                </a:solidFill>
                <a:latin typeface="Segoe UI" panose="020B0502040204020203" pitchFamily="34" charset="0"/>
              </a:rPr>
              <a:t>() - INTERVAL 1 day</a:t>
            </a:r>
          </a:p>
          <a:p>
            <a:r>
              <a:rPr lang="en-US" sz="1400" dirty="0" smtClean="0">
                <a:solidFill>
                  <a:srgbClr val="161616"/>
                </a:solidFill>
                <a:latin typeface="Segoe UI" panose="020B0502040204020203" pitchFamily="34" charset="0"/>
              </a:rPr>
              <a:t>    ZORDER BY (</a:t>
            </a:r>
            <a:r>
              <a:rPr lang="en-US" sz="1400" dirty="0" err="1" smtClean="0">
                <a:solidFill>
                  <a:srgbClr val="161616"/>
                </a:solidFill>
                <a:latin typeface="Segoe UI" panose="020B0502040204020203" pitchFamily="34" charset="0"/>
              </a:rPr>
              <a:t>eventType</a:t>
            </a:r>
            <a:r>
              <a:rPr lang="en-US" sz="1400" dirty="0" smtClean="0">
                <a:solidFill>
                  <a:srgbClr val="161616"/>
                </a:solidFill>
                <a:latin typeface="Segoe UI" panose="020B0502040204020203" pitchFamily="34" charset="0"/>
              </a:rPr>
              <a:t>);</a:t>
            </a:r>
            <a:endParaRPr lang="en-IN" sz="1400" dirty="0"/>
          </a:p>
        </p:txBody>
      </p:sp>
    </p:spTree>
    <p:extLst>
      <p:ext uri="{BB962C8B-B14F-4D97-AF65-F5344CB8AC3E}">
        <p14:creationId xmlns:p14="http://schemas.microsoft.com/office/powerpoint/2010/main" xmlns="" val="110046612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xmlns="" id="{5E55A99C-0BDC-4DBE-8E40-9FA66F629FA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891540"/>
            <a:ext cx="722376" cy="5071110"/>
          </a:xfrm>
          <a:prstGeom prst="rect">
            <a:avLst/>
          </a:prstGeom>
          <a:solidFill>
            <a:srgbClr val="4C52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5"/>
          <p:cNvSpPr>
            <a:spLocks noGrp="1"/>
          </p:cNvSpPr>
          <p:nvPr>
            <p:ph sz="quarter" idx="10"/>
          </p:nvPr>
        </p:nvSpPr>
        <p:spPr>
          <a:xfrm>
            <a:off x="909320" y="256541"/>
            <a:ext cx="9606280" cy="566420"/>
          </a:xfrm>
        </p:spPr>
        <p:txBody>
          <a:bodyPr>
            <a:noAutofit/>
          </a:bodyPr>
          <a:lstStyle/>
          <a:p>
            <a:r>
              <a:rPr lang="en-US" sz="1400" dirty="0" smtClean="0"/>
              <a:t>In the Z-order clustering: the intuition is for each column to look at the column dimension in the Z-cube and narrow the search to a particular range on the column dimension. </a:t>
            </a:r>
          </a:p>
          <a:p>
            <a:r>
              <a:rPr lang="en-US" sz="1400" dirty="0" smtClean="0"/>
              <a:t>In this case the predicate x=2, we look at the files that fall in the horizontal dimension where the x value is `2`. </a:t>
            </a:r>
          </a:p>
          <a:p>
            <a:r>
              <a:rPr lang="en-US" sz="1400" dirty="0" smtClean="0"/>
              <a:t>Similarly for column y, we look at the files that fall in the vertical dimension where the y value is `3`. </a:t>
            </a:r>
          </a:p>
          <a:p>
            <a:r>
              <a:rPr lang="en-US" sz="1400" dirty="0" smtClean="0"/>
              <a:t>Using this method we end up reading only 7 files and an extra 13 records.</a:t>
            </a:r>
          </a:p>
          <a:p>
            <a:endParaRPr lang="en-US" sz="1400" dirty="0"/>
          </a:p>
        </p:txBody>
      </p:sp>
      <p:sp>
        <p:nvSpPr>
          <p:cNvPr id="1025" name="Rectangle 1"/>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026"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pic>
        <p:nvPicPr>
          <p:cNvPr id="1030" name="Picture 6" descr="Delta Lake Z-Ordering from A to Z | by Yousry Mohamed | Medium"/>
          <p:cNvPicPr>
            <a:picLocks noChangeAspect="1" noChangeArrowheads="1"/>
          </p:cNvPicPr>
          <p:nvPr/>
        </p:nvPicPr>
        <p:blipFill>
          <a:blip r:embed="rId2"/>
          <a:srcRect/>
          <a:stretch>
            <a:fillRect/>
          </a:stretch>
        </p:blipFill>
        <p:spPr bwMode="auto">
          <a:xfrm>
            <a:off x="2083669" y="1917075"/>
            <a:ext cx="7746131" cy="4940925"/>
          </a:xfrm>
          <a:prstGeom prst="rect">
            <a:avLst/>
          </a:prstGeom>
          <a:noFill/>
        </p:spPr>
      </p:pic>
    </p:spTree>
    <p:extLst>
      <p:ext uri="{BB962C8B-B14F-4D97-AF65-F5344CB8AC3E}">
        <p14:creationId xmlns:p14="http://schemas.microsoft.com/office/powerpoint/2010/main" xmlns="" val="2203256366"/>
      </p:ext>
    </p:extLst>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xmlns="" id="{5E55A99C-0BDC-4DBE-8E40-9FA66F629FA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891540"/>
            <a:ext cx="722376" cy="5071110"/>
          </a:xfrm>
          <a:prstGeom prst="rect">
            <a:avLst/>
          </a:prstGeom>
          <a:solidFill>
            <a:srgbClr val="4C52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5"/>
          <p:cNvSpPr>
            <a:spLocks noGrp="1"/>
          </p:cNvSpPr>
          <p:nvPr>
            <p:ph sz="quarter" idx="10"/>
          </p:nvPr>
        </p:nvSpPr>
        <p:spPr>
          <a:xfrm>
            <a:off x="909320" y="256541"/>
            <a:ext cx="9606280" cy="566420"/>
          </a:xfrm>
        </p:spPr>
        <p:txBody>
          <a:bodyPr>
            <a:normAutofit/>
          </a:bodyPr>
          <a:lstStyle/>
          <a:p>
            <a:r>
              <a:rPr lang="en-US" sz="1400" dirty="0" smtClean="0"/>
              <a:t>An example of how ordering the data using Z-order curve helps read fewer number of files (and fewer records) than the standard sorting by multiple columns. For the example illustration, each file contains four records.</a:t>
            </a:r>
            <a:endParaRPr lang="en-US" sz="1400" dirty="0"/>
          </a:p>
        </p:txBody>
      </p:sp>
      <p:sp>
        <p:nvSpPr>
          <p:cNvPr id="1025" name="Rectangle 1"/>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026"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pic>
        <p:nvPicPr>
          <p:cNvPr id="21506" name="Picture 2" descr="https://www.databricks.com/wp-content/uploads/2018/07/Screen-Shot-2018-07-30-at-2.03.55-PM.png"/>
          <p:cNvPicPr>
            <a:picLocks noChangeAspect="1" noChangeArrowheads="1"/>
          </p:cNvPicPr>
          <p:nvPr/>
        </p:nvPicPr>
        <p:blipFill>
          <a:blip r:embed="rId2"/>
          <a:srcRect/>
          <a:stretch>
            <a:fillRect/>
          </a:stretch>
        </p:blipFill>
        <p:spPr bwMode="auto">
          <a:xfrm>
            <a:off x="2768147" y="1121229"/>
            <a:ext cx="7091155" cy="5003573"/>
          </a:xfrm>
          <a:prstGeom prst="rect">
            <a:avLst/>
          </a:prstGeom>
          <a:noFill/>
        </p:spPr>
      </p:pic>
    </p:spTree>
    <p:extLst>
      <p:ext uri="{BB962C8B-B14F-4D97-AF65-F5344CB8AC3E}">
        <p14:creationId xmlns:p14="http://schemas.microsoft.com/office/powerpoint/2010/main" xmlns="" val="2203256366"/>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xmlns="" id="{5E55A99C-0BDC-4DBE-8E40-9FA66F629FA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891540"/>
            <a:ext cx="722376" cy="5071110"/>
          </a:xfrm>
          <a:prstGeom prst="rect">
            <a:avLst/>
          </a:prstGeom>
          <a:solidFill>
            <a:srgbClr val="4C52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5"/>
          <p:cNvSpPr>
            <a:spLocks noGrp="1"/>
          </p:cNvSpPr>
          <p:nvPr>
            <p:ph sz="quarter" idx="10"/>
          </p:nvPr>
        </p:nvSpPr>
        <p:spPr>
          <a:xfrm>
            <a:off x="909319" y="256540"/>
            <a:ext cx="10248537" cy="1485173"/>
          </a:xfrm>
        </p:spPr>
        <p:txBody>
          <a:bodyPr>
            <a:normAutofit/>
          </a:bodyPr>
          <a:lstStyle/>
          <a:p>
            <a:r>
              <a:rPr lang="en-US" sz="1400" dirty="0" smtClean="0"/>
              <a:t>Z-Order is a data organization technique that plays a crucial role in optimizing query performance. It revolves around the idea of physically grouping related data together. </a:t>
            </a:r>
          </a:p>
          <a:p>
            <a:r>
              <a:rPr lang="en-US" sz="1400" dirty="0" smtClean="0"/>
              <a:t>When you apply Z-Order to a Delta Lake table, you’re essentially encoding a specific column’s values into a single key, which then determines the physical layout of data on storage. </a:t>
            </a:r>
          </a:p>
          <a:p>
            <a:r>
              <a:rPr lang="en-US" sz="1400" dirty="0" smtClean="0"/>
              <a:t>This strategic organization minimizes data shuffling during query execution.</a:t>
            </a:r>
            <a:endParaRPr lang="en-US" sz="1400" dirty="0"/>
          </a:p>
        </p:txBody>
      </p:sp>
      <p:sp>
        <p:nvSpPr>
          <p:cNvPr id="1025" name="Rectangle 1"/>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026"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pic>
        <p:nvPicPr>
          <p:cNvPr id="1028" name="Picture 4" descr="GitHub - smatsumt/pyzorder: pyzorder - z-order curve and BIGMIN  implementation in Python"/>
          <p:cNvPicPr>
            <a:picLocks noChangeAspect="1" noChangeArrowheads="1"/>
          </p:cNvPicPr>
          <p:nvPr/>
        </p:nvPicPr>
        <p:blipFill>
          <a:blip r:embed="rId2"/>
          <a:srcRect/>
          <a:stretch>
            <a:fillRect/>
          </a:stretch>
        </p:blipFill>
        <p:spPr bwMode="auto">
          <a:xfrm>
            <a:off x="2326104" y="1885281"/>
            <a:ext cx="4760496" cy="4689090"/>
          </a:xfrm>
          <a:prstGeom prst="rect">
            <a:avLst/>
          </a:prstGeom>
          <a:noFill/>
        </p:spPr>
      </p:pic>
    </p:spTree>
    <p:extLst>
      <p:ext uri="{BB962C8B-B14F-4D97-AF65-F5344CB8AC3E}">
        <p14:creationId xmlns:p14="http://schemas.microsoft.com/office/powerpoint/2010/main" xmlns="" val="2203256366"/>
      </p:ext>
    </p:extLst>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608</TotalTime>
  <Words>370</Words>
  <Application>Microsoft Office PowerPoint</Application>
  <PresentationFormat>Custom</PresentationFormat>
  <Paragraphs>35</Paragraphs>
  <Slides>6</Slides>
  <Notes>1</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Z-order</vt:lpstr>
      <vt:lpstr>Slide 2</vt:lpstr>
      <vt:lpstr>Slide 3</vt:lpstr>
      <vt:lpstr>Slide 4</vt:lpstr>
      <vt:lpstr>Slide 5</vt:lpstr>
      <vt:lpstr>Slide 6</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Apache Spark</dc:title>
  <dc:creator>Prabhjot Singh Bakshi</dc:creator>
  <cp:lastModifiedBy>hp</cp:lastModifiedBy>
  <cp:revision>10</cp:revision>
  <dcterms:created xsi:type="dcterms:W3CDTF">2024-12-04T08:21:32Z</dcterms:created>
  <dcterms:modified xsi:type="dcterms:W3CDTF">2025-08-26T12:51:02Z</dcterms:modified>
</cp:coreProperties>
</file>