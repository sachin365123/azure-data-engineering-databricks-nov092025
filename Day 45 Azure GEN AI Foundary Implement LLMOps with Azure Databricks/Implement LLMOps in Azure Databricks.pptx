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147479738" r:id="rId3"/>
    <p:sldId id="2147479730" r:id="rId4"/>
    <p:sldId id="2147479739" r:id="rId5"/>
    <p:sldId id="2147479726" r:id="rId6"/>
    <p:sldId id="2147479733" r:id="rId7"/>
    <p:sldId id="2147479734" r:id="rId8"/>
    <p:sldId id="2147479732" r:id="rId9"/>
    <p:sldId id="2147479735" r:id="rId10"/>
    <p:sldId id="2147479736" r:id="rId11"/>
    <p:sldId id="214747973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95" autoAdjust="0"/>
    <p:restoredTop sz="94660"/>
  </p:normalViewPr>
  <p:slideViewPr>
    <p:cSldViewPr snapToGrid="0">
      <p:cViewPr>
        <p:scale>
          <a:sx n="50" d="100"/>
          <a:sy n="50" d="100"/>
        </p:scale>
        <p:origin x="-1934" y="-773"/>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6F4073-EFA3-1DA2-6F01-632491554D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60D20E78-6553-AB81-2D5E-C13840A790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E242FD32-8D82-9888-9828-56E8E8D31533}"/>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5" name="Footer Placeholder 4">
            <a:extLst>
              <a:ext uri="{FF2B5EF4-FFF2-40B4-BE49-F238E27FC236}">
                <a16:creationId xmlns:a16="http://schemas.microsoft.com/office/drawing/2014/main" xmlns="" id="{2228B4D6-B45F-C95D-FB85-A1F56B8E72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DA4666A-3AF6-188A-41B0-74133575F93C}"/>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3152939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B16DB7-38C3-461C-BB3D-76E099E374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05D6280-4232-949D-F772-A0D4C0CA4A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546FC28-0565-95DA-C5E8-CE369D011586}"/>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5" name="Footer Placeholder 4">
            <a:extLst>
              <a:ext uri="{FF2B5EF4-FFF2-40B4-BE49-F238E27FC236}">
                <a16:creationId xmlns:a16="http://schemas.microsoft.com/office/drawing/2014/main" xmlns="" id="{28183493-C494-59B0-D547-0F867C6DAF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500B526-3805-A8F3-4064-1C248E19897B}"/>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4174155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3E5B49-4D9C-746C-CB2C-FE44206912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419C899-1638-4250-2416-4D6137AE59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F99AAC-88ED-E785-0875-2164A1DDCFF8}"/>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5" name="Footer Placeholder 4">
            <a:extLst>
              <a:ext uri="{FF2B5EF4-FFF2-40B4-BE49-F238E27FC236}">
                <a16:creationId xmlns:a16="http://schemas.microsoft.com/office/drawing/2014/main" xmlns="" id="{05E6B2C3-41F1-CC7B-25D4-FEAD673DC9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CFB8A1A-800B-5EB6-B208-82BE8BAD523C}"/>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2316773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580982-E1A3-6D50-2AFE-34AC3AD2D3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D83ACBF-BEB7-D85A-1E67-261F9343E5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FA5D0E44-561A-5FAB-DD62-1A0E5D290B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C649984A-C95D-3A82-44AC-02E6B0197621}"/>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6" name="Footer Placeholder 5">
            <a:extLst>
              <a:ext uri="{FF2B5EF4-FFF2-40B4-BE49-F238E27FC236}">
                <a16:creationId xmlns:a16="http://schemas.microsoft.com/office/drawing/2014/main" xmlns="" id="{FB03E873-D1CB-A0FF-E90D-794B3FCAB1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D9EAE6D-505C-4360-E5E5-D64818A8AE24}"/>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261995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E46DDB-7F9D-3444-1B89-3ACB316EE3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93566B9-C8A1-7EBA-EF62-26AA3C393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06A0AFE-965E-C4A5-3A32-8CE33BCD5B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181BAE35-4C5A-4473-8E9E-D2A314EC2C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F0AC327-FFB1-DAFB-59CA-68F3269817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00CF4379-60BA-D479-7508-21CDA4BE99E3}"/>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8" name="Footer Placeholder 7">
            <a:extLst>
              <a:ext uri="{FF2B5EF4-FFF2-40B4-BE49-F238E27FC236}">
                <a16:creationId xmlns:a16="http://schemas.microsoft.com/office/drawing/2014/main" xmlns="" id="{267502D4-893B-5842-E475-A630C57B66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3C6D4663-A50D-7E13-487E-24452FC9E696}"/>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4167634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E64C68-9B88-FBAC-2C5F-13A9E89CBD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501931E6-2E3A-0F50-C910-A938D2026954}"/>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4" name="Footer Placeholder 3">
            <a:extLst>
              <a:ext uri="{FF2B5EF4-FFF2-40B4-BE49-F238E27FC236}">
                <a16:creationId xmlns:a16="http://schemas.microsoft.com/office/drawing/2014/main" xmlns="" id="{89DA8BA2-4374-8B19-B78D-3C941B5953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87B4527A-E1C8-2B31-4FC4-588F2E8D3C5B}"/>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4037534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9E5A7A8-CEA9-7B07-C67F-FB354694A3E4}"/>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3" name="Footer Placeholder 2">
            <a:extLst>
              <a:ext uri="{FF2B5EF4-FFF2-40B4-BE49-F238E27FC236}">
                <a16:creationId xmlns:a16="http://schemas.microsoft.com/office/drawing/2014/main" xmlns="" id="{68DE7485-0D97-DDCF-322E-4E00AEDBAF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9B786129-CDEA-B6AF-66C3-D4BBBE02D5D6}"/>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1669175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3252A0-C28D-1EDE-963A-BDE068E43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CC4A3A3-012F-715F-A551-9F1893D4F3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F1AC0DA1-FAD3-9D41-3FE5-3197102A22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BB7E7AB-5F83-AA6D-DE3F-E3255DD54E30}"/>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6" name="Footer Placeholder 5">
            <a:extLst>
              <a:ext uri="{FF2B5EF4-FFF2-40B4-BE49-F238E27FC236}">
                <a16:creationId xmlns:a16="http://schemas.microsoft.com/office/drawing/2014/main" xmlns="" id="{F8F3A10E-08FA-D5E6-BDB2-324F986C8C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1A200E4-4896-B652-0371-537090359CF1}"/>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2413562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7E90C7-62F7-10FD-3657-CD507DC78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5CC0853E-7B54-4549-3F19-87CA8DA0EC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CF950F1-19DF-F714-B495-2E369CD4A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178F8D5-3D48-7ABB-AC5B-8B699077038A}"/>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6" name="Footer Placeholder 5">
            <a:extLst>
              <a:ext uri="{FF2B5EF4-FFF2-40B4-BE49-F238E27FC236}">
                <a16:creationId xmlns:a16="http://schemas.microsoft.com/office/drawing/2014/main" xmlns="" id="{D33D2326-6122-363B-BEB1-43B8055CC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A8C82E3-3EDC-DED2-F219-427F3EF8714A}"/>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2123202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F6A867-7E8E-2D2D-8EFB-0666B3F1D1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D31F2D0-7408-161F-C345-9043C1AFB4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C3BDCC6-A799-65D6-66C3-CC2FEC50CBAE}"/>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5" name="Footer Placeholder 4">
            <a:extLst>
              <a:ext uri="{FF2B5EF4-FFF2-40B4-BE49-F238E27FC236}">
                <a16:creationId xmlns:a16="http://schemas.microsoft.com/office/drawing/2014/main" xmlns="" id="{62ED5AA2-06AA-2783-17CF-ABB274F60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A58A950-6234-8C7F-C03E-EA9F106B4283}"/>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3079584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00325B9-B465-07A1-B455-0D780418E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10A57DFA-5C06-4503-76A1-16C0D1C35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056BD8C-07CA-12C8-CC20-D1B7462B6C59}"/>
              </a:ext>
            </a:extLst>
          </p:cNvPr>
          <p:cNvSpPr>
            <a:spLocks noGrp="1"/>
          </p:cNvSpPr>
          <p:nvPr>
            <p:ph type="dt" sz="half" idx="10"/>
          </p:nvPr>
        </p:nvSpPr>
        <p:spPr/>
        <p:txBody>
          <a:bodyPr/>
          <a:lstStyle/>
          <a:p>
            <a:fld id="{803A7D11-C413-47FD-9F36-646559726A69}" type="datetimeFigureOut">
              <a:rPr lang="en-IN" smtClean="0"/>
              <a:pPr/>
              <a:t>22-08-2025</a:t>
            </a:fld>
            <a:endParaRPr lang="en-IN"/>
          </a:p>
        </p:txBody>
      </p:sp>
      <p:sp>
        <p:nvSpPr>
          <p:cNvPr id="5" name="Footer Placeholder 4">
            <a:extLst>
              <a:ext uri="{FF2B5EF4-FFF2-40B4-BE49-F238E27FC236}">
                <a16:creationId xmlns:a16="http://schemas.microsoft.com/office/drawing/2014/main" xmlns="" id="{41399584-C640-8860-DFAA-03F0966B92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3D0A0F7-38C7-227B-E513-F8CEA53950E5}"/>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1415618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1CB99C9-0AC6-958F-50FF-D341E68538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33E3895-9318-1A60-25F6-C90623F3EE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FF6B957-D073-E087-8A22-D655A11690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3A7D11-C413-47FD-9F36-646559726A69}" type="datetimeFigureOut">
              <a:rPr lang="en-IN" smtClean="0"/>
              <a:pPr/>
              <a:t>22-08-2025</a:t>
            </a:fld>
            <a:endParaRPr lang="en-IN"/>
          </a:p>
        </p:txBody>
      </p:sp>
      <p:sp>
        <p:nvSpPr>
          <p:cNvPr id="5" name="Footer Placeholder 4">
            <a:extLst>
              <a:ext uri="{FF2B5EF4-FFF2-40B4-BE49-F238E27FC236}">
                <a16:creationId xmlns:a16="http://schemas.microsoft.com/office/drawing/2014/main" xmlns="" id="{7D8D74F1-E314-AF15-D4DF-A692A40E3B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330EF75B-1EB9-3D78-D446-E5B849D6A6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C0B353-FB04-487B-810A-CBE4DE585B00}" type="slidenum">
              <a:rPr lang="en-IN" smtClean="0"/>
              <a:pPr/>
              <a:t>‹#›</a:t>
            </a:fld>
            <a:endParaRPr lang="en-IN"/>
          </a:p>
        </p:txBody>
      </p:sp>
    </p:spTree>
    <p:extLst>
      <p:ext uri="{BB962C8B-B14F-4D97-AF65-F5344CB8AC3E}">
        <p14:creationId xmlns:p14="http://schemas.microsoft.com/office/powerpoint/2010/main" xmlns="" val="1205190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learn.microsoft.com/en-us/training/modules/implement-llmops-azure-databricks/06-exercis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xmlns="" id="{657F69E0-C4B0-4BEC-A689-4F8D877F05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zure Databricks A-Z Complete Guide | Azure Dp 203 Databricks Learning  Material | by Akansha Rana | Medium">
            <a:extLst>
              <a:ext uri="{FF2B5EF4-FFF2-40B4-BE49-F238E27FC236}">
                <a16:creationId xmlns:a16="http://schemas.microsoft.com/office/drawing/2014/main" xmlns="" id="{66988966-E20B-08AA-4929-988786726FFF}"/>
              </a:ext>
            </a:extLst>
          </p:cNvPr>
          <p:cNvPicPr>
            <a:picLocks noChangeAspect="1" noChangeArrowheads="1"/>
          </p:cNvPicPr>
          <p:nvPr/>
        </p:nvPicPr>
        <p:blipFill>
          <a:blip r:embed="rId2">
            <a:alphaModFix amt="50000"/>
            <a:extLst>
              <a:ext uri="{28A0092B-C50C-407E-A947-70E740481C1C}">
                <a14:useLocalDpi xmlns:a14="http://schemas.microsoft.com/office/drawing/2010/main" xmlns="" val="0"/>
              </a:ext>
            </a:extLst>
          </a:blip>
          <a:srcRect l="2537" r="4153"/>
          <a:stretch/>
        </p:blipFill>
        <p:spPr bwMode="auto">
          <a:xfrm>
            <a:off x="20" y="10"/>
            <a:ext cx="12188930" cy="685799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itle 1">
            <a:extLst>
              <a:ext uri="{FF2B5EF4-FFF2-40B4-BE49-F238E27FC236}">
                <a16:creationId xmlns:a16="http://schemas.microsoft.com/office/drawing/2014/main" xmlns="" id="{E3421F42-3077-AC70-3F9F-BDF1404AA517}"/>
              </a:ext>
            </a:extLst>
          </p:cNvPr>
          <p:cNvSpPr>
            <a:spLocks noGrp="1"/>
          </p:cNvSpPr>
          <p:nvPr>
            <p:ph type="ctrTitle"/>
          </p:nvPr>
        </p:nvSpPr>
        <p:spPr>
          <a:xfrm>
            <a:off x="1524000" y="1122363"/>
            <a:ext cx="9144000" cy="3063240"/>
          </a:xfrm>
        </p:spPr>
        <p:txBody>
          <a:bodyPr>
            <a:normAutofit/>
          </a:bodyPr>
          <a:lstStyle/>
          <a:p>
            <a:r>
              <a:rPr lang="en-US" sz="6600" dirty="0" smtClean="0">
                <a:solidFill>
                  <a:schemeClr val="bg1"/>
                </a:solidFill>
              </a:rPr>
              <a:t>Implement </a:t>
            </a:r>
            <a:r>
              <a:rPr lang="en-US" sz="6600" dirty="0" err="1" smtClean="0">
                <a:solidFill>
                  <a:schemeClr val="bg1"/>
                </a:solidFill>
              </a:rPr>
              <a:t>LLMOps</a:t>
            </a:r>
            <a:r>
              <a:rPr lang="en-US" sz="6600" dirty="0" smtClean="0">
                <a:solidFill>
                  <a:schemeClr val="bg1"/>
                </a:solidFill>
              </a:rPr>
              <a:t> in Azure </a:t>
            </a:r>
            <a:r>
              <a:rPr lang="en-US" sz="6600" dirty="0" err="1" smtClean="0">
                <a:solidFill>
                  <a:schemeClr val="bg1"/>
                </a:solidFill>
              </a:rPr>
              <a:t>Databricks</a:t>
            </a:r>
            <a:endParaRPr lang="en-US" sz="6600" dirty="0" smtClean="0">
              <a:solidFill>
                <a:schemeClr val="bg1"/>
              </a:solidFill>
            </a:endParaRPr>
          </a:p>
        </p:txBody>
      </p:sp>
      <p:sp>
        <p:nvSpPr>
          <p:cNvPr id="3" name="Subtitle 2">
            <a:extLst>
              <a:ext uri="{FF2B5EF4-FFF2-40B4-BE49-F238E27FC236}">
                <a16:creationId xmlns:a16="http://schemas.microsoft.com/office/drawing/2014/main" xmlns="" id="{90B69678-42C7-BB0A-A4D4-BF32146E0AFC}"/>
              </a:ext>
            </a:extLst>
          </p:cNvPr>
          <p:cNvSpPr>
            <a:spLocks noGrp="1"/>
          </p:cNvSpPr>
          <p:nvPr>
            <p:ph type="subTitle" idx="1"/>
          </p:nvPr>
        </p:nvSpPr>
        <p:spPr>
          <a:xfrm>
            <a:off x="1527048" y="4599432"/>
            <a:ext cx="9144000" cy="1536192"/>
          </a:xfrm>
        </p:spPr>
        <p:txBody>
          <a:bodyPr>
            <a:normAutofit/>
          </a:bodyPr>
          <a:lstStyle/>
          <a:p>
            <a:r>
              <a:rPr lang="en-US" dirty="0" smtClean="0">
                <a:solidFill>
                  <a:schemeClr val="bg1"/>
                </a:solidFill>
              </a:rPr>
              <a:t>(Dr </a:t>
            </a:r>
            <a:r>
              <a:rPr lang="en-US" dirty="0" err="1" smtClean="0">
                <a:solidFill>
                  <a:schemeClr val="bg1"/>
                </a:solidFill>
              </a:rPr>
              <a:t>Sachin</a:t>
            </a:r>
            <a:r>
              <a:rPr lang="en-US" dirty="0" smtClean="0">
                <a:solidFill>
                  <a:schemeClr val="bg1"/>
                </a:solidFill>
              </a:rPr>
              <a:t> </a:t>
            </a:r>
            <a:r>
              <a:rPr lang="en-US" dirty="0" err="1" smtClean="0">
                <a:solidFill>
                  <a:schemeClr val="bg1"/>
                </a:solidFill>
              </a:rPr>
              <a:t>Saxena</a:t>
            </a:r>
            <a:r>
              <a:rPr lang="en-US" dirty="0" smtClean="0">
                <a:solidFill>
                  <a:schemeClr val="bg1"/>
                </a:solidFill>
              </a:rPr>
              <a:t>)</a:t>
            </a:r>
            <a:endParaRPr lang="en-IN" dirty="0">
              <a:solidFill>
                <a:schemeClr val="bg1"/>
              </a:solidFill>
            </a:endParaRPr>
          </a:p>
        </p:txBody>
      </p:sp>
      <p:sp>
        <p:nvSpPr>
          <p:cNvPr id="1035" name="sketchy line">
            <a:extLst>
              <a:ext uri="{FF2B5EF4-FFF2-40B4-BE49-F238E27FC236}">
                <a16:creationId xmlns:a16="http://schemas.microsoft.com/office/drawing/2014/main" xmlns="" id="{9F6380B4-6A1C-481E-8408-B4E6C75B9B8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870952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graphical user interface"/>
          <p:cNvPicPr>
            <a:picLocks noChangeAspect="1" noChangeArrowheads="1"/>
          </p:cNvPicPr>
          <p:nvPr/>
        </p:nvPicPr>
        <p:blipFill>
          <a:blip r:embed="rId2"/>
          <a:srcRect/>
          <a:stretch>
            <a:fillRect/>
          </a:stretch>
        </p:blipFill>
        <p:spPr bwMode="auto">
          <a:xfrm>
            <a:off x="0" y="386027"/>
            <a:ext cx="12192000" cy="6477839"/>
          </a:xfrm>
          <a:prstGeom prst="rect">
            <a:avLst/>
          </a:prstGeom>
          <a:noFill/>
        </p:spPr>
      </p:pic>
    </p:spTree>
    <p:extLst>
      <p:ext uri="{BB962C8B-B14F-4D97-AF65-F5344CB8AC3E}">
        <p14:creationId xmlns:p14="http://schemas.microsoft.com/office/powerpoint/2010/main" xmlns="" val="3870952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EAFB76-4B16-AF9A-068A-3C49EBA88F85}"/>
              </a:ext>
            </a:extLst>
          </p:cNvPr>
          <p:cNvSpPr>
            <a:spLocks noGrp="1"/>
          </p:cNvSpPr>
          <p:nvPr>
            <p:ph type="title"/>
          </p:nvPr>
        </p:nvSpPr>
        <p:spPr>
          <a:xfrm>
            <a:off x="883920" y="0"/>
            <a:ext cx="10515600" cy="1325563"/>
          </a:xfrm>
        </p:spPr>
        <p:txBody>
          <a:bodyPr/>
          <a:lstStyle/>
          <a:p>
            <a:pPr algn="ctr"/>
            <a:r>
              <a:rPr lang="en-US" b="1" dirty="0" smtClean="0"/>
              <a:t>Azure </a:t>
            </a:r>
            <a:r>
              <a:rPr lang="en-US" b="1" dirty="0" smtClean="0"/>
              <a:t>Foundry</a:t>
            </a:r>
            <a:endParaRPr lang="en-IN" dirty="0"/>
          </a:p>
        </p:txBody>
      </p:sp>
      <p:sp>
        <p:nvSpPr>
          <p:cNvPr id="4" name="TextBox 3">
            <a:extLst>
              <a:ext uri="{FF2B5EF4-FFF2-40B4-BE49-F238E27FC236}">
                <a16:creationId xmlns:a16="http://schemas.microsoft.com/office/drawing/2014/main" xmlns="" id="{841EEE3D-6F6B-BF5C-B4CC-A24F49B5C68A}"/>
              </a:ext>
            </a:extLst>
          </p:cNvPr>
          <p:cNvSpPr txBox="1"/>
          <p:nvPr/>
        </p:nvSpPr>
        <p:spPr>
          <a:xfrm>
            <a:off x="0" y="2646895"/>
            <a:ext cx="10624457"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𝗔𝗜 𝗔𝗴𝗲𝗻𝘁𝘀 𝘄𝗶𝘁𝗵 𝗦𝗲𝗺𝗮𝗻𝘁𝗶𝗰 𝗞𝗲𝗿𝗻𝗲𝗹– a lesson track on agents, use cases, and design building blocks, with multi-language content and a friendly on-ramp for those new to </a:t>
            </a:r>
            <a:r>
              <a:rPr lang="en-US" dirty="0" err="1" smtClean="0"/>
              <a:t>GenAI</a:t>
            </a:r>
            <a:r>
              <a:rPr lang="en-US" dirty="0" smtClean="0"/>
              <a:t>.</a:t>
            </a:r>
            <a:endParaRPr lang="en-US" dirty="0"/>
          </a:p>
        </p:txBody>
      </p:sp>
      <p:sp>
        <p:nvSpPr>
          <p:cNvPr id="8" name="TextBox 7">
            <a:extLst>
              <a:ext uri="{FF2B5EF4-FFF2-40B4-BE49-F238E27FC236}">
                <a16:creationId xmlns:a16="http://schemas.microsoft.com/office/drawing/2014/main" xmlns="" id="{27164207-61AF-2B4A-9DE2-AB045C7A13C2}"/>
              </a:ext>
            </a:extLst>
          </p:cNvPr>
          <p:cNvSpPr txBox="1"/>
          <p:nvPr/>
        </p:nvSpPr>
        <p:spPr>
          <a:xfrm>
            <a:off x="638684" y="1445363"/>
            <a:ext cx="10166476"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1) 𝗚𝗲𝗻𝗲𝗿𝗮𝘁𝗶𝘃𝗲 𝗔𝗜 𝘄𝗶𝘁𝗵 𝗔𝘇𝘂𝗿𝗲 𝗙𝗼𝘂𝗻𝗱𝗿𝘆 – a structured course with mixing “Learn” and “Build” modules (Python), ideal for getting from concepts to code fast. </a:t>
            </a:r>
            <a:endParaRPr lang="en-IN" dirty="0"/>
          </a:p>
        </p:txBody>
      </p:sp>
      <p:sp>
        <p:nvSpPr>
          <p:cNvPr id="6" name="TextBox 5">
            <a:extLst>
              <a:ext uri="{FF2B5EF4-FFF2-40B4-BE49-F238E27FC236}">
                <a16:creationId xmlns:a16="http://schemas.microsoft.com/office/drawing/2014/main" xmlns="" id="{841EEE3D-6F6B-BF5C-B4CC-A24F49B5C68A}"/>
              </a:ext>
            </a:extLst>
          </p:cNvPr>
          <p:cNvSpPr txBox="1"/>
          <p:nvPr/>
        </p:nvSpPr>
        <p:spPr>
          <a:xfrm>
            <a:off x="320040" y="3896575"/>
            <a:ext cx="10624457"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𝗔𝗜 𝗔𝗴𝗲𝗻𝘁𝘀 𝘄𝗶𝘁𝗵 𝗦𝗲𝗺𝗮𝗻𝘁𝗶𝗰 𝗞𝗲𝗿𝗻𝗲𝗹– a lesson track on agents, use cases, and design building blocks, with multi-language content and a friendly on-ramp for those new to </a:t>
            </a:r>
            <a:r>
              <a:rPr lang="en-US" dirty="0" err="1" smtClean="0"/>
              <a:t>GenAI</a:t>
            </a:r>
            <a:r>
              <a:rPr lang="en-US" dirty="0" smtClean="0"/>
              <a:t>.</a:t>
            </a:r>
            <a:endParaRPr lang="en-US" dirty="0"/>
          </a:p>
        </p:txBody>
      </p:sp>
    </p:spTree>
    <p:extLst>
      <p:ext uri="{BB962C8B-B14F-4D97-AF65-F5344CB8AC3E}">
        <p14:creationId xmlns:p14="http://schemas.microsoft.com/office/powerpoint/2010/main" xmlns="" val="677804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EAFB76-4B16-AF9A-068A-3C49EBA88F85}"/>
              </a:ext>
            </a:extLst>
          </p:cNvPr>
          <p:cNvSpPr>
            <a:spLocks noGrp="1"/>
          </p:cNvSpPr>
          <p:nvPr>
            <p:ph type="title"/>
          </p:nvPr>
        </p:nvSpPr>
        <p:spPr>
          <a:xfrm>
            <a:off x="914400" y="-179161"/>
            <a:ext cx="10515600" cy="1325563"/>
          </a:xfrm>
        </p:spPr>
        <p:txBody>
          <a:bodyPr/>
          <a:lstStyle/>
          <a:p>
            <a:pPr algn="ctr"/>
            <a:r>
              <a:rPr lang="en-US" b="1" dirty="0" smtClean="0"/>
              <a:t>Large Language Model Operations</a:t>
            </a:r>
            <a:endParaRPr lang="en-IN" dirty="0"/>
          </a:p>
        </p:txBody>
      </p:sp>
      <p:sp>
        <p:nvSpPr>
          <p:cNvPr id="4" name="TextBox 3">
            <a:extLst>
              <a:ext uri="{FF2B5EF4-FFF2-40B4-BE49-F238E27FC236}">
                <a16:creationId xmlns:a16="http://schemas.microsoft.com/office/drawing/2014/main" xmlns="" id="{841EEE3D-6F6B-BF5C-B4CC-A24F49B5C68A}"/>
              </a:ext>
            </a:extLst>
          </p:cNvPr>
          <p:cNvSpPr txBox="1"/>
          <p:nvPr/>
        </p:nvSpPr>
        <p:spPr>
          <a:xfrm>
            <a:off x="653142" y="5557735"/>
            <a:ext cx="10624457"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As the use of Generative AI and LLMs like GPT-4 grows across industries, </a:t>
            </a:r>
            <a:r>
              <a:rPr lang="en-US" dirty="0" err="1" smtClean="0"/>
              <a:t>LLMOps</a:t>
            </a:r>
            <a:r>
              <a:rPr lang="en-US" dirty="0" smtClean="0"/>
              <a:t> addresses the unique challenges of integrating these models into production environments.</a:t>
            </a:r>
          </a:p>
          <a:p>
            <a:r>
              <a:rPr lang="en-US" dirty="0" smtClean="0"/>
              <a:t>Implementing LLMs in production includes model deployment, fine-tuning, monitoring, and ensuring ethical and responsible use of AI.</a:t>
            </a:r>
            <a:endParaRPr lang="en-US" dirty="0"/>
          </a:p>
        </p:txBody>
      </p:sp>
      <p:sp>
        <p:nvSpPr>
          <p:cNvPr id="8" name="TextBox 7">
            <a:extLst>
              <a:ext uri="{FF2B5EF4-FFF2-40B4-BE49-F238E27FC236}">
                <a16:creationId xmlns:a16="http://schemas.microsoft.com/office/drawing/2014/main" xmlns="" id="{27164207-61AF-2B4A-9DE2-AB045C7A13C2}"/>
              </a:ext>
            </a:extLst>
          </p:cNvPr>
          <p:cNvSpPr txBox="1"/>
          <p:nvPr/>
        </p:nvSpPr>
        <p:spPr>
          <a:xfrm>
            <a:off x="5835524" y="4219043"/>
            <a:ext cx="6096000"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err="1" smtClean="0"/>
              <a:t>LLMOps</a:t>
            </a:r>
            <a:r>
              <a:rPr lang="en-US" dirty="0" smtClean="0"/>
              <a:t>, or </a:t>
            </a:r>
            <a:r>
              <a:rPr lang="en-US" b="1" dirty="0" smtClean="0"/>
              <a:t>Large Language Model Operations</a:t>
            </a:r>
            <a:r>
              <a:rPr lang="en-US" dirty="0" smtClean="0"/>
              <a:t>, is a new field focused on the deployment, management, and optimization of </a:t>
            </a:r>
            <a:r>
              <a:rPr lang="en-US" b="1" dirty="0" smtClean="0"/>
              <a:t>Large Language Models</a:t>
            </a:r>
            <a:r>
              <a:rPr lang="en-US" dirty="0" smtClean="0"/>
              <a:t> (</a:t>
            </a:r>
            <a:r>
              <a:rPr lang="en-US" b="1" dirty="0" smtClean="0"/>
              <a:t>LLMs</a:t>
            </a:r>
            <a:r>
              <a:rPr lang="en-US" dirty="0" smtClean="0"/>
              <a:t>) in real-world applications.</a:t>
            </a:r>
            <a:endParaRPr lang="en-IN" dirty="0"/>
          </a:p>
        </p:txBody>
      </p:sp>
      <p:pic>
        <p:nvPicPr>
          <p:cNvPr id="3076" name="Picture 4" descr="Diagram of language model implementation overview."/>
          <p:cNvPicPr>
            <a:picLocks noChangeAspect="1" noChangeArrowheads="1"/>
          </p:cNvPicPr>
          <p:nvPr/>
        </p:nvPicPr>
        <p:blipFill>
          <a:blip r:embed="rId2"/>
          <a:srcRect/>
          <a:stretch>
            <a:fillRect/>
          </a:stretch>
        </p:blipFill>
        <p:spPr bwMode="auto">
          <a:xfrm>
            <a:off x="6309360" y="1015958"/>
            <a:ext cx="4419600" cy="3005747"/>
          </a:xfrm>
          <a:prstGeom prst="rect">
            <a:avLst/>
          </a:prstGeom>
          <a:noFill/>
        </p:spPr>
      </p:pic>
    </p:spTree>
    <p:extLst>
      <p:ext uri="{BB962C8B-B14F-4D97-AF65-F5344CB8AC3E}">
        <p14:creationId xmlns:p14="http://schemas.microsoft.com/office/powerpoint/2010/main" xmlns="" val="677804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7680" y="1459865"/>
            <a:ext cx="7010400" cy="4351338"/>
          </a:xfrm>
        </p:spPr>
        <p:txBody>
          <a:bodyPr>
            <a:normAutofit fontScale="55000" lnSpcReduction="20000"/>
          </a:bodyPr>
          <a:lstStyle/>
          <a:p>
            <a:pPr>
              <a:lnSpc>
                <a:spcPct val="170000"/>
              </a:lnSpc>
            </a:pPr>
            <a:r>
              <a:rPr lang="en-US" b="1" dirty="0" err="1" smtClean="0"/>
              <a:t>MLOps</a:t>
            </a:r>
            <a:r>
              <a:rPr lang="en-US" dirty="0" smtClean="0"/>
              <a:t> (</a:t>
            </a:r>
            <a:r>
              <a:rPr lang="en-US" b="1" dirty="0" smtClean="0"/>
              <a:t>Machine Learning Operations</a:t>
            </a:r>
            <a:r>
              <a:rPr lang="en-US" dirty="0" smtClean="0"/>
              <a:t>) and </a:t>
            </a:r>
            <a:r>
              <a:rPr lang="en-US" b="1" dirty="0" err="1" smtClean="0"/>
              <a:t>LLMOps</a:t>
            </a:r>
            <a:r>
              <a:rPr lang="en-US" dirty="0" smtClean="0"/>
              <a:t> (</a:t>
            </a:r>
            <a:r>
              <a:rPr lang="en-US" b="1" dirty="0" smtClean="0"/>
              <a:t>Large Language Model Operations</a:t>
            </a:r>
            <a:r>
              <a:rPr lang="en-US" dirty="0" smtClean="0"/>
              <a:t>) represent two distinct paradigms in the </a:t>
            </a:r>
            <a:r>
              <a:rPr lang="en-US" dirty="0" err="1" smtClean="0"/>
              <a:t>operationalization</a:t>
            </a:r>
            <a:r>
              <a:rPr lang="en-US" dirty="0" smtClean="0"/>
              <a:t> of machine learning models, each with its own set of challenges, tools, and workflows.</a:t>
            </a:r>
          </a:p>
          <a:p>
            <a:pPr>
              <a:lnSpc>
                <a:spcPct val="170000"/>
              </a:lnSpc>
            </a:pPr>
            <a:r>
              <a:rPr lang="en-US" dirty="0" smtClean="0"/>
              <a:t>While traditional </a:t>
            </a:r>
            <a:r>
              <a:rPr lang="en-US" dirty="0" err="1" smtClean="0"/>
              <a:t>MLOps</a:t>
            </a:r>
            <a:r>
              <a:rPr lang="en-US" dirty="0" smtClean="0"/>
              <a:t> focuses on deploying and managing a wide variety of machine learning models, </a:t>
            </a:r>
            <a:r>
              <a:rPr lang="en-US" dirty="0" err="1" smtClean="0"/>
              <a:t>LLMOps</a:t>
            </a:r>
            <a:r>
              <a:rPr lang="en-US" dirty="0" smtClean="0"/>
              <a:t> is tailored specifically for </a:t>
            </a:r>
            <a:r>
              <a:rPr lang="en-US" b="1" dirty="0" smtClean="0"/>
              <a:t>Large Language Models</a:t>
            </a:r>
            <a:r>
              <a:rPr lang="en-US" dirty="0" smtClean="0"/>
              <a:t> (</a:t>
            </a:r>
            <a:r>
              <a:rPr lang="en-US" b="1" dirty="0" smtClean="0"/>
              <a:t>LLMs</a:t>
            </a:r>
            <a:r>
              <a:rPr lang="en-US" dirty="0" smtClean="0"/>
              <a:t>), which have unique requirements in terms of scale, data management, and model tuning.</a:t>
            </a:r>
          </a:p>
          <a:p>
            <a:pPr>
              <a:lnSpc>
                <a:spcPct val="170000"/>
              </a:lnSpc>
            </a:pPr>
            <a:r>
              <a:rPr lang="en-US" dirty="0" smtClean="0"/>
              <a:t>Azure </a:t>
            </a:r>
            <a:r>
              <a:rPr lang="en-US" dirty="0" err="1" smtClean="0"/>
              <a:t>Databricks</a:t>
            </a:r>
            <a:r>
              <a:rPr lang="en-US" dirty="0" smtClean="0"/>
              <a:t> supports both </a:t>
            </a:r>
            <a:r>
              <a:rPr lang="en-US" dirty="0" err="1" smtClean="0"/>
              <a:t>MLOps</a:t>
            </a:r>
            <a:r>
              <a:rPr lang="en-US" dirty="0" smtClean="0"/>
              <a:t> and </a:t>
            </a:r>
            <a:r>
              <a:rPr lang="en-US" dirty="0" err="1" smtClean="0"/>
              <a:t>LLMOps</a:t>
            </a:r>
            <a:r>
              <a:rPr lang="en-US" dirty="0" smtClean="0"/>
              <a:t>, but the implementation details differ significantly. Let's explore the difference by comparing </a:t>
            </a:r>
            <a:r>
              <a:rPr lang="en-US" dirty="0" err="1" smtClean="0"/>
              <a:t>MLops</a:t>
            </a:r>
            <a:r>
              <a:rPr lang="en-US" dirty="0" smtClean="0"/>
              <a:t> to </a:t>
            </a:r>
            <a:r>
              <a:rPr lang="en-US" dirty="0" err="1" smtClean="0"/>
              <a:t>LLMOps</a:t>
            </a:r>
            <a:r>
              <a:rPr lang="en-US" dirty="0" smtClean="0"/>
              <a:t>.</a:t>
            </a:r>
          </a:p>
          <a:p>
            <a:pPr>
              <a:lnSpc>
                <a:spcPct val="170000"/>
              </a:lnSpc>
            </a:pPr>
            <a:endParaRPr lang="en-US" dirty="0"/>
          </a:p>
        </p:txBody>
      </p:sp>
      <p:pic>
        <p:nvPicPr>
          <p:cNvPr id="4" name="Picture 2" descr="Diagram of traditional machine learning overview."/>
          <p:cNvPicPr>
            <a:picLocks noChangeAspect="1" noChangeArrowheads="1"/>
          </p:cNvPicPr>
          <p:nvPr/>
        </p:nvPicPr>
        <p:blipFill>
          <a:blip r:embed="rId2"/>
          <a:srcRect/>
          <a:stretch>
            <a:fillRect/>
          </a:stretch>
        </p:blipFill>
        <p:spPr bwMode="auto">
          <a:xfrm>
            <a:off x="7618269" y="1115059"/>
            <a:ext cx="4573731" cy="3114261"/>
          </a:xfrm>
          <a:prstGeom prst="rect">
            <a:avLst/>
          </a:prstGeom>
          <a:noFill/>
        </p:spPr>
      </p:pic>
      <p:sp>
        <p:nvSpPr>
          <p:cNvPr id="5" name="Title 1">
            <a:extLst>
              <a:ext uri="{FF2B5EF4-FFF2-40B4-BE49-F238E27FC236}">
                <a16:creationId xmlns:a16="http://schemas.microsoft.com/office/drawing/2014/main" xmlns="" id="{15EAFB76-4B16-AF9A-068A-3C49EBA88F85}"/>
              </a:ext>
            </a:extLst>
          </p:cNvPr>
          <p:cNvSpPr>
            <a:spLocks noGrp="1"/>
          </p:cNvSpPr>
          <p:nvPr>
            <p:ph type="title"/>
          </p:nvPr>
        </p:nvSpPr>
        <p:spPr>
          <a:xfrm>
            <a:off x="914400" y="0"/>
            <a:ext cx="10515600" cy="1146402"/>
          </a:xfrm>
        </p:spPr>
        <p:txBody>
          <a:bodyPr/>
          <a:lstStyle/>
          <a:p>
            <a:r>
              <a:rPr lang="en-US" b="1" dirty="0" smtClean="0"/>
              <a:t>Compare </a:t>
            </a:r>
            <a:r>
              <a:rPr lang="en-US" b="1" dirty="0" err="1" smtClean="0"/>
              <a:t>MLOps</a:t>
            </a:r>
            <a:r>
              <a:rPr lang="en-US" b="1" dirty="0" smtClean="0"/>
              <a:t> to </a:t>
            </a:r>
            <a:r>
              <a:rPr lang="en-US" b="1" dirty="0" err="1" smtClean="0"/>
              <a:t>LLMOps</a:t>
            </a:r>
            <a:endParaRPr lang="en-US" b="1" dirty="0"/>
          </a:p>
        </p:txBody>
      </p:sp>
    </p:spTree>
    <p:extLst>
      <p:ext uri="{BB962C8B-B14F-4D97-AF65-F5344CB8AC3E}">
        <p14:creationId xmlns:p14="http://schemas.microsoft.com/office/powerpoint/2010/main" xmlns="" val="222096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EAFB76-4B16-AF9A-068A-3C49EBA88F85}"/>
              </a:ext>
            </a:extLst>
          </p:cNvPr>
          <p:cNvSpPr>
            <a:spLocks noGrp="1"/>
          </p:cNvSpPr>
          <p:nvPr>
            <p:ph type="title"/>
          </p:nvPr>
        </p:nvSpPr>
        <p:spPr>
          <a:xfrm>
            <a:off x="716280" y="182880"/>
            <a:ext cx="9403080" cy="963522"/>
          </a:xfrm>
        </p:spPr>
        <p:txBody>
          <a:bodyPr/>
          <a:lstStyle/>
          <a:p>
            <a:r>
              <a:rPr lang="en-US" b="1" dirty="0" smtClean="0"/>
              <a:t>Understand model deployments</a:t>
            </a:r>
            <a:endParaRPr lang="en-US" b="1" dirty="0"/>
          </a:p>
        </p:txBody>
      </p:sp>
      <p:sp>
        <p:nvSpPr>
          <p:cNvPr id="4" name="TextBox 3">
            <a:extLst>
              <a:ext uri="{FF2B5EF4-FFF2-40B4-BE49-F238E27FC236}">
                <a16:creationId xmlns:a16="http://schemas.microsoft.com/office/drawing/2014/main" xmlns="" id="{841EEE3D-6F6B-BF5C-B4CC-A24F49B5C68A}"/>
              </a:ext>
            </a:extLst>
          </p:cNvPr>
          <p:cNvSpPr txBox="1"/>
          <p:nvPr/>
        </p:nvSpPr>
        <p:spPr>
          <a:xfrm>
            <a:off x="653142" y="5557735"/>
            <a:ext cx="10624457"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Tools like </a:t>
            </a:r>
            <a:r>
              <a:rPr lang="en-US" dirty="0" err="1" smtClean="0"/>
              <a:t>LangChain</a:t>
            </a:r>
            <a:r>
              <a:rPr lang="en-US" dirty="0" smtClean="0"/>
              <a:t> and </a:t>
            </a:r>
            <a:r>
              <a:rPr lang="en-US" dirty="0" err="1" smtClean="0"/>
              <a:t>LlamaIndex</a:t>
            </a:r>
            <a:r>
              <a:rPr lang="en-US" dirty="0" smtClean="0"/>
              <a:t> allow for the creation of chains, which are sequences of operations that process and transform data through various stages. By using LLMs at different points within these chains, you can achieve sophisticated data processing and transformation capabilities.</a:t>
            </a:r>
            <a:endParaRPr lang="en-US" dirty="0"/>
          </a:p>
        </p:txBody>
      </p:sp>
      <p:sp>
        <p:nvSpPr>
          <p:cNvPr id="8" name="TextBox 7">
            <a:extLst>
              <a:ext uri="{FF2B5EF4-FFF2-40B4-BE49-F238E27FC236}">
                <a16:creationId xmlns:a16="http://schemas.microsoft.com/office/drawing/2014/main" xmlns="" id="{27164207-61AF-2B4A-9DE2-AB045C7A13C2}"/>
              </a:ext>
            </a:extLst>
          </p:cNvPr>
          <p:cNvSpPr txBox="1"/>
          <p:nvPr/>
        </p:nvSpPr>
        <p:spPr>
          <a:xfrm>
            <a:off x="730124" y="1110083"/>
            <a:ext cx="10090276" cy="39703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There are four deployment strategies:</a:t>
            </a:r>
          </a:p>
          <a:p>
            <a:endParaRPr lang="en-US" dirty="0" smtClean="0"/>
          </a:p>
          <a:p>
            <a:r>
              <a:rPr lang="en-US" b="1" dirty="0" smtClean="0"/>
              <a:t>Batch</a:t>
            </a:r>
            <a:r>
              <a:rPr lang="en-US" dirty="0" smtClean="0"/>
              <a:t>: Generate and store completions on a table of text inputs or prompts. For example, to summarize financial reports and generate insights.</a:t>
            </a:r>
          </a:p>
          <a:p>
            <a:endParaRPr lang="en-US" dirty="0" smtClean="0"/>
          </a:p>
          <a:p>
            <a:r>
              <a:rPr lang="en-US" b="1" dirty="0" smtClean="0"/>
              <a:t>Streaming</a:t>
            </a:r>
            <a:r>
              <a:rPr lang="en-US" dirty="0" smtClean="0"/>
              <a:t>: Generate and store completions on micro-batches of text inputs or prompts as they're processed. For example, to personalize marketing messages.</a:t>
            </a:r>
          </a:p>
          <a:p>
            <a:endParaRPr lang="en-US" dirty="0" smtClean="0"/>
          </a:p>
          <a:p>
            <a:r>
              <a:rPr lang="en-US" b="1" dirty="0" smtClean="0"/>
              <a:t>Real-time</a:t>
            </a:r>
            <a:r>
              <a:rPr lang="en-US" dirty="0" smtClean="0"/>
              <a:t>: Generate completions asynchronously in real-time on an individual input or prompt. For example, for </a:t>
            </a:r>
            <a:r>
              <a:rPr lang="en-US" dirty="0" err="1" smtClean="0"/>
              <a:t>chatbots</a:t>
            </a:r>
            <a:r>
              <a:rPr lang="en-US" dirty="0" smtClean="0"/>
              <a:t> used in customer service.</a:t>
            </a:r>
          </a:p>
          <a:p>
            <a:endParaRPr lang="en-US" dirty="0" smtClean="0"/>
          </a:p>
          <a:p>
            <a:r>
              <a:rPr lang="en-US" b="1" dirty="0" smtClean="0"/>
              <a:t>Embedded</a:t>
            </a:r>
            <a:r>
              <a:rPr lang="en-US" dirty="0" smtClean="0"/>
              <a:t> or </a:t>
            </a:r>
            <a:r>
              <a:rPr lang="en-US" b="1" dirty="0" smtClean="0"/>
              <a:t>edge</a:t>
            </a:r>
            <a:r>
              <a:rPr lang="en-US" dirty="0" smtClean="0"/>
              <a:t>: Deploy the model on local devices or edge servers to provide low-latency responses and offline capabilities. For example, to modify the air conditioning temperature in a car using voice command.</a:t>
            </a:r>
            <a:endParaRPr lang="en-US" dirty="0"/>
          </a:p>
        </p:txBody>
      </p:sp>
    </p:spTree>
    <p:extLst>
      <p:ext uri="{BB962C8B-B14F-4D97-AF65-F5344CB8AC3E}">
        <p14:creationId xmlns:p14="http://schemas.microsoft.com/office/powerpoint/2010/main" xmlns="" val="677804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EAFB76-4B16-AF9A-068A-3C49EBA88F85}"/>
              </a:ext>
            </a:extLst>
          </p:cNvPr>
          <p:cNvSpPr>
            <a:spLocks noGrp="1"/>
          </p:cNvSpPr>
          <p:nvPr>
            <p:ph type="title"/>
          </p:nvPr>
        </p:nvSpPr>
        <p:spPr>
          <a:xfrm>
            <a:off x="518160" y="0"/>
            <a:ext cx="11277600" cy="1325563"/>
          </a:xfrm>
        </p:spPr>
        <p:txBody>
          <a:bodyPr/>
          <a:lstStyle/>
          <a:p>
            <a:r>
              <a:rPr lang="en-US" b="1" dirty="0" smtClean="0"/>
              <a:t>Describe </a:t>
            </a:r>
            <a:r>
              <a:rPr lang="en-US" b="1" dirty="0" err="1" smtClean="0"/>
              <a:t>MLflow</a:t>
            </a:r>
            <a:r>
              <a:rPr lang="en-US" b="1" dirty="0" smtClean="0"/>
              <a:t> deployment capabilities</a:t>
            </a:r>
            <a:endParaRPr lang="en-US" b="1" dirty="0"/>
          </a:p>
        </p:txBody>
      </p:sp>
      <p:sp>
        <p:nvSpPr>
          <p:cNvPr id="4" name="TextBox 3">
            <a:extLst>
              <a:ext uri="{FF2B5EF4-FFF2-40B4-BE49-F238E27FC236}">
                <a16:creationId xmlns:a16="http://schemas.microsoft.com/office/drawing/2014/main" xmlns="" id="{841EEE3D-6F6B-BF5C-B4CC-A24F49B5C68A}"/>
              </a:ext>
            </a:extLst>
          </p:cNvPr>
          <p:cNvSpPr txBox="1"/>
          <p:nvPr/>
        </p:nvSpPr>
        <p:spPr>
          <a:xfrm>
            <a:off x="698862" y="3896575"/>
            <a:ext cx="10624457"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smtClean="0"/>
              <a:t>MLflow</a:t>
            </a:r>
            <a:r>
              <a:rPr lang="en-US" dirty="0" smtClean="0"/>
              <a:t> handles both deployment and serving through its integration with Azure </a:t>
            </a:r>
            <a:r>
              <a:rPr lang="en-US" dirty="0" err="1" smtClean="0"/>
              <a:t>Databricks</a:t>
            </a:r>
            <a:r>
              <a:rPr lang="en-US" dirty="0" smtClean="0"/>
              <a:t>' </a:t>
            </a:r>
            <a:r>
              <a:rPr lang="en-US" b="1" dirty="0" smtClean="0"/>
              <a:t>Model Serving</a:t>
            </a:r>
            <a:r>
              <a:rPr lang="en-US" dirty="0" smtClean="0"/>
              <a:t> feature. You can start by using one of the foundation models already available in Azure </a:t>
            </a:r>
            <a:r>
              <a:rPr lang="en-US" dirty="0" err="1" smtClean="0"/>
              <a:t>Databricks</a:t>
            </a:r>
            <a:endParaRPr lang="en-US" dirty="0"/>
          </a:p>
        </p:txBody>
      </p:sp>
      <p:sp>
        <p:nvSpPr>
          <p:cNvPr id="8" name="TextBox 7">
            <a:extLst>
              <a:ext uri="{FF2B5EF4-FFF2-40B4-BE49-F238E27FC236}">
                <a16:creationId xmlns:a16="http://schemas.microsoft.com/office/drawing/2014/main" xmlns="" id="{27164207-61AF-2B4A-9DE2-AB045C7A13C2}"/>
              </a:ext>
            </a:extLst>
          </p:cNvPr>
          <p:cNvSpPr txBox="1"/>
          <p:nvPr/>
        </p:nvSpPr>
        <p:spPr>
          <a:xfrm>
            <a:off x="684404" y="1399643"/>
            <a:ext cx="6096000" cy="20313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smtClean="0"/>
              <a:t>Deploying</a:t>
            </a:r>
            <a:r>
              <a:rPr lang="en-US" dirty="0" smtClean="0"/>
              <a:t> means setting up the model on infrastructure where it can run. </a:t>
            </a:r>
            <a:r>
              <a:rPr lang="en-US" b="1" dirty="0" smtClean="0"/>
              <a:t>Serving</a:t>
            </a:r>
            <a:r>
              <a:rPr lang="en-US" dirty="0" smtClean="0"/>
              <a:t> means the endpoint is ready to receive requests (like prompts) and return responses (generated text). </a:t>
            </a:r>
          </a:p>
          <a:p>
            <a:endParaRPr lang="en-US" dirty="0" smtClean="0"/>
          </a:p>
          <a:p>
            <a:r>
              <a:rPr lang="en-US" b="1" dirty="0" err="1" smtClean="0"/>
              <a:t>MLflow</a:t>
            </a:r>
            <a:r>
              <a:rPr lang="en-US" dirty="0" smtClean="0"/>
              <a:t> provides an environment for managing Large Language Models from development to production. </a:t>
            </a:r>
            <a:endParaRPr lang="en-IN" dirty="0"/>
          </a:p>
        </p:txBody>
      </p:sp>
    </p:spTree>
    <p:extLst>
      <p:ext uri="{BB962C8B-B14F-4D97-AF65-F5344CB8AC3E}">
        <p14:creationId xmlns:p14="http://schemas.microsoft.com/office/powerpoint/2010/main" xmlns="" val="67780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6" name="Picture 2" descr="Screenshot of the serving endpoints readily available in Azure Databricks."/>
          <p:cNvPicPr>
            <a:picLocks noChangeAspect="1" noChangeArrowheads="1"/>
          </p:cNvPicPr>
          <p:nvPr/>
        </p:nvPicPr>
        <p:blipFill>
          <a:blip r:embed="rId2"/>
          <a:srcRect/>
          <a:stretch>
            <a:fillRect/>
          </a:stretch>
        </p:blipFill>
        <p:spPr bwMode="auto">
          <a:xfrm>
            <a:off x="0" y="0"/>
            <a:ext cx="10058400" cy="6708273"/>
          </a:xfrm>
          <a:prstGeom prst="rect">
            <a:avLst/>
          </a:prstGeom>
          <a:noFill/>
        </p:spPr>
      </p:pic>
    </p:spTree>
    <p:extLst>
      <p:ext uri="{BB962C8B-B14F-4D97-AF65-F5344CB8AC3E}">
        <p14:creationId xmlns:p14="http://schemas.microsoft.com/office/powerpoint/2010/main" xmlns="" val="2730006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9458" name="Picture 2" descr="Screenshot showing how to create a serving endpoint in Azure Databricks."/>
          <p:cNvPicPr>
            <a:picLocks noChangeAspect="1" noChangeArrowheads="1"/>
          </p:cNvPicPr>
          <p:nvPr/>
        </p:nvPicPr>
        <p:blipFill>
          <a:blip r:embed="rId2"/>
          <a:srcRect/>
          <a:stretch>
            <a:fillRect/>
          </a:stretch>
        </p:blipFill>
        <p:spPr bwMode="auto">
          <a:xfrm>
            <a:off x="0" y="7086"/>
            <a:ext cx="11506200" cy="6850914"/>
          </a:xfrm>
          <a:prstGeom prst="rect">
            <a:avLst/>
          </a:prstGeom>
          <a:noFill/>
        </p:spPr>
      </p:pic>
    </p:spTree>
    <p:extLst>
      <p:ext uri="{BB962C8B-B14F-4D97-AF65-F5344CB8AC3E}">
        <p14:creationId xmlns:p14="http://schemas.microsoft.com/office/powerpoint/2010/main" xmlns="" val="2730006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482" name="Picture 2" descr="Screenshot of serving endpoint overview."/>
          <p:cNvPicPr>
            <a:picLocks noChangeAspect="1" noChangeArrowheads="1"/>
          </p:cNvPicPr>
          <p:nvPr/>
        </p:nvPicPr>
        <p:blipFill>
          <a:blip r:embed="rId2"/>
          <a:srcRect/>
          <a:stretch>
            <a:fillRect/>
          </a:stretch>
        </p:blipFill>
        <p:spPr bwMode="auto">
          <a:xfrm>
            <a:off x="0" y="0"/>
            <a:ext cx="10439400" cy="6878802"/>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Resource:</a:t>
            </a:r>
            <a:endParaRPr lang="en-US" b="1" dirty="0"/>
          </a:p>
        </p:txBody>
      </p:sp>
      <p:sp>
        <p:nvSpPr>
          <p:cNvPr id="3" name="Content Placeholder 2"/>
          <p:cNvSpPr>
            <a:spLocks noGrp="1"/>
          </p:cNvSpPr>
          <p:nvPr>
            <p:ph idx="1"/>
          </p:nvPr>
        </p:nvSpPr>
        <p:spPr/>
        <p:txBody>
          <a:bodyPr/>
          <a:lstStyle/>
          <a:p>
            <a:r>
              <a:rPr lang="en-US" dirty="0" smtClean="0"/>
              <a:t>Exercise - Implement </a:t>
            </a:r>
            <a:r>
              <a:rPr lang="en-US" dirty="0" err="1" smtClean="0"/>
              <a:t>LLMOps</a:t>
            </a:r>
            <a:r>
              <a:rPr lang="en-US" dirty="0" smtClean="0"/>
              <a:t> - Training | Microsoft Learn</a:t>
            </a:r>
          </a:p>
          <a:p>
            <a:r>
              <a:rPr lang="en-US" dirty="0" smtClean="0">
                <a:hlinkClick r:id="rId2"/>
              </a:rPr>
              <a:t>https://learn.microsoft.com/en-us/training/modules/implement-llmops-azure-databricks/06-exercise</a:t>
            </a:r>
            <a:endParaRPr lang="en-US" dirty="0" smtClean="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334</Words>
  <Application>Microsoft Office PowerPoint</Application>
  <PresentationFormat>Custom</PresentationFormat>
  <Paragraphs>33</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Implement LLMOps in Azure Databricks</vt:lpstr>
      <vt:lpstr>Slide 2</vt:lpstr>
      <vt:lpstr>Azure Foundry</vt:lpstr>
      <vt:lpstr>Large Language Model Operations</vt:lpstr>
      <vt:lpstr>Compare MLOps to LLMOps</vt:lpstr>
      <vt:lpstr>Understand model deployments</vt:lpstr>
      <vt:lpstr>Describe MLflow deployment capabilities</vt:lpstr>
      <vt:lpstr>Slide 8</vt:lpstr>
      <vt:lpstr>Slide 9</vt:lpstr>
      <vt:lpstr>Slide 10</vt:lpstr>
      <vt:lpstr>Resource: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Prabhjot Singh Bakshi</dc:creator>
  <cp:lastModifiedBy>hp</cp:lastModifiedBy>
  <cp:revision>6</cp:revision>
  <dcterms:created xsi:type="dcterms:W3CDTF">2024-12-06T13:46:05Z</dcterms:created>
  <dcterms:modified xsi:type="dcterms:W3CDTF">2025-08-22T05:54:49Z</dcterms:modified>
</cp:coreProperties>
</file>