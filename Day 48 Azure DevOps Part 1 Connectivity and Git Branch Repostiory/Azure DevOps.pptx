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147479811" r:id="rId3"/>
    <p:sldId id="2147479832" r:id="rId4"/>
    <p:sldId id="2147479833" r:id="rId5"/>
    <p:sldId id="2147479834" r:id="rId6"/>
    <p:sldId id="2147479835" r:id="rId7"/>
    <p:sldId id="2147479846" r:id="rId8"/>
    <p:sldId id="2147479838" r:id="rId9"/>
    <p:sldId id="2147479839" r:id="rId10"/>
    <p:sldId id="2147479840" r:id="rId11"/>
    <p:sldId id="2147479845" r:id="rId12"/>
    <p:sldId id="2147479847" r:id="rId13"/>
    <p:sldId id="2147479841" r:id="rId14"/>
    <p:sldId id="2147479848" r:id="rId15"/>
    <p:sldId id="2147479844" r:id="rId16"/>
    <p:sldId id="214747983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p:scale>
          <a:sx n="66" d="100"/>
          <a:sy n="66" d="100"/>
        </p:scale>
        <p:origin x="-1330" y="-5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90FD1-8143-4171-9D60-FF634CF39857}" type="datetimeFigureOut">
              <a:rPr lang="en-IN" smtClean="0"/>
              <a:pPr/>
              <a:t>14-09-2025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433C41-4B6B-4BD5-8A43-DB968C4BAEF7}" type="slidenum">
              <a:rPr lang="en-IN" smtClean="0"/>
              <a:pPr/>
              <a:t>‹#›</a:t>
            </a:fld>
            <a:endParaRPr lang="en-IN"/>
          </a:p>
        </p:txBody>
      </p:sp>
    </p:spTree>
    <p:extLst>
      <p:ext uri="{BB962C8B-B14F-4D97-AF65-F5344CB8AC3E}">
        <p14:creationId xmlns:p14="http://schemas.microsoft.com/office/powerpoint/2010/main" xmlns="" val="3939388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201CEF-C9D4-AFD7-8681-48F8733666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FCA708F-C091-97C1-52A4-231F0F6B07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702E300-747E-296C-1B9F-A5CBD9153344}"/>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5" name="Footer Placeholder 4">
            <a:extLst>
              <a:ext uri="{FF2B5EF4-FFF2-40B4-BE49-F238E27FC236}">
                <a16:creationId xmlns:a16="http://schemas.microsoft.com/office/drawing/2014/main" xmlns="" id="{53C3A53F-AC37-4DD8-7930-70AD0040F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3B4E25B-BB56-A4A0-0665-8628E10F4394}"/>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313563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ECDC73-403D-3049-E4F5-6DF66BB1DB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3A81AE5-C451-8B2E-8F9A-8FB953D54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A699AAA-055E-A333-93D8-B1B36A6A5DB5}"/>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5" name="Footer Placeholder 4">
            <a:extLst>
              <a:ext uri="{FF2B5EF4-FFF2-40B4-BE49-F238E27FC236}">
                <a16:creationId xmlns:a16="http://schemas.microsoft.com/office/drawing/2014/main" xmlns="" id="{EB04BCBE-090C-13BD-2141-C1115FB9AA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2E77C17-6382-9FF8-F12E-D374AE37AD62}"/>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955842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41E156-4896-39B1-C1D1-AF1BE44797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F753964-5F63-52BA-A604-19F0335312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29FB495-E926-D544-4117-4CB1986CCAB8}"/>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5" name="Footer Placeholder 4">
            <a:extLst>
              <a:ext uri="{FF2B5EF4-FFF2-40B4-BE49-F238E27FC236}">
                <a16:creationId xmlns:a16="http://schemas.microsoft.com/office/drawing/2014/main" xmlns="" id="{C8054F99-CF4F-9B10-3C32-C7909C7EB4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9CBB51C-13FC-30E0-203C-90625F37C524}"/>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025697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92594B-BCBD-EF03-A9F6-C5647757D4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1C4030F-6CE4-3591-AFA2-E2DDBACD88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BF2E2B78-3DD8-3978-952C-33456C82CB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8C164BD0-ADF9-B0DA-53F0-E36BBDD1D0D9}"/>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6" name="Footer Placeholder 5">
            <a:extLst>
              <a:ext uri="{FF2B5EF4-FFF2-40B4-BE49-F238E27FC236}">
                <a16:creationId xmlns:a16="http://schemas.microsoft.com/office/drawing/2014/main" xmlns="" id="{CC5344F4-1273-62A6-FF15-4E416688FC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BF01FEE-99D8-7566-BC37-DCF4764D7DF2}"/>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95012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3B3CD9-A1C1-D1E4-92B2-C0557D9F54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FC7D8E9-C9C7-AE86-6CC8-7C293C0743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A47BDFA-F111-2BDD-FD3D-543D07883F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99E108B-FEE1-9262-F530-C19260DC0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AB8082C-8A82-E86E-1FC9-2D09EC62D6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7151E2C-4586-9FB2-6F2B-E3C7FDF52F62}"/>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8" name="Footer Placeholder 7">
            <a:extLst>
              <a:ext uri="{FF2B5EF4-FFF2-40B4-BE49-F238E27FC236}">
                <a16:creationId xmlns:a16="http://schemas.microsoft.com/office/drawing/2014/main" xmlns="" id="{721E1115-B3B9-33BA-2CE2-24DADE857B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AD0561C4-38E9-0C6D-A2C5-08EADD9E51A0}"/>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075249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6B9951-82E5-4BB3-ABA9-68C5C2221FE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95F8DCA-D8CC-2A21-C6A0-5C740BC06CB3}"/>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4" name="Footer Placeholder 3">
            <a:extLst>
              <a:ext uri="{FF2B5EF4-FFF2-40B4-BE49-F238E27FC236}">
                <a16:creationId xmlns:a16="http://schemas.microsoft.com/office/drawing/2014/main" xmlns="" id="{7F51FD63-65D2-9E29-FBFB-A3F2B01009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E7F887E3-0A04-F9D8-201D-6F3178153CAC}"/>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847350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73E239F-D3DD-0123-59DF-631615B5DD7B}"/>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3" name="Footer Placeholder 2">
            <a:extLst>
              <a:ext uri="{FF2B5EF4-FFF2-40B4-BE49-F238E27FC236}">
                <a16:creationId xmlns:a16="http://schemas.microsoft.com/office/drawing/2014/main" xmlns="" id="{BC366572-6846-7824-3E6B-DC3A764A6E4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A4D3CC6-3298-7DCD-F7D3-3129C9F2003A}"/>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95591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0D3D9D-D48E-176F-AEBB-04A50DF2E1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77650FB-F895-3F43-9221-47EF97127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ED7E680-8630-6590-C2D7-A0FEBEE77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4F81E9C-84F6-B376-47BB-9457EDB91A32}"/>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6" name="Footer Placeholder 5">
            <a:extLst>
              <a:ext uri="{FF2B5EF4-FFF2-40B4-BE49-F238E27FC236}">
                <a16:creationId xmlns:a16="http://schemas.microsoft.com/office/drawing/2014/main" xmlns="" id="{BB85E231-8952-6071-FDBC-A5EB193B78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9F57C8D-0FBF-FFA7-2B10-F1F6F7E45C55}"/>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114096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40455D-BC09-BF12-2BAE-311D6D411E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BFA280B3-5AEC-E8AE-228F-24DBE6C440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E4C4952D-5408-672E-8B39-CE4221DC1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1561204-8BDC-9097-7B85-D18B7DD4F4CD}"/>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6" name="Footer Placeholder 5">
            <a:extLst>
              <a:ext uri="{FF2B5EF4-FFF2-40B4-BE49-F238E27FC236}">
                <a16:creationId xmlns:a16="http://schemas.microsoft.com/office/drawing/2014/main" xmlns="" id="{15D3CD46-7687-0AD9-2694-C785D2D90C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10C08F8-C8F4-65BA-AECC-F550B45CE49F}"/>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43807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E9213D-6CC5-91FE-BA2D-A725457067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96E9CDA-1C74-9C7C-5841-584CA27FF9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3BF4199-E250-AACB-43DB-40E878EB6646}"/>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5" name="Footer Placeholder 4">
            <a:extLst>
              <a:ext uri="{FF2B5EF4-FFF2-40B4-BE49-F238E27FC236}">
                <a16:creationId xmlns:a16="http://schemas.microsoft.com/office/drawing/2014/main" xmlns="" id="{A7322841-AE90-0829-0A56-35B78BB4B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CF54FB8-7EA5-7A1D-26FB-811FEA5E8AF9}"/>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46597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E17276C-0F35-2873-0ACF-7E5083DF05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0327E0B-DCD7-3E89-C893-A9C66A7225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7F97887-D915-04C0-B283-A135814C8861}"/>
              </a:ext>
            </a:extLst>
          </p:cNvPr>
          <p:cNvSpPr>
            <a:spLocks noGrp="1"/>
          </p:cNvSpPr>
          <p:nvPr>
            <p:ph type="dt" sz="half" idx="10"/>
          </p:nvPr>
        </p:nvSpPr>
        <p:spPr/>
        <p:txBody>
          <a:bodyPr/>
          <a:lstStyle/>
          <a:p>
            <a:fld id="{1A18EA23-7F4B-458B-B152-043B37C819FB}" type="datetimeFigureOut">
              <a:rPr lang="en-IN" smtClean="0"/>
              <a:pPr/>
              <a:t>14-09-2025</a:t>
            </a:fld>
            <a:endParaRPr lang="en-IN"/>
          </a:p>
        </p:txBody>
      </p:sp>
      <p:sp>
        <p:nvSpPr>
          <p:cNvPr id="5" name="Footer Placeholder 4">
            <a:extLst>
              <a:ext uri="{FF2B5EF4-FFF2-40B4-BE49-F238E27FC236}">
                <a16:creationId xmlns:a16="http://schemas.microsoft.com/office/drawing/2014/main" xmlns="" id="{55374CD8-8F24-E923-4D37-DF9C8E0CE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3A0B35E-A939-7A6E-CDC8-A844F8C5E6A5}"/>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853065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xmlns=""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rgbClr val="2A446F"/>
                </a:solidFill>
              </a:defRPr>
            </a:lvl1pPr>
          </a:lstStyle>
          <a:p>
            <a:r>
              <a:rPr lang="en-US"/>
              <a:t>Click to edit title style</a:t>
            </a:r>
          </a:p>
        </p:txBody>
      </p:sp>
      <p:sp>
        <p:nvSpPr>
          <p:cNvPr id="4" name="Subtitle">
            <a:extLst>
              <a:ext uri="{FF2B5EF4-FFF2-40B4-BE49-F238E27FC236}">
                <a16:creationId xmlns:a16="http://schemas.microsoft.com/office/drawing/2014/main" xmlns=""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752874220"/>
      </p:ext>
    </p:extLst>
  </p:cSld>
  <p:clrMapOvr>
    <a:masterClrMapping/>
  </p:clrMapOvr>
  <p:transition>
    <p:fade/>
  </p:transition>
  <p:extLst>
    <p:ext uri="{DCECCB84-F9BA-43D5-87BE-67443E8EF086}">
      <p15:sldGuideLst xmlns:p15="http://schemas.microsoft.com/office/powerpoint/2012/main" xmlns="">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D8904B4-CD7B-089A-28AC-421640FD6D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AEDDA6E-1327-563A-21E2-3CE1A4F7E3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674A632-15FF-9416-D816-9D62BC886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18EA23-7F4B-458B-B152-043B37C819FB}" type="datetimeFigureOut">
              <a:rPr lang="en-IN" smtClean="0"/>
              <a:pPr/>
              <a:t>14-09-2025</a:t>
            </a:fld>
            <a:endParaRPr lang="en-IN"/>
          </a:p>
        </p:txBody>
      </p:sp>
      <p:sp>
        <p:nvSpPr>
          <p:cNvPr id="5" name="Footer Placeholder 4">
            <a:extLst>
              <a:ext uri="{FF2B5EF4-FFF2-40B4-BE49-F238E27FC236}">
                <a16:creationId xmlns:a16="http://schemas.microsoft.com/office/drawing/2014/main" xmlns="" id="{9D86DF97-E542-786F-1F4F-9FF028321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CEAA12B4-A47C-ECA8-5BF9-2840BACED4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3899991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azure/databricks/repos/" TargetMode="External"/><Relationship Id="rId7" Type="http://schemas.openxmlformats.org/officeDocument/2006/relationships/hyperlink" Target="https://learn.microsoft.com/en-us/training/modules/ci-cd-workflows-pipelines-azure-databricks/01-introduction" TargetMode="External"/><Relationship Id="rId2" Type="http://schemas.openxmlformats.org/officeDocument/2006/relationships/hyperlink" Target="https://learn.microsoft.com/en-us/azure/devops/get-started/?view=azure-devops" TargetMode="External"/><Relationship Id="rId1" Type="http://schemas.openxmlformats.org/officeDocument/2006/relationships/slideLayout" Target="../slideLayouts/slideLayout12.xml"/><Relationship Id="rId6" Type="http://schemas.openxmlformats.org/officeDocument/2006/relationships/hyperlink" Target="https://learn.microsoft.com/en-us/azure/databricks/repos/ci-cd" TargetMode="External"/><Relationship Id="rId5" Type="http://schemas.openxmlformats.org/officeDocument/2006/relationships/hyperlink" Target="https://learn.microsoft.com/en-us/azure/devops/repos/?view=azure-devops" TargetMode="External"/><Relationship Id="rId4" Type="http://schemas.openxmlformats.org/officeDocument/2006/relationships/hyperlink" Target="https://www.youtube.com/watch?v=k9Kuz19By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xmlns="" id="{C7D023E4-8DE1-436E-9847-ED6A4B4B04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253692A6-0348-1174-7DF7-48791513C04A}"/>
              </a:ext>
            </a:extLst>
          </p:cNvPr>
          <p:cNvSpPr>
            <a:spLocks noGrp="1"/>
          </p:cNvSpPr>
          <p:nvPr>
            <p:ph type="ctrTitle"/>
          </p:nvPr>
        </p:nvSpPr>
        <p:spPr>
          <a:xfrm>
            <a:off x="558209" y="1604883"/>
            <a:ext cx="11633791" cy="2226769"/>
          </a:xfrm>
        </p:spPr>
        <p:txBody>
          <a:bodyPr anchor="ctr">
            <a:noAutofit/>
          </a:bodyPr>
          <a:lstStyle/>
          <a:p>
            <a:pPr algn="l"/>
            <a:r>
              <a:rPr lang="en-US" sz="20000" b="1" dirty="0" smtClean="0">
                <a:solidFill>
                  <a:srgbClr val="FF0000"/>
                </a:solidFill>
              </a:rPr>
              <a:t>Azure</a:t>
            </a:r>
            <a:r>
              <a:rPr lang="en-US" sz="20000" b="1" dirty="0" smtClean="0"/>
              <a:t> </a:t>
            </a:r>
            <a:r>
              <a:rPr lang="en-US" sz="20000" b="1" dirty="0" err="1" smtClean="0">
                <a:solidFill>
                  <a:srgbClr val="00B050"/>
                </a:solidFill>
              </a:rPr>
              <a:t>DevOps</a:t>
            </a:r>
            <a:endParaRPr lang="en-IN" sz="20000" b="1" dirty="0">
              <a:solidFill>
                <a:srgbClr val="00B050"/>
              </a:solidFill>
            </a:endParaRPr>
          </a:p>
        </p:txBody>
      </p:sp>
      <p:sp>
        <p:nvSpPr>
          <p:cNvPr id="3" name="Subtitle 2">
            <a:extLst>
              <a:ext uri="{FF2B5EF4-FFF2-40B4-BE49-F238E27FC236}">
                <a16:creationId xmlns:a16="http://schemas.microsoft.com/office/drawing/2014/main" xmlns="" id="{F7AB097C-2EAB-916E-98FF-0361E20EA576}"/>
              </a:ext>
            </a:extLst>
          </p:cNvPr>
          <p:cNvSpPr>
            <a:spLocks noGrp="1"/>
          </p:cNvSpPr>
          <p:nvPr>
            <p:ph type="subTitle" idx="1"/>
          </p:nvPr>
        </p:nvSpPr>
        <p:spPr>
          <a:xfrm>
            <a:off x="766560" y="4907665"/>
            <a:ext cx="11085917" cy="2193413"/>
          </a:xfrm>
        </p:spPr>
        <p:txBody>
          <a:bodyPr anchor="ctr">
            <a:normAutofit/>
          </a:bodyPr>
          <a:lstStyle/>
          <a:p>
            <a:pPr algn="l"/>
            <a:r>
              <a:rPr lang="en-US" sz="3500" b="1" dirty="0" smtClean="0"/>
              <a:t>Implement </a:t>
            </a:r>
            <a:r>
              <a:rPr lang="en-US" sz="3500" b="1" dirty="0" smtClean="0"/>
              <a:t>CI/CD workflows in Azure </a:t>
            </a:r>
            <a:r>
              <a:rPr lang="en-US" sz="3500" b="1" dirty="0" err="1" smtClean="0"/>
              <a:t>Databricks</a:t>
            </a:r>
            <a:endParaRPr lang="en-US" sz="3500" b="1" dirty="0" smtClean="0"/>
          </a:p>
        </p:txBody>
      </p:sp>
      <p:pic>
        <p:nvPicPr>
          <p:cNvPr id="15" name="Picture 14" descr="Databricks-Logo.jpg"/>
          <p:cNvPicPr>
            <a:picLocks noChangeAspect="1"/>
          </p:cNvPicPr>
          <p:nvPr/>
        </p:nvPicPr>
        <p:blipFill>
          <a:blip r:embed="rId2" cstate="print"/>
          <a:stretch>
            <a:fillRect/>
          </a:stretch>
        </p:blipFill>
        <p:spPr>
          <a:xfrm>
            <a:off x="8076557" y="0"/>
            <a:ext cx="4115443" cy="2314937"/>
          </a:xfrm>
          <a:prstGeom prst="rect">
            <a:avLst/>
          </a:prstGeom>
        </p:spPr>
      </p:pic>
    </p:spTree>
    <p:extLst>
      <p:ext uri="{BB962C8B-B14F-4D97-AF65-F5344CB8AC3E}">
        <p14:creationId xmlns:p14="http://schemas.microsoft.com/office/powerpoint/2010/main" xmlns="" val="86106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2192000" cy="7294305"/>
          </a:xfrm>
          <a:prstGeom prst="rect">
            <a:avLst/>
          </a:prstGeom>
          <a:noFill/>
        </p:spPr>
        <p:txBody>
          <a:bodyPr wrap="square" rtlCol="0">
            <a:spAutoFit/>
          </a:bodyPr>
          <a:lstStyle/>
          <a:p>
            <a:endParaRPr lang="en-US" dirty="0" smtClean="0"/>
          </a:p>
          <a:p>
            <a:r>
              <a:rPr lang="en-US" sz="3300" b="1" dirty="0" smtClean="0">
                <a:solidFill>
                  <a:srgbClr val="FF0000"/>
                </a:solidFill>
              </a:rPr>
              <a:t>Agenda : Azure </a:t>
            </a:r>
            <a:r>
              <a:rPr lang="en-US" sz="3300" b="1" dirty="0" err="1" smtClean="0">
                <a:solidFill>
                  <a:srgbClr val="FF0000"/>
                </a:solidFill>
              </a:rPr>
              <a:t>DevOps</a:t>
            </a:r>
            <a:r>
              <a:rPr lang="en-US" sz="3300" b="1" dirty="0" smtClean="0">
                <a:solidFill>
                  <a:srgbClr val="FF0000"/>
                </a:solidFill>
              </a:rPr>
              <a:t>:</a:t>
            </a:r>
          </a:p>
          <a:p>
            <a:endParaRPr lang="en-US" dirty="0" smtClean="0"/>
          </a:p>
          <a:p>
            <a:pPr>
              <a:buFont typeface="Wingdings" pitchFamily="2" charset="2"/>
              <a:buChar char="q"/>
            </a:pPr>
            <a:r>
              <a:rPr lang="en-US" sz="3300" b="1" dirty="0" smtClean="0"/>
              <a:t>How to create Organization in </a:t>
            </a:r>
            <a:r>
              <a:rPr lang="en-US" sz="3300" b="1" dirty="0" err="1" smtClean="0"/>
              <a:t>DevOps</a:t>
            </a:r>
            <a:r>
              <a:rPr lang="en-US" sz="3300" b="1" dirty="0" smtClean="0"/>
              <a:t>?</a:t>
            </a:r>
          </a:p>
          <a:p>
            <a:pPr>
              <a:buFont typeface="Wingdings" pitchFamily="2" charset="2"/>
              <a:buChar char="q"/>
            </a:pPr>
            <a:r>
              <a:rPr lang="en-US" sz="3300" b="1" dirty="0" smtClean="0"/>
              <a:t>How to create Pipeline?</a:t>
            </a:r>
          </a:p>
          <a:p>
            <a:pPr>
              <a:buFont typeface="Wingdings" pitchFamily="2" charset="2"/>
              <a:buChar char="q"/>
            </a:pPr>
            <a:r>
              <a:rPr lang="en-US" sz="3300" b="1" dirty="0" smtClean="0"/>
              <a:t>How to integrate </a:t>
            </a:r>
            <a:r>
              <a:rPr lang="en-US" sz="3300" b="1" dirty="0" err="1" smtClean="0"/>
              <a:t>Databricks</a:t>
            </a:r>
            <a:r>
              <a:rPr lang="en-US" sz="3300" b="1" dirty="0" smtClean="0"/>
              <a:t> with </a:t>
            </a:r>
            <a:r>
              <a:rPr lang="en-US" sz="3300" b="1" dirty="0" err="1" smtClean="0"/>
              <a:t>DevOps</a:t>
            </a:r>
            <a:r>
              <a:rPr lang="en-US" sz="3300" b="1" dirty="0" smtClean="0"/>
              <a:t>?</a:t>
            </a:r>
          </a:p>
          <a:p>
            <a:pPr>
              <a:buFont typeface="Wingdings" pitchFamily="2" charset="2"/>
              <a:buChar char="q"/>
            </a:pPr>
            <a:r>
              <a:rPr lang="en-US" sz="3300" b="1" dirty="0" smtClean="0"/>
              <a:t>How to change different stages for our deployment?</a:t>
            </a:r>
          </a:p>
          <a:p>
            <a:endParaRPr lang="en-US" sz="3300" b="1" dirty="0" smtClean="0"/>
          </a:p>
          <a:p>
            <a:r>
              <a:rPr lang="en-US" sz="3300" b="1" dirty="0" smtClean="0">
                <a:solidFill>
                  <a:schemeClr val="accent6">
                    <a:lumMod val="50000"/>
                  </a:schemeClr>
                </a:solidFill>
              </a:rPr>
              <a:t>Practical:</a:t>
            </a:r>
          </a:p>
          <a:p>
            <a:pPr>
              <a:buFont typeface="Wingdings" pitchFamily="2" charset="2"/>
              <a:buChar char="v"/>
            </a:pPr>
            <a:r>
              <a:rPr lang="en-US" sz="3300" b="1" dirty="0" smtClean="0">
                <a:solidFill>
                  <a:schemeClr val="accent6">
                    <a:lumMod val="50000"/>
                  </a:schemeClr>
                </a:solidFill>
              </a:rPr>
              <a:t>Commit, share, and sync your code</a:t>
            </a:r>
          </a:p>
          <a:p>
            <a:pPr>
              <a:buFont typeface="Wingdings" pitchFamily="2" charset="2"/>
              <a:buChar char="v"/>
            </a:pPr>
            <a:r>
              <a:rPr lang="en-US" sz="3300" b="1" dirty="0" smtClean="0">
                <a:solidFill>
                  <a:schemeClr val="accent6">
                    <a:lumMod val="50000"/>
                  </a:schemeClr>
                </a:solidFill>
              </a:rPr>
              <a:t>Clone a repository</a:t>
            </a:r>
          </a:p>
          <a:p>
            <a:pPr>
              <a:buFont typeface="Wingdings" pitchFamily="2" charset="2"/>
              <a:buChar char="v"/>
            </a:pPr>
            <a:r>
              <a:rPr lang="en-US" sz="3300" b="1" dirty="0" smtClean="0">
                <a:solidFill>
                  <a:schemeClr val="accent6">
                    <a:lumMod val="50000"/>
                  </a:schemeClr>
                </a:solidFill>
              </a:rPr>
              <a:t>Import a </a:t>
            </a:r>
            <a:r>
              <a:rPr lang="en-US" sz="3300" b="1" dirty="0" err="1" smtClean="0">
                <a:solidFill>
                  <a:schemeClr val="accent6">
                    <a:lumMod val="50000"/>
                  </a:schemeClr>
                </a:solidFill>
              </a:rPr>
              <a:t>Git</a:t>
            </a:r>
            <a:r>
              <a:rPr lang="en-US" sz="3300" b="1" dirty="0" smtClean="0">
                <a:solidFill>
                  <a:schemeClr val="accent6">
                    <a:lumMod val="50000"/>
                  </a:schemeClr>
                </a:solidFill>
              </a:rPr>
              <a:t> repo into your project</a:t>
            </a:r>
          </a:p>
          <a:p>
            <a:pPr>
              <a:buFont typeface="Wingdings" pitchFamily="2" charset="2"/>
              <a:buChar char="v"/>
            </a:pPr>
            <a:r>
              <a:rPr lang="en-US" sz="3300" b="1" dirty="0" smtClean="0">
                <a:solidFill>
                  <a:schemeClr val="accent6">
                    <a:lumMod val="50000"/>
                  </a:schemeClr>
                </a:solidFill>
              </a:rPr>
              <a:t>Update code with fetch and pull</a:t>
            </a:r>
          </a:p>
          <a:p>
            <a:pPr>
              <a:buFont typeface="Wingdings" pitchFamily="2" charset="2"/>
              <a:buChar char="v"/>
            </a:pPr>
            <a:r>
              <a:rPr lang="en-US" sz="3300" b="1" dirty="0" smtClean="0">
                <a:solidFill>
                  <a:schemeClr val="accent6">
                    <a:lumMod val="50000"/>
                  </a:schemeClr>
                </a:solidFill>
              </a:rPr>
              <a:t>Undo changes in your </a:t>
            </a:r>
            <a:r>
              <a:rPr lang="en-US" sz="3300" b="1" dirty="0" err="1" smtClean="0">
                <a:solidFill>
                  <a:schemeClr val="accent6">
                    <a:lumMod val="50000"/>
                  </a:schemeClr>
                </a:solidFill>
              </a:rPr>
              <a:t>Git</a:t>
            </a:r>
            <a:r>
              <a:rPr lang="en-US" sz="3300" b="1" dirty="0" smtClean="0">
                <a:solidFill>
                  <a:schemeClr val="accent6">
                    <a:lumMod val="50000"/>
                  </a:schemeClr>
                </a:solidFill>
              </a:rPr>
              <a:t> repo</a:t>
            </a:r>
            <a:endParaRPr lang="en-US" sz="3300" b="1" dirty="0" smtClean="0"/>
          </a:p>
          <a:p>
            <a:endParaRPr lang="en-US" dirty="0" smtClean="0"/>
          </a:p>
          <a:p>
            <a:endParaRPr lang="en-US" dirty="0"/>
          </a:p>
        </p:txBody>
      </p:sp>
      <p:pic>
        <p:nvPicPr>
          <p:cNvPr id="8194" name="Picture 2" descr="Screenshot of services listed in Azure DevOps navigation."/>
          <p:cNvPicPr>
            <a:picLocks noChangeAspect="1" noChangeArrowheads="1"/>
          </p:cNvPicPr>
          <p:nvPr/>
        </p:nvPicPr>
        <p:blipFill>
          <a:blip r:embed="rId2"/>
          <a:srcRect/>
          <a:stretch>
            <a:fillRect/>
          </a:stretch>
        </p:blipFill>
        <p:spPr bwMode="auto">
          <a:xfrm>
            <a:off x="9865632" y="693283"/>
            <a:ext cx="1905000" cy="3371851"/>
          </a:xfrm>
          <a:prstGeom prst="rect">
            <a:avLst/>
          </a:prstGeom>
          <a:noFill/>
        </p:spPr>
      </p:pic>
    </p:spTree>
    <p:extLst>
      <p:ext uri="{BB962C8B-B14F-4D97-AF65-F5344CB8AC3E}">
        <p14:creationId xmlns:p14="http://schemas.microsoft.com/office/powerpoint/2010/main" xmlns="" val="2922823105"/>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411" y="4114800"/>
            <a:ext cx="4782391" cy="553998"/>
          </a:xfrm>
        </p:spPr>
        <p:txBody>
          <a:bodyPr>
            <a:normAutofit fontScale="90000"/>
          </a:bodyPr>
          <a:lstStyle/>
          <a:p>
            <a:r>
              <a:rPr lang="en-US" b="1" dirty="0" smtClean="0"/>
              <a:t>Key characteristics:</a:t>
            </a:r>
            <a:endParaRPr lang="en-US" dirty="0"/>
          </a:p>
        </p:txBody>
      </p:sp>
      <p:sp>
        <p:nvSpPr>
          <p:cNvPr id="3" name="Content Placeholder 2"/>
          <p:cNvSpPr>
            <a:spLocks noGrp="1"/>
          </p:cNvSpPr>
          <p:nvPr>
            <p:ph sz="quarter" idx="10"/>
          </p:nvPr>
        </p:nvSpPr>
        <p:spPr>
          <a:xfrm>
            <a:off x="503177" y="4930655"/>
            <a:ext cx="4566920" cy="1612749"/>
          </a:xfrm>
        </p:spPr>
        <p:txBody>
          <a:bodyPr>
            <a:normAutofit/>
          </a:bodyPr>
          <a:lstStyle/>
          <a:p>
            <a:r>
              <a:rPr lang="en-US" sz="1500" b="1" dirty="0" smtClean="0"/>
              <a:t>End-to-end project management</a:t>
            </a:r>
            <a:endParaRPr lang="en-US" sz="1500" dirty="0" smtClean="0"/>
          </a:p>
          <a:p>
            <a:r>
              <a:rPr lang="en-US" sz="1500" b="1" dirty="0" smtClean="0"/>
              <a:t>Client/server model delivery</a:t>
            </a:r>
            <a:endParaRPr lang="en-US" sz="1500" dirty="0" smtClean="0"/>
          </a:p>
          <a:p>
            <a:r>
              <a:rPr lang="en-US" sz="1500" b="1" dirty="0" smtClean="0"/>
              <a:t>Flexible and scalable service options</a:t>
            </a:r>
            <a:endParaRPr lang="en-US" sz="1500" dirty="0"/>
          </a:p>
        </p:txBody>
      </p:sp>
      <p:pic>
        <p:nvPicPr>
          <p:cNvPr id="2050" name="Picture 2" descr="Screenshot of the Dashboards landing page showing Agile Lead Time, Future Spring, New Work Item, Work in Progress, and Team Velocity."/>
          <p:cNvPicPr>
            <a:picLocks noChangeAspect="1" noChangeArrowheads="1"/>
          </p:cNvPicPr>
          <p:nvPr/>
        </p:nvPicPr>
        <p:blipFill>
          <a:blip r:embed="rId2"/>
          <a:srcRect/>
          <a:stretch>
            <a:fillRect/>
          </a:stretch>
        </p:blipFill>
        <p:spPr bwMode="auto">
          <a:xfrm>
            <a:off x="5148247" y="0"/>
            <a:ext cx="7043753" cy="6858000"/>
          </a:xfrm>
          <a:prstGeom prst="rect">
            <a:avLst/>
          </a:prstGeom>
          <a:noFill/>
        </p:spPr>
      </p:pic>
      <p:sp>
        <p:nvSpPr>
          <p:cNvPr id="5" name="Content Placeholder 2"/>
          <p:cNvSpPr txBox="1">
            <a:spLocks/>
          </p:cNvSpPr>
          <p:nvPr/>
        </p:nvSpPr>
        <p:spPr>
          <a:xfrm>
            <a:off x="562980" y="730974"/>
            <a:ext cx="4566920" cy="2949775"/>
          </a:xfrm>
          <a:prstGeom prst="rect">
            <a:avLst/>
          </a:prstGeom>
        </p:spPr>
        <p:txBody>
          <a:bodyPr vert="horz" lIns="91440" tIns="45720" rIns="91440" bIns="45720" rtlCol="0">
            <a:normAutofit fontScale="92500" lnSpcReduction="20000"/>
          </a:bodyPr>
          <a:lstStyle/>
          <a:p>
            <a:pPr>
              <a:lnSpc>
                <a:spcPct val="120000"/>
              </a:lnSpc>
              <a:buFont typeface="Wingdings" pitchFamily="2" charset="2"/>
              <a:buChar char="Ø"/>
            </a:pPr>
            <a:r>
              <a:rPr lang="en-US" sz="2000" dirty="0" smtClean="0"/>
              <a:t>Azure </a:t>
            </a:r>
            <a:r>
              <a:rPr lang="en-US" sz="2000" dirty="0" err="1" smtClean="0"/>
              <a:t>DevOps</a:t>
            </a:r>
            <a:r>
              <a:rPr lang="en-US" sz="2000" dirty="0" smtClean="0"/>
              <a:t>: Azure </a:t>
            </a:r>
            <a:r>
              <a:rPr lang="en-US" sz="2000" dirty="0" err="1" smtClean="0"/>
              <a:t>DevOps</a:t>
            </a:r>
            <a:r>
              <a:rPr lang="en-US" sz="2000" dirty="0" smtClean="0"/>
              <a:t> is a cloud-based platform that provides integrated tools for software development teams. </a:t>
            </a:r>
          </a:p>
          <a:p>
            <a:pPr>
              <a:lnSpc>
                <a:spcPct val="120000"/>
              </a:lnSpc>
              <a:buFont typeface="Wingdings" pitchFamily="2" charset="2"/>
              <a:buChar char="Ø"/>
            </a:pPr>
            <a:endParaRPr lang="en-US" sz="2000" dirty="0" smtClean="0"/>
          </a:p>
          <a:p>
            <a:pPr>
              <a:lnSpc>
                <a:spcPct val="120000"/>
              </a:lnSpc>
              <a:buFont typeface="Wingdings" pitchFamily="2" charset="2"/>
              <a:buChar char="Ø"/>
            </a:pPr>
            <a:r>
              <a:rPr lang="en-US" sz="2000" dirty="0" smtClean="0"/>
              <a:t>It includes everything you need to plan work, collaborate on code, build applications, test functionality, and deploy to production.</a:t>
            </a:r>
          </a:p>
        </p:txBody>
      </p:sp>
      <p:sp>
        <p:nvSpPr>
          <p:cNvPr id="6" name="Title 1"/>
          <p:cNvSpPr txBox="1">
            <a:spLocks/>
          </p:cNvSpPr>
          <p:nvPr/>
        </p:nvSpPr>
        <p:spPr>
          <a:xfrm>
            <a:off x="555467" y="158188"/>
            <a:ext cx="4782391" cy="553998"/>
          </a:xfrm>
          <a:prstGeom prst="rect">
            <a:avLst/>
          </a:prstGeom>
        </p:spPr>
        <p:txBody>
          <a:bodyPr vert="horz" lIns="91440" tIns="45720" rIns="91440" bIns="45720" rtlCol="0" anchor="ctr">
            <a:normAutofit fontScale="90000"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a:noFill/>
                </a:ln>
                <a:solidFill>
                  <a:srgbClr val="2A446F"/>
                </a:solidFill>
                <a:effectLst/>
                <a:uLnTx/>
                <a:uFillTx/>
                <a:latin typeface="+mj-lt"/>
                <a:ea typeface="+mj-ea"/>
                <a:cs typeface="+mj-cs"/>
              </a:rPr>
              <a:t>Azure </a:t>
            </a:r>
            <a:r>
              <a:rPr kumimoji="0" lang="en-US" sz="3600" b="1" i="0" u="none" strike="noStrike" kern="1200" cap="none" spc="0" normalizeH="0" baseline="0" noProof="0" dirty="0" err="1" smtClean="0">
                <a:ln>
                  <a:noFill/>
                </a:ln>
                <a:solidFill>
                  <a:srgbClr val="2A446F"/>
                </a:solidFill>
                <a:effectLst/>
                <a:uLnTx/>
                <a:uFillTx/>
                <a:latin typeface="+mj-lt"/>
                <a:ea typeface="+mj-ea"/>
                <a:cs typeface="+mj-cs"/>
              </a:rPr>
              <a:t>DevOps</a:t>
            </a:r>
            <a:r>
              <a:rPr kumimoji="0" lang="en-US" sz="3600" b="1" i="0" u="none" strike="noStrike" kern="1200" cap="none" spc="0" normalizeH="0" baseline="0" noProof="0" dirty="0" smtClean="0">
                <a:ln>
                  <a:noFill/>
                </a:ln>
                <a:solidFill>
                  <a:srgbClr val="2A446F"/>
                </a:solidFill>
                <a:effectLst/>
                <a:uLnTx/>
                <a:uFillTx/>
                <a:latin typeface="+mj-lt"/>
                <a:ea typeface="+mj-ea"/>
                <a:cs typeface="+mj-cs"/>
              </a:rPr>
              <a:t>:</a:t>
            </a:r>
            <a:endParaRPr kumimoji="0" lang="en-US" sz="3600" b="0" i="0" u="none" strike="noStrike" kern="1200" cap="none" spc="0" normalizeH="0" baseline="0" noProof="0" dirty="0">
              <a:ln>
                <a:noFill/>
              </a:ln>
              <a:solidFill>
                <a:srgbClr val="2A446F"/>
              </a:solidFill>
              <a:effectLst/>
              <a:uLnTx/>
              <a:uFillTx/>
              <a:latin typeface="+mj-lt"/>
              <a:ea typeface="+mj-ea"/>
              <a:cs typeface="+mj-cs"/>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Azure </a:t>
            </a:r>
            <a:r>
              <a:rPr lang="en-US" b="1" dirty="0" err="1" smtClean="0"/>
              <a:t>DevOps</a:t>
            </a:r>
            <a:r>
              <a:rPr lang="en-US" b="1" dirty="0" smtClean="0"/>
              <a:t> services work together</a:t>
            </a:r>
            <a:endParaRPr lang="en-US" b="1" dirty="0"/>
          </a:p>
        </p:txBody>
      </p:sp>
      <p:sp>
        <p:nvSpPr>
          <p:cNvPr id="3" name="Content Placeholder 2"/>
          <p:cNvSpPr>
            <a:spLocks noGrp="1"/>
          </p:cNvSpPr>
          <p:nvPr>
            <p:ph sz="quarter" idx="10"/>
          </p:nvPr>
        </p:nvSpPr>
        <p:spPr>
          <a:xfrm>
            <a:off x="584199" y="1435100"/>
            <a:ext cx="10954658" cy="4878614"/>
          </a:xfrm>
        </p:spPr>
        <p:txBody>
          <a:bodyPr>
            <a:normAutofit/>
          </a:bodyPr>
          <a:lstStyle/>
          <a:p>
            <a:r>
              <a:rPr lang="en-US" b="1" dirty="0" smtClean="0"/>
              <a:t>Typical workflow:</a:t>
            </a:r>
          </a:p>
          <a:p>
            <a:pPr>
              <a:buNone/>
            </a:pPr>
            <a:endParaRPr lang="en-US" dirty="0" smtClean="0"/>
          </a:p>
          <a:p>
            <a:r>
              <a:rPr lang="en-US" b="1" dirty="0" smtClean="0"/>
              <a:t>Plan</a:t>
            </a:r>
            <a:r>
              <a:rPr lang="en-US" dirty="0" smtClean="0"/>
              <a:t> work items in Azure Boards</a:t>
            </a:r>
          </a:p>
          <a:p>
            <a:r>
              <a:rPr lang="en-US" b="1" dirty="0" smtClean="0"/>
              <a:t>Code</a:t>
            </a:r>
            <a:r>
              <a:rPr lang="en-US" dirty="0" smtClean="0"/>
              <a:t> features in Azure Repos with pull requests</a:t>
            </a:r>
          </a:p>
          <a:p>
            <a:r>
              <a:rPr lang="en-US" b="1" dirty="0" smtClean="0"/>
              <a:t>Build</a:t>
            </a:r>
            <a:r>
              <a:rPr lang="en-US" dirty="0" smtClean="0"/>
              <a:t> and package with Azure Pipelines and Azure Artifacts</a:t>
            </a:r>
          </a:p>
          <a:p>
            <a:r>
              <a:rPr lang="en-US" b="1" dirty="0" smtClean="0"/>
              <a:t>Test</a:t>
            </a:r>
            <a:r>
              <a:rPr lang="en-US" dirty="0" smtClean="0"/>
              <a:t> manually and automatically using Azure Test Plans</a:t>
            </a:r>
          </a:p>
          <a:p>
            <a:r>
              <a:rPr lang="en-US" b="1" dirty="0" smtClean="0"/>
              <a:t>Deploy</a:t>
            </a:r>
            <a:r>
              <a:rPr lang="en-US" dirty="0" smtClean="0"/>
              <a:t> through Azure Pipelines to various environments</a:t>
            </a:r>
          </a:p>
          <a:p>
            <a:r>
              <a:rPr lang="en-US" b="1" dirty="0" smtClean="0"/>
              <a:t>Monitor</a:t>
            </a:r>
            <a:r>
              <a:rPr lang="en-US" dirty="0" smtClean="0"/>
              <a:t> progress and metrics via Dashboards</a:t>
            </a:r>
          </a:p>
          <a:p>
            <a:r>
              <a:rPr lang="en-US" b="1" dirty="0" smtClean="0"/>
              <a:t>Iterate</a:t>
            </a:r>
            <a:r>
              <a:rPr lang="en-US" dirty="0" smtClean="0"/>
              <a:t> based on feedback and new requirements</a:t>
            </a:r>
          </a:p>
          <a:p>
            <a:endParaRPr 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Azure Pipelines</a:t>
            </a:r>
            <a:endParaRPr lang="en-US" b="1" dirty="0"/>
          </a:p>
        </p:txBody>
      </p:sp>
      <p:sp>
        <p:nvSpPr>
          <p:cNvPr id="3" name="Content Placeholder 2"/>
          <p:cNvSpPr>
            <a:spLocks noGrp="1"/>
          </p:cNvSpPr>
          <p:nvPr>
            <p:ph sz="quarter" idx="10"/>
          </p:nvPr>
        </p:nvSpPr>
        <p:spPr>
          <a:xfrm>
            <a:off x="584199" y="1435100"/>
            <a:ext cx="10954658" cy="4878614"/>
          </a:xfrm>
        </p:spPr>
        <p:txBody>
          <a:bodyPr>
            <a:normAutofit fontScale="70000" lnSpcReduction="20000"/>
          </a:bodyPr>
          <a:lstStyle/>
          <a:p>
            <a:r>
              <a:rPr lang="en-US" b="1" dirty="0" smtClean="0">
                <a:solidFill>
                  <a:srgbClr val="FF0000"/>
                </a:solidFill>
              </a:rPr>
              <a:t>Core capabilities:</a:t>
            </a:r>
            <a:endParaRPr lang="en-US" dirty="0" smtClean="0">
              <a:solidFill>
                <a:srgbClr val="FF0000"/>
              </a:solidFill>
            </a:endParaRPr>
          </a:p>
          <a:p>
            <a:r>
              <a:rPr lang="en-US" b="1" dirty="0" smtClean="0"/>
              <a:t>Automated builds</a:t>
            </a:r>
            <a:r>
              <a:rPr lang="en-US" dirty="0" smtClean="0"/>
              <a:t>: Trigger builds on code commits with automatic integration and verification</a:t>
            </a:r>
          </a:p>
          <a:p>
            <a:r>
              <a:rPr lang="en-US" b="1" dirty="0" smtClean="0"/>
              <a:t>Test integration</a:t>
            </a:r>
            <a:r>
              <a:rPr lang="en-US" dirty="0" smtClean="0"/>
              <a:t>: Run tests after builds to validate changes and detect issues early</a:t>
            </a:r>
          </a:p>
          <a:p>
            <a:r>
              <a:rPr lang="en-US" b="1" dirty="0" smtClean="0"/>
              <a:t>Release pipelines</a:t>
            </a:r>
            <a:r>
              <a:rPr lang="en-US" dirty="0" smtClean="0"/>
              <a:t>: Deploy builds across environments from staging to production</a:t>
            </a:r>
          </a:p>
          <a:p>
            <a:pPr>
              <a:buNone/>
            </a:pPr>
            <a:endParaRPr lang="en-US" dirty="0" smtClean="0"/>
          </a:p>
          <a:p>
            <a:r>
              <a:rPr lang="en-US" b="1" dirty="0" smtClean="0">
                <a:solidFill>
                  <a:srgbClr val="FF0000"/>
                </a:solidFill>
              </a:rPr>
              <a:t>Key features:</a:t>
            </a:r>
            <a:endParaRPr lang="en-US" dirty="0" smtClean="0">
              <a:solidFill>
                <a:srgbClr val="FF0000"/>
              </a:solidFill>
            </a:endParaRPr>
          </a:p>
          <a:p>
            <a:r>
              <a:rPr lang="en-US" b="1" dirty="0" smtClean="0"/>
              <a:t>Continuous integration (CI)</a:t>
            </a:r>
            <a:r>
              <a:rPr lang="en-US" dirty="0" smtClean="0"/>
              <a:t>: Automatically build and test code changes</a:t>
            </a:r>
          </a:p>
          <a:p>
            <a:r>
              <a:rPr lang="en-US" b="1" dirty="0" smtClean="0"/>
              <a:t>Continuous delivery (CD)</a:t>
            </a:r>
            <a:r>
              <a:rPr lang="en-US" dirty="0" smtClean="0"/>
              <a:t>: Streamline reliable releases from development to production</a:t>
            </a:r>
          </a:p>
          <a:p>
            <a:r>
              <a:rPr lang="en-US" b="1" dirty="0" smtClean="0"/>
              <a:t>Build automation</a:t>
            </a:r>
            <a:r>
              <a:rPr lang="en-US" dirty="0" smtClean="0"/>
              <a:t>: Customize build processes with defined steps and triggers</a:t>
            </a:r>
          </a:p>
          <a:p>
            <a:r>
              <a:rPr lang="en-US" b="1" dirty="0" smtClean="0"/>
              <a:t>Release management</a:t>
            </a:r>
            <a:r>
              <a:rPr lang="en-US" dirty="0" smtClean="0"/>
              <a:t>: Configure multi-environment deployment pipelines</a:t>
            </a:r>
          </a:p>
          <a:p>
            <a:r>
              <a:rPr lang="en-US" b="1" dirty="0" smtClean="0"/>
              <a:t>Deployment automation</a:t>
            </a:r>
            <a:r>
              <a:rPr lang="en-US" dirty="0" smtClean="0"/>
              <a:t>: Reduce manual effort and deployment errors</a:t>
            </a:r>
          </a:p>
          <a:p>
            <a:r>
              <a:rPr lang="en-US" b="1" dirty="0" smtClean="0"/>
              <a:t>Approval workflows</a:t>
            </a:r>
            <a:r>
              <a:rPr lang="en-US" dirty="0" smtClean="0"/>
              <a:t>: Add verification layers before promoting builds</a:t>
            </a:r>
          </a:p>
          <a:p>
            <a:r>
              <a:rPr lang="en-US" b="1" dirty="0" smtClean="0"/>
              <a:t>Release tracking</a:t>
            </a:r>
            <a:r>
              <a:rPr lang="en-US" dirty="0" smtClean="0"/>
              <a:t>: Monitor deployments across environments</a:t>
            </a:r>
            <a:endParaRPr lang="en-US"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a:t>
            </a:r>
            <a:r>
              <a:rPr lang="en-US" b="1" dirty="0" err="1" smtClean="0"/>
              <a:t>Databricks</a:t>
            </a:r>
            <a:r>
              <a:rPr lang="en-US" b="1" dirty="0" smtClean="0"/>
              <a:t> </a:t>
            </a:r>
            <a:r>
              <a:rPr lang="en-US" b="1" dirty="0" err="1" smtClean="0"/>
              <a:t>Git</a:t>
            </a:r>
            <a:r>
              <a:rPr lang="en-US" b="1" dirty="0" smtClean="0"/>
              <a:t> folders</a:t>
            </a:r>
            <a:endParaRPr lang="en-US" dirty="0"/>
          </a:p>
        </p:txBody>
      </p:sp>
      <p:sp>
        <p:nvSpPr>
          <p:cNvPr id="3" name="Content Placeholder 2"/>
          <p:cNvSpPr>
            <a:spLocks noGrp="1"/>
          </p:cNvSpPr>
          <p:nvPr>
            <p:ph sz="quarter" idx="10"/>
          </p:nvPr>
        </p:nvSpPr>
        <p:spPr>
          <a:xfrm>
            <a:off x="584200" y="1435100"/>
            <a:ext cx="5492509" cy="3360420"/>
          </a:xfrm>
        </p:spPr>
        <p:txBody>
          <a:bodyPr>
            <a:normAutofit fontScale="92500" lnSpcReduction="10000"/>
          </a:bodyPr>
          <a:lstStyle/>
          <a:p>
            <a:pPr>
              <a:lnSpc>
                <a:spcPct val="150000"/>
              </a:lnSpc>
            </a:pPr>
            <a:r>
              <a:rPr lang="en-US" sz="2000" dirty="0" err="1" smtClean="0">
                <a:solidFill>
                  <a:srgbClr val="161616"/>
                </a:solidFill>
              </a:rPr>
              <a:t>Databricks</a:t>
            </a:r>
            <a:r>
              <a:rPr lang="en-US" sz="2000" dirty="0" smtClean="0">
                <a:solidFill>
                  <a:srgbClr val="161616"/>
                </a:solidFill>
              </a:rPr>
              <a:t> </a:t>
            </a:r>
            <a:r>
              <a:rPr lang="en-US" sz="2000" dirty="0" err="1" smtClean="0">
                <a:solidFill>
                  <a:srgbClr val="161616"/>
                </a:solidFill>
              </a:rPr>
              <a:t>Git</a:t>
            </a:r>
            <a:r>
              <a:rPr lang="en-US" sz="2000" dirty="0" smtClean="0">
                <a:solidFill>
                  <a:srgbClr val="161616"/>
                </a:solidFill>
              </a:rPr>
              <a:t> folders is a visual </a:t>
            </a:r>
            <a:r>
              <a:rPr lang="en-US" sz="2000" dirty="0" err="1" smtClean="0">
                <a:solidFill>
                  <a:srgbClr val="161616"/>
                </a:solidFill>
              </a:rPr>
              <a:t>Git</a:t>
            </a:r>
            <a:r>
              <a:rPr lang="en-US" sz="2000" dirty="0" smtClean="0">
                <a:solidFill>
                  <a:srgbClr val="161616"/>
                </a:solidFill>
              </a:rPr>
              <a:t> client and API in Azure </a:t>
            </a:r>
            <a:r>
              <a:rPr lang="en-US" sz="2000" dirty="0" err="1" smtClean="0">
                <a:solidFill>
                  <a:srgbClr val="161616"/>
                </a:solidFill>
              </a:rPr>
              <a:t>Databricks</a:t>
            </a:r>
            <a:r>
              <a:rPr lang="en-US" sz="2000" dirty="0" smtClean="0">
                <a:solidFill>
                  <a:srgbClr val="161616"/>
                </a:solidFill>
              </a:rPr>
              <a:t>. It integrates </a:t>
            </a:r>
            <a:r>
              <a:rPr lang="en-US" sz="2000" dirty="0" err="1" smtClean="0">
                <a:solidFill>
                  <a:srgbClr val="161616"/>
                </a:solidFill>
              </a:rPr>
              <a:t>Git</a:t>
            </a:r>
            <a:r>
              <a:rPr lang="en-US" sz="2000" dirty="0" smtClean="0">
                <a:solidFill>
                  <a:srgbClr val="161616"/>
                </a:solidFill>
              </a:rPr>
              <a:t> repositories within your Azure </a:t>
            </a:r>
            <a:r>
              <a:rPr lang="en-US" sz="2000" dirty="0" err="1" smtClean="0">
                <a:solidFill>
                  <a:srgbClr val="161616"/>
                </a:solidFill>
              </a:rPr>
              <a:t>Databricks</a:t>
            </a:r>
            <a:r>
              <a:rPr lang="en-US" sz="2000" dirty="0" smtClean="0">
                <a:solidFill>
                  <a:srgbClr val="161616"/>
                </a:solidFill>
              </a:rPr>
              <a:t> workspace and supports common </a:t>
            </a:r>
            <a:r>
              <a:rPr lang="en-US" sz="2000" dirty="0" err="1" smtClean="0">
                <a:solidFill>
                  <a:srgbClr val="161616"/>
                </a:solidFill>
              </a:rPr>
              <a:t>Git</a:t>
            </a:r>
            <a:r>
              <a:rPr lang="en-US" sz="2000" dirty="0" smtClean="0">
                <a:solidFill>
                  <a:srgbClr val="161616"/>
                </a:solidFill>
              </a:rPr>
              <a:t> operations such as cloning a repository, committing and pushing, pulling, branch management, and visual comparison of </a:t>
            </a:r>
            <a:r>
              <a:rPr lang="en-US" sz="2000" dirty="0" err="1" smtClean="0">
                <a:solidFill>
                  <a:srgbClr val="161616"/>
                </a:solidFill>
              </a:rPr>
              <a:t>diffs</a:t>
            </a:r>
            <a:r>
              <a:rPr lang="en-US" sz="2000" dirty="0" smtClean="0">
                <a:solidFill>
                  <a:srgbClr val="161616"/>
                </a:solidFill>
              </a:rPr>
              <a:t> when committing.</a:t>
            </a:r>
            <a:endParaRPr lang="en-US" sz="2000" dirty="0"/>
          </a:p>
        </p:txBody>
      </p:sp>
      <p:pic>
        <p:nvPicPr>
          <p:cNvPr id="24578" name="Picture 2" descr="The Development pane under Admin Settings, used to set user Git access"/>
          <p:cNvPicPr>
            <a:picLocks noChangeAspect="1" noChangeArrowheads="1"/>
          </p:cNvPicPr>
          <p:nvPr/>
        </p:nvPicPr>
        <p:blipFill>
          <a:blip r:embed="rId2"/>
          <a:srcRect/>
          <a:stretch>
            <a:fillRect/>
          </a:stretch>
        </p:blipFill>
        <p:spPr bwMode="auto">
          <a:xfrm>
            <a:off x="6504974" y="1329501"/>
            <a:ext cx="5490257" cy="3607100"/>
          </a:xfrm>
          <a:prstGeom prst="rect">
            <a:avLst/>
          </a:prstGeom>
          <a:noFill/>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0" y="0"/>
            <a:ext cx="12192000" cy="1146402"/>
          </a:xfrm>
        </p:spPr>
        <p:txBody>
          <a:bodyPr>
            <a:normAutofit/>
          </a:bodyPr>
          <a:lstStyle/>
          <a:p>
            <a:pPr algn="ctr"/>
            <a:r>
              <a:rPr lang="en-US" b="1" dirty="0" smtClean="0"/>
              <a:t>What is CI/CD?</a:t>
            </a:r>
          </a:p>
        </p:txBody>
      </p:sp>
      <p:sp>
        <p:nvSpPr>
          <p:cNvPr id="4" name="TextBox 3">
            <a:extLst>
              <a:ext uri="{FF2B5EF4-FFF2-40B4-BE49-F238E27FC236}">
                <a16:creationId xmlns="" xmlns:a16="http://schemas.microsoft.com/office/drawing/2014/main" id="{841EEE3D-6F6B-BF5C-B4CC-A24F49B5C68A}"/>
              </a:ext>
            </a:extLst>
          </p:cNvPr>
          <p:cNvSpPr txBox="1"/>
          <p:nvPr/>
        </p:nvSpPr>
        <p:spPr>
          <a:xfrm>
            <a:off x="447113" y="4474924"/>
            <a:ext cx="10624457"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The CD part in CI/CD of the acronym is </a:t>
            </a:r>
            <a:r>
              <a:rPr lang="en-US" b="1" dirty="0" smtClean="0"/>
              <a:t>continuous delivery</a:t>
            </a:r>
            <a:r>
              <a:rPr lang="en-US" dirty="0" smtClean="0"/>
              <a:t> or </a:t>
            </a:r>
            <a:r>
              <a:rPr lang="en-US" b="1" dirty="0" smtClean="0"/>
              <a:t>continuous deployment</a:t>
            </a:r>
            <a:r>
              <a:rPr lang="en-US" dirty="0" smtClean="0"/>
              <a:t>. Continuous deployment even takes it a bit further, where you set up an automated deployment process. After some pre-requirements are met, the release pipeline automatically deploys the latest version, without manual interaction. CI/CD is fully supported with Azure Pipelines and can be applied and used with Business Central. </a:t>
            </a:r>
            <a:endParaRPr lang="en-US" dirty="0"/>
          </a:p>
        </p:txBody>
      </p:sp>
      <p:sp>
        <p:nvSpPr>
          <p:cNvPr id="8" name="TextBox 7">
            <a:extLst>
              <a:ext uri="{FF2B5EF4-FFF2-40B4-BE49-F238E27FC236}">
                <a16:creationId xmlns="" xmlns:a16="http://schemas.microsoft.com/office/drawing/2014/main" id="{27164207-61AF-2B4A-9DE2-AB045C7A13C2}"/>
              </a:ext>
            </a:extLst>
          </p:cNvPr>
          <p:cNvSpPr txBox="1"/>
          <p:nvPr/>
        </p:nvSpPr>
        <p:spPr>
          <a:xfrm>
            <a:off x="425323" y="1110083"/>
            <a:ext cx="10929441" cy="128746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dirty="0" smtClean="0"/>
              <a:t>CI is the abbreviation for </a:t>
            </a:r>
            <a:r>
              <a:rPr lang="en-US" b="1" dirty="0" smtClean="0"/>
              <a:t>Continuous integration</a:t>
            </a:r>
            <a:r>
              <a:rPr lang="en-US" dirty="0" smtClean="0"/>
              <a:t>. This is the principle that developers merge their feature changes (via feature branches) into a master or development branch multiple times a day</a:t>
            </a:r>
            <a:r>
              <a:rPr lang="en-US" dirty="0" smtClean="0">
                <a:solidFill>
                  <a:schemeClr val="tx1"/>
                </a:solidFill>
              </a:rPr>
              <a:t>. </a:t>
            </a:r>
            <a:r>
              <a:rPr lang="en-US" dirty="0" smtClean="0">
                <a:solidFill>
                  <a:srgbClr val="FF0000"/>
                </a:solidFill>
              </a:rPr>
              <a:t>The next step in the CI process is to compile the code on a build server with each merge. </a:t>
            </a:r>
            <a:endParaRPr lang="en-US" dirty="0">
              <a:solidFill>
                <a:srgbClr val="FF0000"/>
              </a:solidFill>
            </a:endParaRPr>
          </a:p>
        </p:txBody>
      </p:sp>
      <p:sp>
        <p:nvSpPr>
          <p:cNvPr id="6" name="TextBox 5">
            <a:extLst>
              <a:ext uri="{FF2B5EF4-FFF2-40B4-BE49-F238E27FC236}">
                <a16:creationId xmlns="" xmlns:a16="http://schemas.microsoft.com/office/drawing/2014/main" id="{27164207-61AF-2B4A-9DE2-AB045C7A13C2}"/>
              </a:ext>
            </a:extLst>
          </p:cNvPr>
          <p:cNvSpPr txBox="1"/>
          <p:nvPr/>
        </p:nvSpPr>
        <p:spPr>
          <a:xfrm>
            <a:off x="2083442" y="2723207"/>
            <a:ext cx="9502815"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Developers create and run unit tests for their changes locally. After that, the developer pushes the changes into the remote repository and creates a pull request. After completion, the CI build pipelines </a:t>
            </a:r>
            <a:r>
              <a:rPr lang="en-US" b="1" dirty="0" smtClean="0">
                <a:solidFill>
                  <a:schemeClr val="accent6">
                    <a:lumMod val="50000"/>
                  </a:schemeClr>
                </a:solidFill>
              </a:rPr>
              <a:t>starts a build, runs automated tests, both unit and integration tests</a:t>
            </a:r>
            <a:r>
              <a:rPr lang="en-US" dirty="0" smtClean="0"/>
              <a:t>, and deliver statistics on the test process. The end result for Business Central projects is an .app file. This is called an </a:t>
            </a:r>
            <a:r>
              <a:rPr lang="en-US" b="1" dirty="0" smtClean="0"/>
              <a:t>artifact</a:t>
            </a:r>
            <a:r>
              <a:rPr lang="en-US" dirty="0" smtClean="0"/>
              <a:t>.</a:t>
            </a:r>
            <a:endParaRPr lang="en-IN" dirty="0"/>
          </a:p>
        </p:txBody>
      </p:sp>
    </p:spTree>
    <p:extLst>
      <p:ext uri="{BB962C8B-B14F-4D97-AF65-F5344CB8AC3E}">
        <p14:creationId xmlns="" xmlns:p14="http://schemas.microsoft.com/office/powerpoint/2010/main" val="67780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0" y="0"/>
            <a:ext cx="12192000" cy="1146402"/>
          </a:xfrm>
        </p:spPr>
        <p:txBody>
          <a:bodyPr>
            <a:normAutofit/>
          </a:bodyPr>
          <a:lstStyle/>
          <a:p>
            <a:pPr algn="ctr"/>
            <a:r>
              <a:rPr lang="en-US" b="1" dirty="0" smtClean="0"/>
              <a:t>Create a build pipeline</a:t>
            </a:r>
          </a:p>
        </p:txBody>
      </p:sp>
      <p:sp>
        <p:nvSpPr>
          <p:cNvPr id="8" name="TextBox 7">
            <a:extLst>
              <a:ext uri="{FF2B5EF4-FFF2-40B4-BE49-F238E27FC236}">
                <a16:creationId xmlns="" xmlns:a16="http://schemas.microsoft.com/office/drawing/2014/main" id="{27164207-61AF-2B4A-9DE2-AB045C7A13C2}"/>
              </a:ext>
            </a:extLst>
          </p:cNvPr>
          <p:cNvSpPr txBox="1"/>
          <p:nvPr/>
        </p:nvSpPr>
        <p:spPr>
          <a:xfrm>
            <a:off x="425325" y="1110083"/>
            <a:ext cx="3544792" cy="33650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dirty="0" smtClean="0"/>
              <a:t>A pipeline is a series of sequential steps that you need to configure. Azure Pipelines support the usage of YAML (Yet Another Markup Language) files. These text-based files can be part of your code in Azure Repos. </a:t>
            </a:r>
            <a:endParaRPr lang="en-IN" dirty="0"/>
          </a:p>
        </p:txBody>
      </p:sp>
      <p:pic>
        <p:nvPicPr>
          <p:cNvPr id="9218" name="Picture 2" descr="Screenshot of the Where is your code page."/>
          <p:cNvPicPr>
            <a:picLocks noChangeAspect="1" noChangeArrowheads="1"/>
          </p:cNvPicPr>
          <p:nvPr/>
        </p:nvPicPr>
        <p:blipFill>
          <a:blip r:embed="rId2"/>
          <a:srcRect/>
          <a:stretch>
            <a:fillRect/>
          </a:stretch>
        </p:blipFill>
        <p:spPr bwMode="auto">
          <a:xfrm>
            <a:off x="5514653" y="1120112"/>
            <a:ext cx="6477000" cy="5343526"/>
          </a:xfrm>
          <a:prstGeom prst="rect">
            <a:avLst/>
          </a:prstGeom>
          <a:noFill/>
        </p:spPr>
      </p:pic>
    </p:spTree>
    <p:extLst>
      <p:ext uri="{BB962C8B-B14F-4D97-AF65-F5344CB8AC3E}">
        <p14:creationId xmlns="" xmlns:p14="http://schemas.microsoft.com/office/powerpoint/2010/main" val="677804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0" y="1261745"/>
            <a:ext cx="10317480" cy="4529455"/>
          </a:xfrm>
        </p:spPr>
        <p:txBody>
          <a:bodyPr>
            <a:normAutofit fontScale="92500" lnSpcReduction="10000"/>
          </a:bodyPr>
          <a:lstStyle/>
          <a:p>
            <a:pPr>
              <a:lnSpc>
                <a:spcPct val="150000"/>
              </a:lnSpc>
            </a:pPr>
            <a:r>
              <a:rPr lang="en-US" sz="1500" dirty="0" smtClean="0"/>
              <a:t>Automating CI/CD pipelines further enhances the development workflow by integrating </a:t>
            </a:r>
            <a:r>
              <a:rPr lang="en-US" sz="1500" dirty="0" err="1" smtClean="0"/>
              <a:t>Databricks</a:t>
            </a:r>
            <a:r>
              <a:rPr lang="en-US" sz="1500" dirty="0" smtClean="0"/>
              <a:t> with continuous integration and delivery tools such as Azure </a:t>
            </a:r>
            <a:r>
              <a:rPr lang="en-US" sz="1500" dirty="0" err="1" smtClean="0"/>
              <a:t>DevOps</a:t>
            </a:r>
            <a:r>
              <a:rPr lang="en-US" sz="1500" dirty="0" smtClean="0"/>
              <a:t>, Jenkins, or </a:t>
            </a:r>
            <a:r>
              <a:rPr lang="en-US" sz="1500" dirty="0" err="1" smtClean="0"/>
              <a:t>GitHub</a:t>
            </a:r>
            <a:r>
              <a:rPr lang="en-US" sz="1500" dirty="0" smtClean="0"/>
              <a:t> Actions. These pipelines can automate testing, validation, and deployment of notebooks and workflows.</a:t>
            </a:r>
          </a:p>
          <a:p>
            <a:pPr>
              <a:lnSpc>
                <a:spcPct val="150000"/>
              </a:lnSpc>
            </a:pPr>
            <a:r>
              <a:rPr lang="en-US" sz="1500" dirty="0" smtClean="0"/>
              <a:t>For example, a pipeline defined in Azure </a:t>
            </a:r>
            <a:r>
              <a:rPr lang="en-US" sz="1500" dirty="0" err="1" smtClean="0"/>
              <a:t>DevOps</a:t>
            </a:r>
            <a:r>
              <a:rPr lang="en-US" sz="1500" dirty="0" smtClean="0"/>
              <a:t> can trigger notebook execution and validation on every commit to the repository, ensuring that code changes meet quality standards before being deployed to production clusters. When you automate tasks in such pipelines, you streamline the deployment process and minimize manual intervention.</a:t>
            </a:r>
          </a:p>
          <a:p>
            <a:pPr>
              <a:lnSpc>
                <a:spcPct val="150000"/>
              </a:lnSpc>
            </a:pPr>
            <a:r>
              <a:rPr lang="en-US" dirty="0" smtClean="0"/>
              <a:t>Monitoring and maintaining version control is an ongoing process that involves regular reviews, merging branches, and tagging releases. Teams should periodically review and merge feature branches into the main branch to keep it stable and up-to-date.</a:t>
            </a:r>
            <a:endParaRPr lang="en-US" dirty="0"/>
          </a:p>
        </p:txBody>
      </p:sp>
      <p:sp>
        <p:nvSpPr>
          <p:cNvPr id="5" name="Title 1">
            <a:extLst>
              <a:ext uri="{FF2B5EF4-FFF2-40B4-BE49-F238E27FC236}">
                <a16:creationId xmlns="" xmlns:a16="http://schemas.microsoft.com/office/drawing/2014/main" id="{15EAFB76-4B16-AF9A-068A-3C49EBA88F85}"/>
              </a:ext>
            </a:extLst>
          </p:cNvPr>
          <p:cNvSpPr>
            <a:spLocks noGrp="1"/>
          </p:cNvSpPr>
          <p:nvPr>
            <p:ph type="title"/>
          </p:nvPr>
        </p:nvSpPr>
        <p:spPr>
          <a:xfrm>
            <a:off x="914400" y="0"/>
            <a:ext cx="10515600" cy="1146402"/>
          </a:xfrm>
        </p:spPr>
        <p:txBody>
          <a:bodyPr/>
          <a:lstStyle/>
          <a:p>
            <a:r>
              <a:rPr lang="en-US" b="1" dirty="0" smtClean="0"/>
              <a:t>Automate CI/CD pipelines</a:t>
            </a:r>
            <a:endParaRPr lang="en-US" b="1" dirty="0"/>
          </a:p>
        </p:txBody>
      </p:sp>
    </p:spTree>
    <p:extLst>
      <p:ext uri="{BB962C8B-B14F-4D97-AF65-F5344CB8AC3E}">
        <p14:creationId xmlns="" xmlns:p14="http://schemas.microsoft.com/office/powerpoint/2010/main" val="2220962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716280" y="182880"/>
            <a:ext cx="11275092" cy="963522"/>
          </a:xfrm>
        </p:spPr>
        <p:txBody>
          <a:bodyPr>
            <a:normAutofit/>
          </a:bodyPr>
          <a:lstStyle/>
          <a:p>
            <a:r>
              <a:rPr lang="en-US" b="1" dirty="0" smtClean="0"/>
              <a:t>Perform unit testing</a:t>
            </a:r>
            <a:endParaRPr lang="en-US" b="1" dirty="0"/>
          </a:p>
        </p:txBody>
      </p:sp>
      <p:sp>
        <p:nvSpPr>
          <p:cNvPr id="4" name="TextBox 3">
            <a:extLst>
              <a:ext uri="{FF2B5EF4-FFF2-40B4-BE49-F238E27FC236}">
                <a16:creationId xmlns="" xmlns:a16="http://schemas.microsoft.com/office/drawing/2014/main" id="{841EEE3D-6F6B-BF5C-B4CC-A24F49B5C68A}"/>
              </a:ext>
            </a:extLst>
          </p:cNvPr>
          <p:cNvSpPr txBox="1"/>
          <p:nvPr/>
        </p:nvSpPr>
        <p:spPr>
          <a:xfrm>
            <a:off x="775062" y="4445213"/>
            <a:ext cx="10624457"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Unit testing in Azure </a:t>
            </a:r>
            <a:r>
              <a:rPr lang="en-US" dirty="0" err="1" smtClean="0"/>
              <a:t>Databricks</a:t>
            </a:r>
            <a:r>
              <a:rPr lang="en-US" dirty="0" smtClean="0"/>
              <a:t> is an important practice for ensuring that individual components of your data processing pipelines are working as expected. In </a:t>
            </a:r>
            <a:r>
              <a:rPr lang="en-US" b="1" dirty="0" smtClean="0"/>
              <a:t>Azure </a:t>
            </a:r>
            <a:r>
              <a:rPr lang="en-US" b="1" dirty="0" err="1" smtClean="0"/>
              <a:t>Databricks</a:t>
            </a:r>
            <a:r>
              <a:rPr lang="en-US" dirty="0" smtClean="0"/>
              <a:t>, you can use libraries such as </a:t>
            </a:r>
            <a:r>
              <a:rPr lang="en-US" b="1" dirty="0" err="1" smtClean="0"/>
              <a:t>pytest</a:t>
            </a:r>
            <a:r>
              <a:rPr lang="en-US" b="1" dirty="0" smtClean="0"/>
              <a:t> </a:t>
            </a:r>
            <a:r>
              <a:rPr lang="en-US" dirty="0" smtClean="0"/>
              <a:t>and </a:t>
            </a:r>
            <a:r>
              <a:rPr lang="en-US" b="1" dirty="0" err="1" smtClean="0"/>
              <a:t>unittest</a:t>
            </a:r>
            <a:r>
              <a:rPr lang="en-US" b="1" dirty="0" smtClean="0"/>
              <a:t> </a:t>
            </a:r>
            <a:r>
              <a:rPr lang="en-US" dirty="0" smtClean="0"/>
              <a:t>for writing unit tests.</a:t>
            </a:r>
            <a:endParaRPr lang="en-US" dirty="0"/>
          </a:p>
        </p:txBody>
      </p:sp>
      <p:sp>
        <p:nvSpPr>
          <p:cNvPr id="8" name="TextBox 7">
            <a:extLst>
              <a:ext uri="{FF2B5EF4-FFF2-40B4-BE49-F238E27FC236}">
                <a16:creationId xmlns="" xmlns:a16="http://schemas.microsoft.com/office/drawing/2014/main" id="{27164207-61AF-2B4A-9DE2-AB045C7A13C2}"/>
              </a:ext>
            </a:extLst>
          </p:cNvPr>
          <p:cNvSpPr txBox="1"/>
          <p:nvPr/>
        </p:nvSpPr>
        <p:spPr>
          <a:xfrm>
            <a:off x="745364" y="1414883"/>
            <a:ext cx="5960236" cy="128746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b="1" dirty="0" smtClean="0"/>
              <a:t>Unit testing</a:t>
            </a:r>
            <a:r>
              <a:rPr lang="en-US" dirty="0" smtClean="0"/>
              <a:t> focuses on validating individual components or functions of the codebase in isolation, ensuring that each part performs as expected.</a:t>
            </a:r>
            <a:endParaRPr lang="en-US" dirty="0"/>
          </a:p>
        </p:txBody>
      </p:sp>
    </p:spTree>
    <p:extLst>
      <p:ext uri="{BB962C8B-B14F-4D97-AF65-F5344CB8AC3E}">
        <p14:creationId xmlns="" xmlns:p14="http://schemas.microsoft.com/office/powerpoint/2010/main" val="677804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716280" y="182880"/>
            <a:ext cx="11275092" cy="963522"/>
          </a:xfrm>
        </p:spPr>
        <p:txBody>
          <a:bodyPr>
            <a:normAutofit/>
          </a:bodyPr>
          <a:lstStyle/>
          <a:p>
            <a:r>
              <a:rPr lang="en-US" b="1" dirty="0" smtClean="0"/>
              <a:t>Perform integration testing</a:t>
            </a:r>
            <a:endParaRPr lang="en-US" b="1" dirty="0"/>
          </a:p>
        </p:txBody>
      </p:sp>
      <p:sp>
        <p:nvSpPr>
          <p:cNvPr id="4" name="TextBox 3">
            <a:extLst>
              <a:ext uri="{FF2B5EF4-FFF2-40B4-BE49-F238E27FC236}">
                <a16:creationId xmlns="" xmlns:a16="http://schemas.microsoft.com/office/drawing/2014/main" id="{841EEE3D-6F6B-BF5C-B4CC-A24F49B5C68A}"/>
              </a:ext>
            </a:extLst>
          </p:cNvPr>
          <p:cNvSpPr txBox="1"/>
          <p:nvPr/>
        </p:nvSpPr>
        <p:spPr>
          <a:xfrm>
            <a:off x="786637" y="3241446"/>
            <a:ext cx="10624457" cy="21698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b="1" dirty="0" smtClean="0"/>
              <a:t>Integration testing </a:t>
            </a:r>
            <a:r>
              <a:rPr lang="en-US" dirty="0" smtClean="0"/>
              <a:t>in </a:t>
            </a:r>
            <a:r>
              <a:rPr lang="en-US" b="1" dirty="0" smtClean="0"/>
              <a:t>Azure </a:t>
            </a:r>
            <a:r>
              <a:rPr lang="en-US" b="1" dirty="0" err="1" smtClean="0"/>
              <a:t>Databricks</a:t>
            </a:r>
            <a:r>
              <a:rPr lang="en-US" b="1" dirty="0" smtClean="0"/>
              <a:t> </a:t>
            </a:r>
            <a:r>
              <a:rPr lang="en-US" dirty="0" smtClean="0"/>
              <a:t>involves testing how different parts of your data pipeline work together. Integration testing ensures that the interactions between different modules, databases, and services are functioning correctly.</a:t>
            </a:r>
          </a:p>
          <a:p>
            <a:pPr>
              <a:lnSpc>
                <a:spcPct val="150000"/>
              </a:lnSpc>
            </a:pPr>
            <a:r>
              <a:rPr lang="en-US" i="1" dirty="0" smtClean="0"/>
              <a:t>For example, you might want to test the end-to-end process of data ingestion, transformation, and storage. </a:t>
            </a:r>
            <a:r>
              <a:rPr lang="en-US" i="1" dirty="0" err="1" smtClean="0"/>
              <a:t>Databricks</a:t>
            </a:r>
            <a:r>
              <a:rPr lang="en-US" i="1" dirty="0" smtClean="0"/>
              <a:t> notebooks make it easy to simulate these workflows and validate the results. </a:t>
            </a:r>
            <a:endParaRPr lang="en-US" i="1" dirty="0"/>
          </a:p>
        </p:txBody>
      </p:sp>
      <p:sp>
        <p:nvSpPr>
          <p:cNvPr id="5" name="TextBox 4">
            <a:extLst>
              <a:ext uri="{FF2B5EF4-FFF2-40B4-BE49-F238E27FC236}">
                <a16:creationId xmlns="" xmlns:a16="http://schemas.microsoft.com/office/drawing/2014/main" id="{27164207-61AF-2B4A-9DE2-AB045C7A13C2}"/>
              </a:ext>
            </a:extLst>
          </p:cNvPr>
          <p:cNvSpPr txBox="1"/>
          <p:nvPr/>
        </p:nvSpPr>
        <p:spPr>
          <a:xfrm>
            <a:off x="1071384" y="1474685"/>
            <a:ext cx="5960236" cy="128746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b="1" dirty="0" smtClean="0"/>
              <a:t>Integration testing</a:t>
            </a:r>
            <a:r>
              <a:rPr lang="en-US" dirty="0" smtClean="0"/>
              <a:t>, on the other hand, verifies the interactions between different modules and services, ensuring they work together seamlessly.</a:t>
            </a:r>
            <a:endParaRPr lang="en-US" dirty="0"/>
          </a:p>
        </p:txBody>
      </p:sp>
    </p:spTree>
    <p:extLst>
      <p:ext uri="{BB962C8B-B14F-4D97-AF65-F5344CB8AC3E}">
        <p14:creationId xmlns="" xmlns:p14="http://schemas.microsoft.com/office/powerpoint/2010/main" val="677804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0" y="0"/>
            <a:ext cx="12192000" cy="1146402"/>
          </a:xfrm>
        </p:spPr>
        <p:txBody>
          <a:bodyPr>
            <a:normAutofit fontScale="90000"/>
          </a:bodyPr>
          <a:lstStyle/>
          <a:p>
            <a:pPr algn="ctr"/>
            <a:r>
              <a:rPr lang="en-US" b="1" dirty="0" smtClean="0"/>
              <a:t>Implement rollback and roll-forward strategies</a:t>
            </a:r>
          </a:p>
        </p:txBody>
      </p:sp>
      <p:sp>
        <p:nvSpPr>
          <p:cNvPr id="4" name="TextBox 3">
            <a:extLst>
              <a:ext uri="{FF2B5EF4-FFF2-40B4-BE49-F238E27FC236}">
                <a16:creationId xmlns="" xmlns:a16="http://schemas.microsoft.com/office/drawing/2014/main" id="{841EEE3D-6F6B-BF5C-B4CC-A24F49B5C68A}"/>
              </a:ext>
            </a:extLst>
          </p:cNvPr>
          <p:cNvSpPr txBox="1"/>
          <p:nvPr/>
        </p:nvSpPr>
        <p:spPr>
          <a:xfrm>
            <a:off x="447113" y="4474924"/>
            <a:ext cx="10624457"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Managing notebooks with </a:t>
            </a:r>
            <a:r>
              <a:rPr lang="en-US" dirty="0" err="1" smtClean="0"/>
              <a:t>Git</a:t>
            </a:r>
            <a:r>
              <a:rPr lang="en-US" dirty="0" smtClean="0"/>
              <a:t> commands within </a:t>
            </a:r>
            <a:r>
              <a:rPr lang="en-US" dirty="0" err="1" smtClean="0"/>
              <a:t>Databricks</a:t>
            </a:r>
            <a:r>
              <a:rPr lang="en-US" dirty="0" smtClean="0"/>
              <a:t> is essential for effective version control. You can perform standard </a:t>
            </a:r>
            <a:r>
              <a:rPr lang="en-US" dirty="0" err="1" smtClean="0"/>
              <a:t>Git</a:t>
            </a:r>
            <a:r>
              <a:rPr lang="en-US" dirty="0" smtClean="0"/>
              <a:t> operations like </a:t>
            </a:r>
            <a:r>
              <a:rPr lang="en-US" b="1" dirty="0" smtClean="0"/>
              <a:t>commit, push, pull, and merge</a:t>
            </a:r>
            <a:r>
              <a:rPr lang="en-US" dirty="0" smtClean="0"/>
              <a:t> directly from </a:t>
            </a:r>
            <a:r>
              <a:rPr lang="en-US" dirty="0" err="1" smtClean="0"/>
              <a:t>Databricks</a:t>
            </a:r>
            <a:r>
              <a:rPr lang="en-US" dirty="0" smtClean="0"/>
              <a:t> notebooks.</a:t>
            </a:r>
            <a:endParaRPr lang="en-US" dirty="0"/>
          </a:p>
        </p:txBody>
      </p:sp>
      <p:sp>
        <p:nvSpPr>
          <p:cNvPr id="8" name="TextBox 7">
            <a:extLst>
              <a:ext uri="{FF2B5EF4-FFF2-40B4-BE49-F238E27FC236}">
                <a16:creationId xmlns="" xmlns:a16="http://schemas.microsoft.com/office/drawing/2014/main" id="{27164207-61AF-2B4A-9DE2-AB045C7A13C2}"/>
              </a:ext>
            </a:extLst>
          </p:cNvPr>
          <p:cNvSpPr txBox="1"/>
          <p:nvPr/>
        </p:nvSpPr>
        <p:spPr>
          <a:xfrm>
            <a:off x="425323" y="1110083"/>
            <a:ext cx="10929441"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dirty="0" smtClean="0"/>
              <a:t>Rollback and roll-forward strategies help in managing and recovering from failures or errors in data processing workflows:</a:t>
            </a:r>
          </a:p>
          <a:p>
            <a:pPr>
              <a:lnSpc>
                <a:spcPct val="150000"/>
              </a:lnSpc>
              <a:buFont typeface="Wingdings" pitchFamily="2" charset="2"/>
              <a:buChar char="v"/>
            </a:pPr>
            <a:r>
              <a:rPr lang="en-US" b="1" dirty="0" smtClean="0">
                <a:solidFill>
                  <a:srgbClr val="FF0000"/>
                </a:solidFill>
              </a:rPr>
              <a:t> Rollback</a:t>
            </a:r>
            <a:r>
              <a:rPr lang="en-US" dirty="0" smtClean="0">
                <a:solidFill>
                  <a:srgbClr val="FF0000"/>
                </a:solidFill>
              </a:rPr>
              <a:t> involves reverting to a previous state of the data.</a:t>
            </a:r>
          </a:p>
          <a:p>
            <a:pPr>
              <a:lnSpc>
                <a:spcPct val="150000"/>
              </a:lnSpc>
              <a:buFont typeface="Wingdings" pitchFamily="2" charset="2"/>
              <a:buChar char="v"/>
            </a:pPr>
            <a:r>
              <a:rPr lang="en-US" b="1" dirty="0" smtClean="0">
                <a:solidFill>
                  <a:srgbClr val="FF0000"/>
                </a:solidFill>
              </a:rPr>
              <a:t> Roll-forward</a:t>
            </a:r>
            <a:r>
              <a:rPr lang="en-US" dirty="0" smtClean="0">
                <a:solidFill>
                  <a:srgbClr val="FF0000"/>
                </a:solidFill>
              </a:rPr>
              <a:t> applies pending changes to move forward after an issue is resolved.</a:t>
            </a:r>
            <a:endParaRPr lang="en-US" dirty="0">
              <a:solidFill>
                <a:srgbClr val="FF0000"/>
              </a:solidFill>
            </a:endParaRPr>
          </a:p>
        </p:txBody>
      </p:sp>
      <p:sp>
        <p:nvSpPr>
          <p:cNvPr id="6" name="TextBox 5">
            <a:extLst>
              <a:ext uri="{FF2B5EF4-FFF2-40B4-BE49-F238E27FC236}">
                <a16:creationId xmlns="" xmlns:a16="http://schemas.microsoft.com/office/drawing/2014/main" id="{27164207-61AF-2B4A-9DE2-AB045C7A13C2}"/>
              </a:ext>
            </a:extLst>
          </p:cNvPr>
          <p:cNvSpPr txBox="1"/>
          <p:nvPr/>
        </p:nvSpPr>
        <p:spPr>
          <a:xfrm>
            <a:off x="2222338" y="3024149"/>
            <a:ext cx="9502815"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By scripting the logic for detecting failures, triggering rollbacks, and executing roll-forwards, you can create </a:t>
            </a:r>
            <a:r>
              <a:rPr lang="en-US" b="1" dirty="0" smtClean="0"/>
              <a:t>resilient ETL workflows</a:t>
            </a:r>
            <a:r>
              <a:rPr lang="en-US" dirty="0" smtClean="0"/>
              <a:t>. You can set up alerts and monitoring to quickly spot and fix issues, reducing downtime and keeping your data safe.</a:t>
            </a:r>
            <a:endParaRPr lang="en-IN" dirty="0"/>
          </a:p>
        </p:txBody>
      </p:sp>
    </p:spTree>
    <p:extLst>
      <p:ext uri="{BB962C8B-B14F-4D97-AF65-F5344CB8AC3E}">
        <p14:creationId xmlns="" xmlns:p14="http://schemas.microsoft.com/office/powerpoint/2010/main" val="677804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518160" y="0"/>
            <a:ext cx="11277600" cy="1325563"/>
          </a:xfrm>
        </p:spPr>
        <p:txBody>
          <a:bodyPr/>
          <a:lstStyle/>
          <a:p>
            <a:r>
              <a:rPr lang="en-US" b="1" dirty="0" smtClean="0"/>
              <a:t>Implement Continuous Integration (CI) with Azure </a:t>
            </a:r>
            <a:r>
              <a:rPr lang="en-US" b="1" dirty="0" err="1" smtClean="0"/>
              <a:t>DevOps</a:t>
            </a:r>
            <a:endParaRPr lang="en-US" b="1" dirty="0"/>
          </a:p>
        </p:txBody>
      </p:sp>
      <p:sp>
        <p:nvSpPr>
          <p:cNvPr id="4" name="TextBox 3">
            <a:extLst>
              <a:ext uri="{FF2B5EF4-FFF2-40B4-BE49-F238E27FC236}">
                <a16:creationId xmlns="" xmlns:a16="http://schemas.microsoft.com/office/drawing/2014/main" id="{841EEE3D-6F6B-BF5C-B4CC-A24F49B5C68A}"/>
              </a:ext>
            </a:extLst>
          </p:cNvPr>
          <p:cNvSpPr txBox="1"/>
          <p:nvPr/>
        </p:nvSpPr>
        <p:spPr>
          <a:xfrm>
            <a:off x="455023" y="3104095"/>
            <a:ext cx="5900057" cy="12875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dirty="0" smtClean="0"/>
              <a:t>Collecting and preparing domain-specific datasets is </a:t>
            </a:r>
            <a:r>
              <a:rPr lang="en-US" b="1" dirty="0" smtClean="0"/>
              <a:t>a key step in fine-tuning a large language model using Azure </a:t>
            </a:r>
            <a:r>
              <a:rPr lang="en-US" b="1" dirty="0" err="1" smtClean="0"/>
              <a:t>OpenAI</a:t>
            </a:r>
            <a:r>
              <a:rPr lang="en-US" b="1" dirty="0" smtClean="0"/>
              <a:t> within Azure </a:t>
            </a:r>
            <a:r>
              <a:rPr lang="en-US" b="1" dirty="0" err="1" smtClean="0"/>
              <a:t>Databricks</a:t>
            </a:r>
            <a:endParaRPr lang="en-US" dirty="0"/>
          </a:p>
        </p:txBody>
      </p:sp>
      <p:sp>
        <p:nvSpPr>
          <p:cNvPr id="8" name="TextBox 7">
            <a:extLst>
              <a:ext uri="{FF2B5EF4-FFF2-40B4-BE49-F238E27FC236}">
                <a16:creationId xmlns="" xmlns:a16="http://schemas.microsoft.com/office/drawing/2014/main" id="{27164207-61AF-2B4A-9DE2-AB045C7A13C2}"/>
              </a:ext>
            </a:extLst>
          </p:cNvPr>
          <p:cNvSpPr txBox="1"/>
          <p:nvPr/>
        </p:nvSpPr>
        <p:spPr>
          <a:xfrm>
            <a:off x="2187615" y="1369163"/>
            <a:ext cx="9059505" cy="13388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b="1" dirty="0" smtClean="0"/>
              <a:t>Integrating </a:t>
            </a:r>
            <a:r>
              <a:rPr lang="en-US" b="1" dirty="0" err="1" smtClean="0"/>
              <a:t>Databricks</a:t>
            </a:r>
            <a:r>
              <a:rPr lang="en-US" b="1" dirty="0" smtClean="0"/>
              <a:t> </a:t>
            </a:r>
            <a:r>
              <a:rPr lang="en-US" dirty="0" smtClean="0"/>
              <a:t>tests into an </a:t>
            </a:r>
            <a:r>
              <a:rPr lang="en-US" b="1" dirty="0" smtClean="0"/>
              <a:t>Azure </a:t>
            </a:r>
            <a:r>
              <a:rPr lang="en-US" b="1" dirty="0" err="1" smtClean="0"/>
              <a:t>DevOps</a:t>
            </a:r>
            <a:r>
              <a:rPr lang="en-US" b="1" dirty="0" smtClean="0"/>
              <a:t> </a:t>
            </a:r>
            <a:r>
              <a:rPr lang="en-US" dirty="0" smtClean="0"/>
              <a:t>pipeline ensures that your code is continuously tested as part of your development workflow. You can define </a:t>
            </a:r>
            <a:r>
              <a:rPr lang="en-US" b="1" dirty="0" smtClean="0"/>
              <a:t>a pipeline </a:t>
            </a:r>
            <a:r>
              <a:rPr lang="en-US" dirty="0" smtClean="0"/>
              <a:t>in Azure </a:t>
            </a:r>
            <a:r>
              <a:rPr lang="en-US" dirty="0" err="1" smtClean="0"/>
              <a:t>DevOps</a:t>
            </a:r>
            <a:r>
              <a:rPr lang="en-US" dirty="0" smtClean="0"/>
              <a:t> that includes steps for testing your </a:t>
            </a:r>
            <a:r>
              <a:rPr lang="en-US" dirty="0" err="1" smtClean="0"/>
              <a:t>Databricks</a:t>
            </a:r>
            <a:r>
              <a:rPr lang="en-US" dirty="0" smtClean="0"/>
              <a:t> notebooks.</a:t>
            </a:r>
            <a:endParaRPr lang="en-IN" dirty="0"/>
          </a:p>
        </p:txBody>
      </p:sp>
      <p:sp>
        <p:nvSpPr>
          <p:cNvPr id="5" name="TextBox 4">
            <a:extLst>
              <a:ext uri="{FF2B5EF4-FFF2-40B4-BE49-F238E27FC236}">
                <a16:creationId xmlns="" xmlns:a16="http://schemas.microsoft.com/office/drawing/2014/main" id="{841EEE3D-6F6B-BF5C-B4CC-A24F49B5C68A}"/>
              </a:ext>
            </a:extLst>
          </p:cNvPr>
          <p:cNvSpPr txBox="1"/>
          <p:nvPr/>
        </p:nvSpPr>
        <p:spPr>
          <a:xfrm>
            <a:off x="378822" y="4765255"/>
            <a:ext cx="11142618" cy="17030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b="1" dirty="0" smtClean="0"/>
              <a:t>Question: What role does the 'learning rate' parameter play during the fine-tuning process in Azure </a:t>
            </a:r>
            <a:r>
              <a:rPr lang="en-US" b="1" dirty="0" err="1" smtClean="0"/>
              <a:t>Databricks</a:t>
            </a:r>
            <a:r>
              <a:rPr lang="en-US" b="1" dirty="0" smtClean="0"/>
              <a:t>?</a:t>
            </a:r>
          </a:p>
          <a:p>
            <a:pPr>
              <a:lnSpc>
                <a:spcPct val="150000"/>
              </a:lnSpc>
            </a:pPr>
            <a:endParaRPr lang="en-US" dirty="0" smtClean="0"/>
          </a:p>
          <a:p>
            <a:pPr>
              <a:lnSpc>
                <a:spcPct val="150000"/>
              </a:lnSpc>
            </a:pPr>
            <a:r>
              <a:rPr lang="en-US" dirty="0" smtClean="0"/>
              <a:t>Answer: It controls the step size for weight updates during training</a:t>
            </a:r>
            <a:endParaRPr lang="en-US" dirty="0"/>
          </a:p>
        </p:txBody>
      </p:sp>
    </p:spTree>
    <p:extLst>
      <p:ext uri="{BB962C8B-B14F-4D97-AF65-F5344CB8AC3E}">
        <p14:creationId xmlns="" xmlns:p14="http://schemas.microsoft.com/office/powerpoint/2010/main" val="677804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0" y="0"/>
            <a:ext cx="12192000" cy="1146402"/>
          </a:xfrm>
        </p:spPr>
        <p:txBody>
          <a:bodyPr>
            <a:normAutofit/>
          </a:bodyPr>
          <a:lstStyle/>
          <a:p>
            <a:pPr algn="ctr"/>
            <a:r>
              <a:rPr lang="en-US" b="1" dirty="0" smtClean="0"/>
              <a:t>Common Facts</a:t>
            </a:r>
          </a:p>
        </p:txBody>
      </p:sp>
      <p:sp>
        <p:nvSpPr>
          <p:cNvPr id="8" name="TextBox 7">
            <a:extLst>
              <a:ext uri="{FF2B5EF4-FFF2-40B4-BE49-F238E27FC236}">
                <a16:creationId xmlns="" xmlns:a16="http://schemas.microsoft.com/office/drawing/2014/main" id="{27164207-61AF-2B4A-9DE2-AB045C7A13C2}"/>
              </a:ext>
            </a:extLst>
          </p:cNvPr>
          <p:cNvSpPr txBox="1"/>
          <p:nvPr/>
        </p:nvSpPr>
        <p:spPr>
          <a:xfrm>
            <a:off x="1131381" y="1573070"/>
            <a:ext cx="3544792" cy="21184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b="1" dirty="0" smtClean="0">
                <a:solidFill>
                  <a:srgbClr val="C00000"/>
                </a:solidFill>
              </a:rPr>
              <a:t>Agent Pools are used to group different build agents. An agent pool is targeting either cloud builds or on-premises builds.</a:t>
            </a:r>
            <a:endParaRPr lang="en-IN" dirty="0">
              <a:solidFill>
                <a:srgbClr val="C00000"/>
              </a:solidFill>
            </a:endParaRPr>
          </a:p>
        </p:txBody>
      </p:sp>
      <p:sp>
        <p:nvSpPr>
          <p:cNvPr id="5" name="TextBox 4">
            <a:extLst>
              <a:ext uri="{FF2B5EF4-FFF2-40B4-BE49-F238E27FC236}">
                <a16:creationId xmlns="" xmlns:a16="http://schemas.microsoft.com/office/drawing/2014/main" id="{27164207-61AF-2B4A-9DE2-AB045C7A13C2}"/>
              </a:ext>
            </a:extLst>
          </p:cNvPr>
          <p:cNvSpPr txBox="1"/>
          <p:nvPr/>
        </p:nvSpPr>
        <p:spPr>
          <a:xfrm>
            <a:off x="6399791" y="3704740"/>
            <a:ext cx="3544792" cy="21184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b="1" dirty="0" smtClean="0">
                <a:solidFill>
                  <a:srgbClr val="7030A0"/>
                </a:solidFill>
              </a:rPr>
              <a:t>A YAML (or Yet Another Markup Language) file is used to describe all the steps in a build definition. A pipeline can be based on this YAML file.</a:t>
            </a:r>
            <a:endParaRPr lang="en-IN" dirty="0">
              <a:solidFill>
                <a:srgbClr val="7030A0"/>
              </a:solidFill>
            </a:endParaRPr>
          </a:p>
        </p:txBody>
      </p:sp>
    </p:spTree>
    <p:extLst>
      <p:ext uri="{BB962C8B-B14F-4D97-AF65-F5344CB8AC3E}">
        <p14:creationId xmlns="" xmlns:p14="http://schemas.microsoft.com/office/powerpoint/2010/main" val="677804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Check your Knowledge: </a:t>
            </a:r>
            <a:endParaRPr lang="en-US" dirty="0"/>
          </a:p>
        </p:txBody>
      </p:sp>
      <p:sp>
        <p:nvSpPr>
          <p:cNvPr id="3" name="Content Placeholder 2"/>
          <p:cNvSpPr>
            <a:spLocks noGrp="1"/>
          </p:cNvSpPr>
          <p:nvPr>
            <p:ph sz="quarter" idx="10"/>
          </p:nvPr>
        </p:nvSpPr>
        <p:spPr>
          <a:xfrm>
            <a:off x="584200" y="1435100"/>
            <a:ext cx="11018838" cy="4213346"/>
          </a:xfrm>
        </p:spPr>
        <p:txBody>
          <a:bodyPr>
            <a:normAutofit fontScale="62500" lnSpcReduction="20000"/>
          </a:bodyPr>
          <a:lstStyle/>
          <a:p>
            <a:pPr>
              <a:lnSpc>
                <a:spcPct val="170000"/>
              </a:lnSpc>
            </a:pPr>
            <a:r>
              <a:rPr lang="en-US" b="1" dirty="0" smtClean="0">
                <a:solidFill>
                  <a:srgbClr val="FF0000"/>
                </a:solidFill>
              </a:rPr>
              <a:t>What is the primary purpose of implementing version control in Azure </a:t>
            </a:r>
            <a:r>
              <a:rPr lang="en-US" b="1" dirty="0" err="1" smtClean="0">
                <a:solidFill>
                  <a:srgbClr val="FF0000"/>
                </a:solidFill>
              </a:rPr>
              <a:t>Databricks</a:t>
            </a:r>
            <a:r>
              <a:rPr lang="en-US" b="1" dirty="0" smtClean="0">
                <a:solidFill>
                  <a:srgbClr val="FF0000"/>
                </a:solidFill>
              </a:rPr>
              <a:t>?</a:t>
            </a:r>
          </a:p>
          <a:p>
            <a:pPr>
              <a:lnSpc>
                <a:spcPct val="170000"/>
              </a:lnSpc>
            </a:pPr>
            <a:r>
              <a:rPr lang="en-US" dirty="0" smtClean="0"/>
              <a:t>To manage code changes, collaborate with team members, and maintain the integrity of data pipelines and machine learning models.</a:t>
            </a:r>
          </a:p>
          <a:p>
            <a:pPr>
              <a:lnSpc>
                <a:spcPct val="170000"/>
              </a:lnSpc>
            </a:pPr>
            <a:r>
              <a:rPr lang="en-US" b="1" dirty="0" smtClean="0">
                <a:solidFill>
                  <a:srgbClr val="FF0000"/>
                </a:solidFill>
              </a:rPr>
              <a:t>What is the purpose of unit testing in Azure </a:t>
            </a:r>
            <a:r>
              <a:rPr lang="en-US" b="1" dirty="0" err="1" smtClean="0">
                <a:solidFill>
                  <a:srgbClr val="FF0000"/>
                </a:solidFill>
              </a:rPr>
              <a:t>Databricks</a:t>
            </a:r>
            <a:r>
              <a:rPr lang="en-US" b="1" dirty="0" smtClean="0">
                <a:solidFill>
                  <a:srgbClr val="FF0000"/>
                </a:solidFill>
              </a:rPr>
              <a:t>?</a:t>
            </a:r>
          </a:p>
          <a:p>
            <a:pPr>
              <a:lnSpc>
                <a:spcPct val="170000"/>
              </a:lnSpc>
            </a:pPr>
            <a:r>
              <a:rPr lang="en-US" dirty="0" smtClean="0"/>
              <a:t>To validate individual components or functions of the codebase in isolation.</a:t>
            </a:r>
          </a:p>
          <a:p>
            <a:pPr>
              <a:lnSpc>
                <a:spcPct val="170000"/>
              </a:lnSpc>
            </a:pPr>
            <a:r>
              <a:rPr lang="en-US" b="1" dirty="0" smtClean="0">
                <a:solidFill>
                  <a:srgbClr val="FF0000"/>
                </a:solidFill>
              </a:rPr>
              <a:t>What is the role of init scripts in configuration management in Azure </a:t>
            </a:r>
            <a:r>
              <a:rPr lang="en-US" b="1" dirty="0" err="1" smtClean="0">
                <a:solidFill>
                  <a:srgbClr val="FF0000"/>
                </a:solidFill>
              </a:rPr>
              <a:t>Databricks</a:t>
            </a:r>
            <a:r>
              <a:rPr lang="en-US" b="1" dirty="0" smtClean="0">
                <a:solidFill>
                  <a:srgbClr val="FF0000"/>
                </a:solidFill>
              </a:rPr>
              <a:t>?</a:t>
            </a:r>
          </a:p>
          <a:p>
            <a:pPr>
              <a:lnSpc>
                <a:spcPct val="170000"/>
              </a:lnSpc>
            </a:pPr>
            <a:r>
              <a:rPr lang="en-US" dirty="0" smtClean="0"/>
              <a:t>Init scripts are used for installing necessary libraries, configuring system settings, or setting environment variables.</a:t>
            </a:r>
            <a:endParaRPr lang="en-US" b="1" dirty="0" smtClean="0"/>
          </a:p>
          <a:p>
            <a:pPr>
              <a:lnSpc>
                <a:spcPct val="170000"/>
              </a:lnSpc>
            </a:pPr>
            <a:endParaRPr lang="en-US" dirty="0" smtClean="0"/>
          </a:p>
          <a:p>
            <a:pPr>
              <a:lnSpc>
                <a:spcPct val="170000"/>
              </a:lnSpc>
            </a:pPr>
            <a:endParaRPr lang="en-US" b="1" dirty="0" smtClean="0"/>
          </a:p>
          <a:p>
            <a:pPr>
              <a:lnSpc>
                <a:spcPct val="170000"/>
              </a:lnSpc>
            </a:pPr>
            <a:endParaRPr lang="en-US" dirty="0" smtClean="0"/>
          </a:p>
          <a:p>
            <a:pPr>
              <a:lnSpc>
                <a:spcPct val="170000"/>
              </a:lnSpc>
            </a:pPr>
            <a:endParaRPr lang="en-US"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References:</a:t>
            </a:r>
            <a:endParaRPr lang="en-US" dirty="0"/>
          </a:p>
        </p:txBody>
      </p:sp>
      <p:sp>
        <p:nvSpPr>
          <p:cNvPr id="3" name="Content Placeholder 2"/>
          <p:cNvSpPr>
            <a:spLocks noGrp="1"/>
          </p:cNvSpPr>
          <p:nvPr>
            <p:ph sz="quarter" idx="10"/>
          </p:nvPr>
        </p:nvSpPr>
        <p:spPr>
          <a:xfrm>
            <a:off x="584200" y="1435100"/>
            <a:ext cx="11048357" cy="4595310"/>
          </a:xfrm>
        </p:spPr>
        <p:txBody>
          <a:bodyPr>
            <a:normAutofit fontScale="92500" lnSpcReduction="20000"/>
          </a:bodyPr>
          <a:lstStyle/>
          <a:p>
            <a:pPr>
              <a:lnSpc>
                <a:spcPct val="150000"/>
              </a:lnSpc>
            </a:pPr>
            <a:r>
              <a:rPr lang="en-US" sz="2000" dirty="0" smtClean="0">
                <a:solidFill>
                  <a:srgbClr val="161616"/>
                </a:solidFill>
                <a:hlinkClick r:id="rId2"/>
              </a:rPr>
              <a:t>https://learn.microsoft.com/en-us/training/modules/use-azure-pipelines/1-introduction</a:t>
            </a:r>
          </a:p>
          <a:p>
            <a:pPr>
              <a:lnSpc>
                <a:spcPct val="150000"/>
              </a:lnSpc>
            </a:pPr>
            <a:r>
              <a:rPr lang="en-US" sz="2000" dirty="0" smtClean="0">
                <a:solidFill>
                  <a:srgbClr val="161616"/>
                </a:solidFill>
                <a:hlinkClick r:id="rId2"/>
              </a:rPr>
              <a:t>https://learn.microsoft.com/en-us/azure/devops/get-started/?view=azure-devops</a:t>
            </a:r>
            <a:endParaRPr lang="en-US" sz="2000" dirty="0" smtClean="0">
              <a:solidFill>
                <a:srgbClr val="161616"/>
              </a:solidFill>
            </a:endParaRPr>
          </a:p>
          <a:p>
            <a:pPr>
              <a:lnSpc>
                <a:spcPct val="150000"/>
              </a:lnSpc>
            </a:pPr>
            <a:r>
              <a:rPr lang="en-US" sz="2000" dirty="0" smtClean="0">
                <a:solidFill>
                  <a:srgbClr val="161616"/>
                </a:solidFill>
                <a:hlinkClick r:id="rId3"/>
              </a:rPr>
              <a:t>https://learn.microsoft.com/en-us/azure/databricks/repos/</a:t>
            </a:r>
            <a:endParaRPr lang="en-US" sz="2000" dirty="0" smtClean="0">
              <a:solidFill>
                <a:srgbClr val="161616"/>
              </a:solidFill>
            </a:endParaRPr>
          </a:p>
          <a:p>
            <a:pPr>
              <a:lnSpc>
                <a:spcPct val="150000"/>
              </a:lnSpc>
            </a:pPr>
            <a:r>
              <a:rPr lang="en-US" sz="2000" dirty="0" smtClean="0">
                <a:solidFill>
                  <a:srgbClr val="161616"/>
                </a:solidFill>
                <a:hlinkClick r:id="rId4"/>
              </a:rPr>
              <a:t>https://www.youtube.com/watch?v=k9Kuz19ByNg</a:t>
            </a:r>
            <a:endParaRPr lang="en-US" sz="2000" dirty="0" smtClean="0">
              <a:solidFill>
                <a:srgbClr val="161616"/>
              </a:solidFill>
            </a:endParaRPr>
          </a:p>
          <a:p>
            <a:pPr>
              <a:lnSpc>
                <a:spcPct val="150000"/>
              </a:lnSpc>
            </a:pPr>
            <a:r>
              <a:rPr lang="en-US" sz="2000" dirty="0" smtClean="0">
                <a:solidFill>
                  <a:srgbClr val="161616"/>
                </a:solidFill>
                <a:hlinkClick r:id="rId5"/>
              </a:rPr>
              <a:t>https://learn.microsoft.com/en-us/azure/devops/repos/?view=azure-devops</a:t>
            </a:r>
            <a:endParaRPr lang="en-US" sz="2000" dirty="0" smtClean="0">
              <a:solidFill>
                <a:srgbClr val="161616"/>
              </a:solidFill>
            </a:endParaRPr>
          </a:p>
          <a:p>
            <a:pPr>
              <a:lnSpc>
                <a:spcPct val="150000"/>
              </a:lnSpc>
            </a:pPr>
            <a:r>
              <a:rPr lang="en-US" sz="2000" dirty="0" smtClean="0">
                <a:hlinkClick r:id="rId6"/>
              </a:rPr>
              <a:t>https://learn.microsoft.com/en-us/azure/databricks/repos/ci-cd</a:t>
            </a:r>
            <a:endParaRPr lang="en-US" sz="2000" dirty="0" smtClean="0"/>
          </a:p>
          <a:p>
            <a:pPr>
              <a:lnSpc>
                <a:spcPct val="150000"/>
              </a:lnSpc>
            </a:pPr>
            <a:r>
              <a:rPr lang="en-US" sz="2000" dirty="0" smtClean="0">
                <a:hlinkClick r:id="rId7"/>
              </a:rPr>
              <a:t>https://learn.microsoft.com/en-us/training/modules/ci-cd-workflows-pipelines-azure-databricks/01-introduction</a:t>
            </a:r>
            <a:endParaRPr lang="en-US" sz="2000" dirty="0" smtClean="0"/>
          </a:p>
          <a:p>
            <a:pPr>
              <a:lnSpc>
                <a:spcPct val="150000"/>
              </a:lnSpc>
            </a:pPr>
            <a:r>
              <a:rPr lang="en-US" sz="2000" dirty="0" smtClean="0"/>
              <a:t>https://aws.amazon.com/devops/continuous-integration/</a:t>
            </a:r>
          </a:p>
          <a:p>
            <a:pPr>
              <a:lnSpc>
                <a:spcPct val="150000"/>
              </a:lnSpc>
            </a:pPr>
            <a:endParaRPr lang="en-US" sz="20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TotalTime>
  <Words>1069</Words>
  <Application>Microsoft Office PowerPoint</Application>
  <PresentationFormat>Custom</PresentationFormat>
  <Paragraphs>100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Azure DevOps</vt:lpstr>
      <vt:lpstr>Slide 2</vt:lpstr>
      <vt:lpstr>Key characteristics:</vt:lpstr>
      <vt:lpstr>How Azure DevOps services work together</vt:lpstr>
      <vt:lpstr>Azure Pipelines</vt:lpstr>
      <vt:lpstr>What is Databricks Git folders</vt:lpstr>
      <vt:lpstr>What is CI/CD?</vt:lpstr>
      <vt:lpstr>Create a build pipeline</vt:lpstr>
      <vt:lpstr>Automate CI/CD pipelines</vt:lpstr>
      <vt:lpstr>Perform unit testing</vt:lpstr>
      <vt:lpstr>Perform integration testing</vt:lpstr>
      <vt:lpstr>Implement rollback and roll-forward strategies</vt:lpstr>
      <vt:lpstr>Implement Continuous Integration (CI) with Azure DevOps</vt:lpstr>
      <vt:lpstr>Common Facts</vt:lpstr>
      <vt:lpstr>Check your Knowledge: </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Spark</dc:title>
  <dc:creator>Prabhjot Singh Bakshi</dc:creator>
  <cp:lastModifiedBy>hp</cp:lastModifiedBy>
  <cp:revision>37</cp:revision>
  <dcterms:created xsi:type="dcterms:W3CDTF">2024-12-04T08:21:32Z</dcterms:created>
  <dcterms:modified xsi:type="dcterms:W3CDTF">2025-09-14T03:45:06Z</dcterms:modified>
</cp:coreProperties>
</file>